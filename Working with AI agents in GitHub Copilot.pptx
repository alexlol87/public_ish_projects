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slides/slide2.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58.xml" ContentType="application/vnd.openxmlformats-officedocument.presentationml.slide+xml"/>
  <Override PartName="/ppt/slides/slide28.xml" ContentType="application/vnd.openxmlformats-officedocument.presentationml.slide+xml"/>
  <Override PartName="/ppt/slides/slide32.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slides/slide39.xml" ContentType="application/vnd.openxmlformats-officedocument.presentationml.slide+xml"/>
  <Override PartName="/ppt/slides/slide56.xml" ContentType="application/vnd.openxmlformats-officedocument.presentationml.slide+xml"/>
  <Override PartName="/ppt/slides/slide44.xml" ContentType="application/vnd.openxmlformats-officedocument.presentationml.slide+xml"/>
  <Override PartName="/ppt/slides/slide34.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6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5.xml" ContentType="application/vnd.openxmlformats-officedocument.presentationml.notesSlide+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8.xml" ContentType="application/vnd.openxmlformats-officedocument.presentationml.notesSlide+xml"/>
  <Override PartName="/ppt/notesSlides/notesSlide16.xml" ContentType="application/vnd.openxmlformats-officedocument.presentationml.notesSlide+xml"/>
  <Override PartName="/ppt/notesSlides/notesSlide59.xml" ContentType="application/vnd.openxmlformats-officedocument.presentationml.notesSlide+xml"/>
  <Override PartName="/ppt/notesSlides/notesSlide19.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4.xml" ContentType="application/vnd.openxmlformats-officedocument.presentationml.notesSlide+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58.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32.xml" ContentType="application/vnd.openxmlformats-officedocument.presentationml.notesSlide+xml"/>
  <Override PartName="/ppt/notesSlides/notesSlide44.xml" ContentType="application/vnd.openxmlformats-officedocument.presentationml.notesSlide+xml"/>
  <Override PartName="/ppt/notesSlides/notesSlide60.xml" ContentType="application/vnd.openxmlformats-officedocument.presentationml.notesSlide+xml"/>
  <Override PartName="/ppt/notesSlides/notesSlide51.xml" ContentType="application/vnd.openxmlformats-officedocument.presentationml.notesSlide+xml"/>
  <Override PartName="/ppt/notesSlides/notesSlide39.xml" ContentType="application/vnd.openxmlformats-officedocument.presentationml.notesSlide+xml"/>
  <Override PartName="/ppt/notesSlides/notesSlide61.xml" ContentType="application/vnd.openxmlformats-officedocument.presentationml.notesSlide+xml"/>
  <Override PartName="/ppt/notesSlides/notesSlide47.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60" r:id="rId8"/>
    <p:sldId id="263" r:id="rId11"/>
    <p:sldId id="267" r:id="rId15"/>
    <p:sldId id="270" r:id="rId18"/>
    <p:sldId id="271" r:id="rId19"/>
    <p:sldId id="274" r:id="rId22"/>
    <p:sldId id="277" r:id="rId25"/>
    <p:sldId id="278" r:id="rId26"/>
    <p:sldId id="282" r:id="rId30"/>
    <p:sldId id="283" r:id="rId31"/>
    <p:sldId id="287" r:id="rId35"/>
    <p:sldId id="289" r:id="rId37"/>
    <p:sldId id="293" r:id="rId41"/>
    <p:sldId id="294" r:id="rId42"/>
    <p:sldId id="299" r:id="rId47"/>
    <p:sldId id="302" r:id="rId50"/>
    <p:sldId id="306" r:id="rId54"/>
    <p:sldId id="309" r:id="rId57"/>
    <p:sldId id="311" r:id="rId59"/>
    <p:sldId id="313" r:id="rId61"/>
    <p:sldId id="314" r:id="rId62"/>
    <p:sldId id="315" r:id="rId63"/>
    <p:sldId id="316" r:id="rId64"/>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8" Type="http://schemas.openxmlformats.org/officeDocument/2006/relationships/slide" Target="slides/slide5.xml"/><Relationship Id="rId11" Type="http://schemas.openxmlformats.org/officeDocument/2006/relationships/slide" Target="slides/slide8.xml"/><Relationship Id="rId15" Type="http://schemas.openxmlformats.org/officeDocument/2006/relationships/slide" Target="slides/slide12.xml"/><Relationship Id="rId18" Type="http://schemas.openxmlformats.org/officeDocument/2006/relationships/slide" Target="slides/slide15.xml"/><Relationship Id="rId19" Type="http://schemas.openxmlformats.org/officeDocument/2006/relationships/slide" Target="slides/slide16.xml"/><Relationship Id="rId22" Type="http://schemas.openxmlformats.org/officeDocument/2006/relationships/slide" Target="slides/slide19.xml"/><Relationship Id="rId25" Type="http://schemas.openxmlformats.org/officeDocument/2006/relationships/slide" Target="slides/slide22.xml"/><Relationship Id="rId26" Type="http://schemas.openxmlformats.org/officeDocument/2006/relationships/slide" Target="slides/slide23.xml"/><Relationship Id="rId30" Type="http://schemas.openxmlformats.org/officeDocument/2006/relationships/slide" Target="slides/slide27.xml"/><Relationship Id="rId31" Type="http://schemas.openxmlformats.org/officeDocument/2006/relationships/slide" Target="slides/slide28.xml"/><Relationship Id="rId35" Type="http://schemas.openxmlformats.org/officeDocument/2006/relationships/slide" Target="slides/slide32.xml"/><Relationship Id="rId37" Type="http://schemas.openxmlformats.org/officeDocument/2006/relationships/slide" Target="slides/slide34.xml"/><Relationship Id="rId41" Type="http://schemas.openxmlformats.org/officeDocument/2006/relationships/slide" Target="slides/slide38.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4" Type="http://schemas.openxmlformats.org/officeDocument/2006/relationships/slide" Target="slides/slide51.xml"/><Relationship Id="rId57" Type="http://schemas.openxmlformats.org/officeDocument/2006/relationships/slide" Target="slides/slide54.xml"/><Relationship Id="rId59" Type="http://schemas.openxmlformats.org/officeDocument/2006/relationships/slide" Target="slides/slide56.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IBM Plex Sans"/>
              </a:rPr>
              <a:t>Click to move the slide</a:t>
            </a:r>
            <a:endParaRPr lang="en-US" sz="1800" b="0" u="none" strike="noStrike">
              <a:solidFill>
                <a:schemeClr val="dk1"/>
              </a:solidFill>
              <a:effectLst/>
              <a:uFillTx/>
              <a:latin typeface="IBM Plex Sans"/>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a:t>
            </a:r>
            <a:r>
              <a:rPr lang="en-US" sz="2000" b="0" u="none" strike="noStrike">
                <a:solidFill>
                  <a:srgbClr val="000000"/>
                </a:solidFill>
                <a:effectLst/>
                <a:uFillTx/>
                <a:latin typeface="Arial"/>
              </a:rPr>
              <a:t>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82DA3FD-0210-469C-B7D7-D5E0A4BD39E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685800" y="1143000"/>
            <a:ext cx="5486040" cy="3085920"/>
          </a:xfrm>
          <a:prstGeom prst="rect">
            <a:avLst/>
          </a:prstGeom>
          <a:ln w="0">
            <a:noFill/>
          </a:ln>
        </p:spPr>
      </p:sp>
      <p:sp>
        <p:nvSpPr>
          <p:cNvPr id="9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Today's goal: to move from “Copilot that completes code” to “Copilot as an agent you direct”. You've all used Copilot already; today we look at the pieces behind it — models, modes, instructions, skills, hooks — and how not to burn through context and credits. The terminal on the right is a preview: we'll see /grill-me later, and we'll discuss context usage at the end.</a:t>
            </a:r>
            <a:endParaRPr lang="en-US" sz="2000" b="0" u="none" strike="noStrike">
              <a:solidFill>
                <a:srgbClr val="000000"/>
              </a:solidFill>
              <a:effectLst/>
              <a:uFillTx/>
              <a:latin typeface="Arial"/>
            </a:endParaRPr>
          </a:p>
        </p:txBody>
      </p:sp>
      <p:sp>
        <p:nvSpPr>
          <p:cNvPr id="945"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06AB9E-7600-4C5A-B234-CE664FA070AF}"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685800" y="1143000"/>
            <a:ext cx="5486040" cy="3085920"/>
          </a:xfrm>
          <a:prstGeom prst="rect">
            <a:avLst/>
          </a:prstGeom>
          <a:ln w="0">
            <a:noFill/>
          </a:ln>
        </p:spPr>
      </p:sp>
      <p:sp>
        <p:nvSpPr>
          <p:cNvPr id="9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There are 14 parts. The first 10 are about what the agent can do and how we configure it; 11–13 are about costs and context, the part that makes the difference in practice; 14 is a bonus with rules and a cheat sheet. Ask questions anytime; you keep the slides.</a:t>
            </a:r>
            <a:endParaRPr lang="en-US" sz="2000" b="0" u="none" strike="noStrike">
              <a:solidFill>
                <a:srgbClr val="000000"/>
              </a:solidFill>
              <a:effectLst/>
              <a:uFillTx/>
              <a:latin typeface="Arial"/>
            </a:endParaRPr>
          </a:p>
        </p:txBody>
      </p:sp>
      <p:sp>
        <p:nvSpPr>
          <p:cNvPr id="948"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192858-A94A-4C71-A544-AA97BCFBFAA0}"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685800" y="1143000"/>
            <a:ext cx="5486040" cy="3085920"/>
          </a:xfrm>
          <a:prstGeom prst="rect">
            <a:avLst/>
          </a:prstGeom>
          <a:ln w="0">
            <a:noFill/>
          </a:ln>
        </p:spPr>
      </p:sp>
      <p:sp>
        <p:nvSpPr>
          <p:cNvPr id="9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Concrete examples per tier. The rule: the cheap model for things you'd do yourself without much thought; the balanced one for most of the work; the top one for decisions and bugs where a mistake costs hours. Auto is a good option if you don't want to think about it. Prices differ by tens of times between tiers; we'll see them in dollars in the costs part. Practical rule: start with the balanced model, and if it gets the same thing wrong twice, stop, clarify and move up to Opus / Sol.</a:t>
            </a:r>
            <a:endParaRPr lang="en-US" sz="2000" b="0" u="none" strike="noStrike">
              <a:solidFill>
                <a:srgbClr val="000000"/>
              </a:solidFill>
              <a:effectLst/>
              <a:uFillTx/>
              <a:latin typeface="Arial"/>
            </a:endParaRPr>
          </a:p>
        </p:txBody>
      </p:sp>
      <p:sp>
        <p:nvSpPr>
          <p:cNvPr id="957"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C70904-3150-4411-841A-13B5B6A99965}"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sldImg"/>
          </p:nvPr>
        </p:nvSpPr>
        <p:spPr>
          <a:xfrm>
            <a:off x="685800" y="1143000"/>
            <a:ext cx="5486040" cy="3085920"/>
          </a:xfrm>
          <a:prstGeom prst="rect">
            <a:avLst/>
          </a:prstGeom>
          <a:ln w="0">
            <a:noFill/>
          </a:ln>
        </p:spPr>
      </p:sp>
      <p:sp>
        <p:nvSpPr>
          <p:cNvPr id="9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only reads and explains, safe for exploration. Plan researches and writes a plan without touching the code. Agent changes files and runs commands. Most people jump straight into Agent; my recommendation is to spend more time in Plan.</a:t>
            </a:r>
            <a:endParaRPr lang="en-US" sz="2000" b="0" u="none" strike="noStrike">
              <a:solidFill>
                <a:srgbClr val="000000"/>
              </a:solidFill>
              <a:effectLst/>
              <a:uFillTx/>
              <a:latin typeface="Arial"/>
            </a:endParaRPr>
          </a:p>
        </p:txBody>
      </p:sp>
      <p:sp>
        <p:nvSpPr>
          <p:cNvPr id="966"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64F724-7FB5-442B-B6BE-080BA80D4B1D}"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 name="PlaceHolder 1"/>
          <p:cNvSpPr>
            <a:spLocks noGrp="1"/>
          </p:cNvSpPr>
          <p:nvPr>
            <p:ph type="sldImg"/>
          </p:nvPr>
        </p:nvSpPr>
        <p:spPr>
          <a:xfrm>
            <a:off x="685800" y="1143000"/>
            <a:ext cx="5486040" cy="3085920"/>
          </a:xfrm>
          <a:prstGeom prst="rect">
            <a:avLst/>
          </a:prstGeom>
          <a:ln w="0">
            <a:noFill/>
          </a:ln>
        </p:spPr>
      </p:sp>
      <p:sp>
        <p:nvSpPr>
          <p:cNvPr id="9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Three places the Copilot agent can run. Local: in VS Code, interactive, you see everything. CLI: in the terminal, good for long tasks and parallel sessions, possibly in separate worktrees. Cloud: runs on GitHub and hands you back a PR, ideal for clear issues you don't want to supervise.</a:t>
            </a:r>
            <a:endParaRPr lang="en-US" sz="2000" b="0" u="none" strike="noStrike">
              <a:solidFill>
                <a:srgbClr val="000000"/>
              </a:solidFill>
              <a:effectLst/>
              <a:uFillTx/>
              <a:latin typeface="Arial"/>
            </a:endParaRPr>
          </a:p>
        </p:txBody>
      </p:sp>
      <p:sp>
        <p:nvSpPr>
          <p:cNvPr id="978"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04E21F-C5F6-4B58-B36E-63045CB481D6}"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sldImg"/>
          </p:nvPr>
        </p:nvSpPr>
        <p:spPr>
          <a:xfrm>
            <a:off x="685800" y="1143000"/>
            <a:ext cx="5486040" cy="3085920"/>
          </a:xfrm>
          <a:prstGeom prst="rect">
            <a:avLst/>
          </a:prstGeom>
          <a:ln w="0">
            <a:noFill/>
          </a:ln>
        </p:spPr>
      </p:sp>
      <p:sp>
        <p:nvSpPr>
          <p:cNvPr id="9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AGENTS.md is a README for agents. Copilot and most other tools read it, so you write it once. It goes into the context on every request, so it has to be short. The example on the right is about the right size: project, commands, conventions, what not to touch.</a:t>
            </a:r>
            <a:endParaRPr lang="en-US" sz="2000" b="0" u="none" strike="noStrike">
              <a:solidFill>
                <a:srgbClr val="000000"/>
              </a:solidFill>
              <a:effectLst/>
              <a:uFillTx/>
              <a:latin typeface="Arial"/>
            </a:endParaRPr>
          </a:p>
        </p:txBody>
      </p:sp>
      <p:sp>
        <p:nvSpPr>
          <p:cNvPr id="987"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837A805-9B5E-4895-9DA4-254FCB124291}"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type="sldImg"/>
          </p:nvPr>
        </p:nvSpPr>
        <p:spPr>
          <a:xfrm>
            <a:off x="685800" y="1143000"/>
            <a:ext cx="5486040" cy="3085920"/>
          </a:xfrm>
          <a:prstGeom prst="rect">
            <a:avLst/>
          </a:prstGeom>
          <a:ln w="0">
            <a:noFill/>
          </a:ln>
        </p:spPr>
      </p:sp>
      <p:sp>
        <p:nvSpPr>
          <p:cNvPr id="9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Three levels. Personal, in ~/.copilot: your own preferences, they don't go into git. Repo: the team's rules. Folders: local rules, useful in a monorepo. When they conflict, the one closest to the edited file wins. In VS Code, AGENTS.md files in subfolders are enabled with an experimental setting.</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endParaRPr lang="en-US" sz="2000" b="0" u="none" strike="noStrike">
              <a:solidFill>
                <a:srgbClr val="000000"/>
              </a:solidFill>
              <a:effectLst/>
              <a:uFillTx/>
              <a:latin typeface="Arial"/>
            </a:endParaRPr>
          </a:p>
        </p:txBody>
      </p:sp>
      <p:sp>
        <p:nvSpPr>
          <p:cNvPr id="990"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A7BD6F6-8E48-4BB7-B4B5-5C9E8BCC418E}"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sldImg"/>
          </p:nvPr>
        </p:nvSpPr>
        <p:spPr>
          <a:xfrm>
            <a:off x="685800" y="1143000"/>
            <a:ext cx="5486040" cy="3085920"/>
          </a:xfrm>
          <a:prstGeom prst="rect">
            <a:avLst/>
          </a:prstGeom>
          <a:ln w="0">
            <a:noFill/>
          </a:ln>
        </p:spPr>
      </p:sp>
      <p:sp>
        <p:nvSpPr>
          <p:cNvPr id="9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Eight categories. Subagents are worth remembering: one agent hands a subtask to another agent with a clean context, which returns only the summary. And MCP: that's how we connect Jira, databases and internal documentation. In the CLI the tools have different names, but the same functions.</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r>
              <a:rPr lang="en-US" sz="2000" b="0" u="none" strike="noStrike">
                <a:solidFill>
                  <a:srgbClr val="000000"/>
                </a:solidFill>
                <a:effectLst/>
                <a:uFillTx/>
                <a:latin typeface="Arial"/>
              </a:rPr>
              <a:t/>
            </a:r>
            <a:endParaRPr lang="en-US" sz="2000" b="0" u="none" strike="noStrike">
              <a:solidFill>
                <a:srgbClr val="000000"/>
              </a:solidFill>
              <a:effectLst/>
              <a:uFillTx/>
              <a:latin typeface="Arial"/>
            </a:endParaRPr>
          </a:p>
        </p:txBody>
      </p:sp>
      <p:sp>
        <p:nvSpPr>
          <p:cNvPr id="999"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5CD231-EDED-4345-9D43-1A99AEAE73F7}"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type="sldImg"/>
          </p:nvPr>
        </p:nvSpPr>
        <p:spPr>
          <a:xfrm>
            <a:off x="685800" y="1143000"/>
            <a:ext cx="5486040" cy="3085920"/>
          </a:xfrm>
          <a:prstGeom prst="rect">
            <a:avLst/>
          </a:prstGeom>
          <a:ln w="0">
            <a:noFill/>
          </a:ln>
        </p:spPr>
      </p:sp>
      <p:sp>
        <p:nvSpPr>
          <p:cNvPr id="10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skill is a folder with a SKILL.md. The trick is progressive disclosure: only the name and description sit in the context; the body loads only when the task matches, and references and scripts only when needed. That way we can have dozens of skills without filling the context.</a:t>
            </a:r>
            <a:endParaRPr lang="en-US" sz="2000" b="0" u="none" strike="noStrike">
              <a:solidFill>
                <a:srgbClr val="000000"/>
              </a:solidFill>
              <a:effectLst/>
              <a:uFillTx/>
              <a:latin typeface="Arial"/>
            </a:endParaRPr>
          </a:p>
        </p:txBody>
      </p:sp>
      <p:sp>
        <p:nvSpPr>
          <p:cNvPr id="1008"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44FC3E-C7FC-4AA8-8D66-8789FA23BC3F}"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PlaceHolder 1"/>
          <p:cNvSpPr>
            <a:spLocks noGrp="1"/>
          </p:cNvSpPr>
          <p:nvPr>
            <p:ph type="sldImg"/>
          </p:nvPr>
        </p:nvSpPr>
        <p:spPr>
          <a:xfrm>
            <a:off x="685800" y="1143000"/>
            <a:ext cx="5486040" cy="3085920"/>
          </a:xfrm>
          <a:prstGeom prst="rect">
            <a:avLst/>
          </a:prstGeom>
          <a:ln w="0">
            <a:noFill/>
          </a:ln>
        </p:spPr>
      </p:sp>
      <p:sp>
        <p:nvSpPr>
          <p:cNvPr id="10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When to use what. Instructions for permanent rules. A skill for repeatable procedures. A prompt file for a simple reusable prompt. A custom agent for a role with its own tools. A hook for what must be guaranteed, not just suggested.</a:t>
            </a:r>
            <a:endParaRPr lang="en-US" sz="2000" b="0" u="none" strike="noStrike">
              <a:solidFill>
                <a:srgbClr val="000000"/>
              </a:solidFill>
              <a:effectLst/>
              <a:uFillTx/>
              <a:latin typeface="Arial"/>
            </a:endParaRPr>
          </a:p>
        </p:txBody>
      </p:sp>
      <p:sp>
        <p:nvSpPr>
          <p:cNvPr id="1011"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75FC46-EF1A-42F6-B874-A8516A0F8C30}"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sldImg"/>
          </p:nvPr>
        </p:nvSpPr>
        <p:spPr>
          <a:xfrm>
            <a:off x="685800" y="1143000"/>
            <a:ext cx="5486040" cy="3085920"/>
          </a:xfrm>
          <a:prstGeom prst="rect">
            <a:avLst/>
          </a:prstGeom>
          <a:ln w="0">
            <a:noFill/>
          </a:ln>
        </p:spPr>
      </p:sp>
      <p:sp>
        <p:nvSpPr>
          <p:cNvPr id="10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Matt Pocock publishes a widely used set of skills. His flow: interview, specification, tickets, implementation with TDD, review. Installing is a single command; setup runs once per repo.</a:t>
            </a:r>
            <a:endParaRPr lang="en-US" sz="2000" b="0" u="none" strike="noStrike">
              <a:solidFill>
                <a:srgbClr val="000000"/>
              </a:solidFill>
              <a:effectLst/>
              <a:uFillTx/>
              <a:latin typeface="Arial"/>
            </a:endParaRPr>
          </a:p>
        </p:txBody>
      </p:sp>
      <p:sp>
        <p:nvSpPr>
          <p:cNvPr id="1023"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8F4E7E-790E-4669-A510-56BB9CBE77ED}"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 name="PlaceHolder 1"/>
          <p:cNvSpPr>
            <a:spLocks noGrp="1"/>
          </p:cNvSpPr>
          <p:nvPr>
            <p:ph type="sldImg"/>
          </p:nvPr>
        </p:nvSpPr>
        <p:spPr>
          <a:xfrm>
            <a:off x="685800" y="1143000"/>
            <a:ext cx="5486040" cy="3085920"/>
          </a:xfrm>
          <a:prstGeom prst="rect">
            <a:avLst/>
          </a:prstGeom>
          <a:ln w="0">
            <a:noFill/>
          </a:ln>
        </p:spPr>
      </p:sp>
      <p:sp>
        <p:nvSpPr>
          <p:cNvPr id="10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/grill-me is the most popular of them. The idea: instead of you writing the specification, the agent asks you questions one at a time, each with a recommendation, until you agree. It looks up facts in the code itself and leaves the decisions to you.</a:t>
            </a:r>
            <a:endParaRPr lang="en-US" sz="2000" b="0" u="none" strike="noStrike">
              <a:solidFill>
                <a:srgbClr val="000000"/>
              </a:solidFill>
              <a:effectLst/>
              <a:uFillTx/>
              <a:latin typeface="Arial"/>
            </a:endParaRPr>
          </a:p>
        </p:txBody>
      </p:sp>
      <p:sp>
        <p:nvSpPr>
          <p:cNvPr id="1026"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D4BADD-7009-4943-B601-6250B464ED1D}"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sldImg"/>
          </p:nvPr>
        </p:nvSpPr>
        <p:spPr>
          <a:xfrm>
            <a:off x="685800" y="1143000"/>
            <a:ext cx="5486040" cy="3085920"/>
          </a:xfrm>
          <a:prstGeom prst="rect">
            <a:avLst/>
          </a:prstGeom>
          <a:ln w="0">
            <a:noFill/>
          </a:ln>
        </p:spPr>
      </p:sp>
      <p:sp>
        <p:nvSpPr>
          <p:cNvPr id="10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Superpowers is a different philosophy: a complete methodology where the skills activate on their own in the right order: brainstorming, plan, execution, plus TDD and systematic debugging. In Copilot CLI it installs as a plugin, in VS Code with npx skills.</a:t>
            </a:r>
            <a:endParaRPr lang="en-US" sz="2000" b="0" u="none" strike="noStrike">
              <a:solidFill>
                <a:srgbClr val="000000"/>
              </a:solidFill>
              <a:effectLst/>
              <a:uFillTx/>
              <a:latin typeface="Arial"/>
            </a:endParaRPr>
          </a:p>
        </p:txBody>
      </p:sp>
      <p:sp>
        <p:nvSpPr>
          <p:cNvPr id="1038"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5CCC33-872C-4169-B47D-4097EBD9862C}"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 name="PlaceHolder 1"/>
          <p:cNvSpPr>
            <a:spLocks noGrp="1"/>
          </p:cNvSpPr>
          <p:nvPr>
            <p:ph type="sldImg"/>
          </p:nvPr>
        </p:nvSpPr>
        <p:spPr>
          <a:xfrm>
            <a:off x="685800" y="1143000"/>
            <a:ext cx="5486040" cy="3085920"/>
          </a:xfrm>
          <a:prstGeom prst="rect">
            <a:avLst/>
          </a:prstGeom>
          <a:ln w="0">
            <a:noFill/>
          </a:ln>
        </p:spPr>
      </p:sp>
      <p:sp>
        <p:nvSpPr>
          <p:cNvPr id="10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process: do the task once with the agent, correct it along the way, then ask it to turn the conversation into a skill. VS Code has /create-skill. Then test it on a new task.</a:t>
            </a:r>
            <a:endParaRPr lang="en-US" sz="2000" b="0" u="none" strike="noStrike">
              <a:solidFill>
                <a:srgbClr val="000000"/>
              </a:solidFill>
              <a:effectLst/>
              <a:uFillTx/>
              <a:latin typeface="Arial"/>
            </a:endParaRPr>
          </a:p>
        </p:txBody>
      </p:sp>
      <p:sp>
        <p:nvSpPr>
          <p:cNvPr id="1044"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11D85B-94AD-4FEE-BBD7-0D81E1BA97A7}"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1"/>
          <p:cNvSpPr>
            <a:spLocks noGrp="1"/>
          </p:cNvSpPr>
          <p:nvPr>
            <p:ph type="sldImg"/>
          </p:nvPr>
        </p:nvSpPr>
        <p:spPr>
          <a:xfrm>
            <a:off x="685800" y="1143000"/>
            <a:ext cx="5486040" cy="3085920"/>
          </a:xfrm>
          <a:prstGeom prst="rect">
            <a:avLst/>
          </a:prstGeom>
          <a:ln w="0">
            <a:noFill/>
          </a:ln>
        </p:spPr>
      </p:sp>
      <p:sp>
        <p:nvSpPr>
          <p:cNvPr id="10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Hooks are scripts that run automatically on events: before a tool, after a tool, when the agent says it's done. The model can't ignore them. The most useful: preToolUse, which can block, and agentStop, which can force another turn.</a:t>
            </a:r>
            <a:endParaRPr lang="en-US" sz="2000" b="0" u="none" strike="noStrike">
              <a:solidFill>
                <a:srgbClr val="000000"/>
              </a:solidFill>
              <a:effectLst/>
              <a:uFillTx/>
              <a:latin typeface="Arial"/>
            </a:endParaRPr>
          </a:p>
        </p:txBody>
      </p:sp>
      <p:sp>
        <p:nvSpPr>
          <p:cNvPr id="1056"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23AEEBD-AB19-41DF-B5A4-9CE7435F8C38}"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type="sldImg"/>
          </p:nvPr>
        </p:nvSpPr>
        <p:spPr>
          <a:xfrm>
            <a:off x="685800" y="1143000"/>
            <a:ext cx="5486040" cy="3085920"/>
          </a:xfrm>
          <a:prstGeom prst="rect">
            <a:avLst/>
          </a:prstGeom>
          <a:ln w="0">
            <a:noFill/>
          </a:ln>
        </p:spPr>
      </p:sp>
      <p:sp>
        <p:nvSpPr>
          <p:cNvPr id="10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Example: we block destructive commands. The script receives the event as JSON and, if it finds a dangerous pattern, answers deny. An important detail: if the script crashes, the command is blocked; if it times out, it goes through.</a:t>
            </a:r>
            <a:endParaRPr lang="en-US" sz="2000" b="0" u="none" strike="noStrike">
              <a:solidFill>
                <a:srgbClr val="000000"/>
              </a:solidFill>
              <a:effectLst/>
              <a:uFillTx/>
              <a:latin typeface="Arial"/>
            </a:endParaRPr>
          </a:p>
        </p:txBody>
      </p:sp>
      <p:sp>
        <p:nvSpPr>
          <p:cNvPr id="1059"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EF88A7-3A8E-4EF2-8796-06003A65A57F}"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 name="PlaceHolder 1"/>
          <p:cNvSpPr>
            <a:spLocks noGrp="1"/>
          </p:cNvSpPr>
          <p:nvPr>
            <p:ph type="sldImg"/>
          </p:nvPr>
        </p:nvSpPr>
        <p:spPr>
          <a:xfrm>
            <a:off x="685800" y="1143000"/>
            <a:ext cx="5486040" cy="3085920"/>
          </a:xfrm>
          <a:prstGeom prst="rect">
            <a:avLst/>
          </a:prstGeom>
          <a:ln w="0">
            <a:noFill/>
          </a:ln>
        </p:spPr>
      </p:sp>
      <p:sp>
        <p:nvSpPr>
          <p:cNvPr id="10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Six things worth knowing exist. MCP is the most powerful, but also the most expensive in context. Automatic code review on PRs is worth turning on.</a:t>
            </a:r>
            <a:endParaRPr lang="en-US" sz="2000" b="0" u="none" strike="noStrike">
              <a:solidFill>
                <a:srgbClr val="000000"/>
              </a:solidFill>
              <a:effectLst/>
              <a:uFillTx/>
              <a:latin typeface="Arial"/>
            </a:endParaRPr>
          </a:p>
        </p:txBody>
      </p:sp>
      <p:sp>
        <p:nvSpPr>
          <p:cNvPr id="1074"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97D66FD-D398-459A-87AA-844B5FEFC93C}"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sldImg"/>
          </p:nvPr>
        </p:nvSpPr>
        <p:spPr>
          <a:xfrm>
            <a:off x="685800" y="1143000"/>
            <a:ext cx="5486040" cy="3085920"/>
          </a:xfrm>
          <a:prstGeom prst="rect">
            <a:avLst/>
          </a:prstGeom>
          <a:ln w="0">
            <a:noFill/>
          </a:ln>
        </p:spPr>
      </p:sp>
      <p:sp>
        <p:nvSpPr>
          <p:cNvPr id="10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same session on eight models. The figures are a calculated example, not measurements, but they show the order of magnitude: from a few cents to a few dollars for the same work.</a:t>
            </a:r>
            <a:endParaRPr lang="en-US" sz="2000" b="0" u="none" strike="noStrike">
              <a:solidFill>
                <a:srgbClr val="000000"/>
              </a:solidFill>
              <a:effectLst/>
              <a:uFillTx/>
              <a:latin typeface="Arial"/>
            </a:endParaRPr>
          </a:p>
        </p:txBody>
      </p:sp>
      <p:sp>
        <p:nvSpPr>
          <p:cNvPr id="1083"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3B67C49-508C-411D-B8BC-188C45FEBF6E}"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685800" y="1143000"/>
            <a:ext cx="5486040" cy="3085920"/>
          </a:xfrm>
          <a:prstGeom prst="rect">
            <a:avLst/>
          </a:prstGeom>
          <a:ln w="0">
            <a:noFill/>
          </a:ln>
        </p:spPr>
      </p:sp>
      <p:sp>
        <p:nvSpPr>
          <p:cNvPr id="10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 the context fills up, quality drops, long before the limit. 40% is a popular heuristic, not an exact rule. You've all seen the symptoms: the agent forgets what you told it, repeats mistakes, makes things up. The main message: context is a budget, not a warehouse. A new task in an old session already starts closer to the dumb zone.</a:t>
            </a:r>
            <a:endParaRPr lang="en-US" sz="2000" b="0" u="none" strike="noStrike">
              <a:solidFill>
                <a:srgbClr val="000000"/>
              </a:solidFill>
              <a:effectLst/>
              <a:uFillTx/>
              <a:latin typeface="Arial"/>
            </a:endParaRPr>
          </a:p>
        </p:txBody>
      </p:sp>
      <p:sp>
        <p:nvSpPr>
          <p:cNvPr id="1095"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40E163-5478-4904-A822-461252A0C335}"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685800" y="1143000"/>
            <a:ext cx="5486040" cy="3085920"/>
          </a:xfrm>
          <a:prstGeom prst="rect">
            <a:avLst/>
          </a:prstGeom>
          <a:ln w="0">
            <a:noFill/>
          </a:ln>
        </p:spPr>
      </p:sp>
      <p:sp>
        <p:nvSpPr>
          <p:cNvPr id="11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Eight habits. The three most important: one task per session, the plan written to a file and picked up in a new session, and subagents for exploration. Don't paste huge logs; filter them.</a:t>
            </a:r>
            <a:endParaRPr lang="en-US" sz="2000" b="0" u="none" strike="noStrike">
              <a:solidFill>
                <a:srgbClr val="000000"/>
              </a:solidFill>
              <a:effectLst/>
              <a:uFillTx/>
              <a:latin typeface="Arial"/>
            </a:endParaRPr>
          </a:p>
        </p:txBody>
      </p:sp>
      <p:sp>
        <p:nvSpPr>
          <p:cNvPr id="1104"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16EF95-A9B1-4215-9EBC-BFDC6B8E954E}"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685800" y="1143000"/>
            <a:ext cx="5486040" cy="3085920"/>
          </a:xfrm>
          <a:prstGeom prst="rect">
            <a:avLst/>
          </a:prstGeom>
          <a:ln w="0">
            <a:noFill/>
          </a:ln>
        </p:spPr>
      </p:sp>
      <p:sp>
        <p:nvSpPr>
          <p:cNvPr id="11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Same bug, two prompts. The first seems faster to write, but it costs more and gives worse results. The second takes 30 more seconds and saves minutes and credits.</a:t>
            </a:r>
            <a:endParaRPr lang="en-US" sz="2000" b="0" u="none" strike="noStrike">
              <a:solidFill>
                <a:srgbClr val="000000"/>
              </a:solidFill>
              <a:effectLst/>
              <a:uFillTx/>
              <a:latin typeface="Arial"/>
            </a:endParaRPr>
          </a:p>
        </p:txBody>
      </p:sp>
      <p:sp>
        <p:nvSpPr>
          <p:cNvPr id="1110"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B9F9DF-21F0-4E1A-BE8E-4C1EC709C56A}"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685800" y="1143000"/>
            <a:ext cx="5486040" cy="3085920"/>
          </a:xfrm>
          <a:prstGeom prst="rect">
            <a:avLst/>
          </a:prstGeom>
          <a:ln w="0">
            <a:noFill/>
          </a:ln>
        </p:spPr>
      </p:sp>
      <p:sp>
        <p:nvSpPr>
          <p:cNvPr id="11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Research, Plan, Implement, Review. Each stage with the right model and a written artifact. Between stages, a new session. The last step is yours: code is what ships, so code is what gets reviewed.</a:t>
            </a:r>
            <a:endParaRPr lang="en-US" sz="2000" b="0" u="none" strike="noStrike">
              <a:solidFill>
                <a:srgbClr val="000000"/>
              </a:solidFill>
              <a:effectLst/>
              <a:uFillTx/>
              <a:latin typeface="Arial"/>
            </a:endParaRPr>
          </a:p>
        </p:txBody>
      </p:sp>
      <p:sp>
        <p:nvSpPr>
          <p:cNvPr id="1116"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52D300-9EF1-431C-BB57-59C536BF4886}"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685800" y="1143000"/>
            <a:ext cx="5486040" cy="3085920"/>
          </a:xfrm>
          <a:prstGeom prst="rect">
            <a:avLst/>
          </a:prstGeom>
          <a:ln w="0">
            <a:noFill/>
          </a:ln>
        </p:spPr>
      </p:sp>
      <p:sp>
        <p:nvSpPr>
          <p:cNvPr id="11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Non-negotiable rules. Review every diff. Autopilot only in isolation. Watch out for prompt injection from web pages or issues. No secrets in prompts. Check what you install. Use only the models your organization approved.</a:t>
            </a:r>
            <a:endParaRPr lang="en-US" sz="2000" b="0" u="none" strike="noStrike">
              <a:solidFill>
                <a:srgbClr val="000000"/>
              </a:solidFill>
              <a:effectLst/>
              <a:uFillTx/>
              <a:latin typeface="Arial"/>
            </a:endParaRPr>
          </a:p>
        </p:txBody>
      </p:sp>
      <p:sp>
        <p:nvSpPr>
          <p:cNvPr id="1119"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38FDEC-0B2B-4CBD-B91D-7831EB377A0C}"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685800" y="1143000"/>
            <a:ext cx="5486040" cy="3085920"/>
          </a:xfrm>
          <a:prstGeom prst="rect">
            <a:avLst/>
          </a:prstGeom>
          <a:ln w="0">
            <a:noFill/>
          </a:ln>
        </p:spPr>
      </p:sp>
      <p:sp>
        <p:nvSpPr>
          <p:cNvPr id="11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Links to go deeper. I especially recommend the GitHub docs on models and hooks, and Dex Horthy's talk on context.</a:t>
            </a:r>
            <a:endParaRPr lang="en-US" sz="2000" b="0" u="none" strike="noStrike">
              <a:solidFill>
                <a:srgbClr val="000000"/>
              </a:solidFill>
              <a:effectLst/>
              <a:uFillTx/>
              <a:latin typeface="Arial"/>
            </a:endParaRPr>
          </a:p>
        </p:txBody>
      </p:sp>
      <p:sp>
        <p:nvSpPr>
          <p:cNvPr id="1122"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636FDD-5E09-406A-83EC-A61AA6424876}"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685800" y="1143000"/>
            <a:ext cx="5486040" cy="3085920"/>
          </a:xfrm>
          <a:prstGeom prst="rect">
            <a:avLst/>
          </a:prstGeom>
          <a:ln w="0">
            <a:noFill/>
          </a:ln>
        </p:spPr>
      </p:sp>
      <p:sp>
        <p:nvSpPr>
          <p:cNvPr id="11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Homework: a real task, a short AGENTS.md and the /grill-me, Plan, Agent flow in a new session. Next week we can compare what worked and what didn't.</a:t>
            </a:r>
            <a:endParaRPr lang="en-US" sz="2000" b="0" u="none" strike="noStrike">
              <a:solidFill>
                <a:srgbClr val="000000"/>
              </a:solidFill>
              <a:effectLst/>
              <a:uFillTx/>
              <a:latin typeface="Arial"/>
            </a:endParaRPr>
          </a:p>
        </p:txBody>
      </p:sp>
      <p:sp>
        <p:nvSpPr>
          <p:cNvPr id="1125"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C4C816-A997-4AAE-98C5-23A025944C11}"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5F2EA"/>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5F2EA"/>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12880" y="1102320"/>
            <a:ext cx="10566000" cy="418680"/>
          </a:xfrm>
          <a:prstGeom prst="rect">
            <a:avLst/>
          </a:prstGeom>
          <a:noFill/>
          <a:ln w="0">
            <a:noFill/>
          </a:ln>
        </p:spPr>
        <p:txBody>
          <a:bodyPr lIns="0" tIns="0" rIns="0" bIns="0" anchor="t">
            <a:noAutofit/>
          </a:bodyPr>
          <a:lstStyle>
            <a:lvl1pPr indent="0" algn="l">
              <a:buNone/>
              <a:defRPr lang="en-US" sz="3000" b="0" u="none" strike="noStrike">
                <a:solidFill>
                  <a:schemeClr val="dk1"/>
                </a:solidFill>
                <a:effectLst/>
                <a:uFillTx/>
                <a:latin typeface="IBM Plex Sans"/>
              </a:defRPr>
            </a:lvl1pPr>
          </a:lstStyle>
          <a:p>
            <a:pPr indent="0" algn="l">
              <a:buNone/>
            </a:pPr>
            <a:r>
              <a:rPr lang="en-US" sz="3000" b="0" u="none" strike="noStrike">
                <a:solidFill>
                  <a:schemeClr val="dk1"/>
                </a:solidFill>
                <a:effectLst/>
                <a:uFillTx/>
                <a:latin typeface="IBM Plex Sans"/>
              </a:rPr>
              <a:t>Click to edit the title text format</a:t>
            </a:r>
            <a:endParaRPr lang="en-US" sz="3000" b="0" u="none" strike="noStrike">
              <a:solidFill>
                <a:schemeClr val="dk1"/>
              </a:solidFill>
              <a:effectLst/>
              <a:uFillTx/>
              <a:latin typeface="IBM Plex Sans"/>
            </a:endParaRPr>
          </a:p>
        </p:txBody>
      </p:sp>
      <p:sp>
        <p:nvSpPr>
          <p:cNvPr id="3" name="PlaceHolder 2"/>
          <p:cNvSpPr>
            <a:spLocks noGrp="1"/>
          </p:cNvSpPr>
          <p:nvPr>
            <p:ph type="body"/>
          </p:nvPr>
        </p:nvSpPr>
        <p:spPr>
          <a:xfrm>
            <a:off x="812880" y="1826280"/>
            <a:ext cx="10566000" cy="421884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US" sz="1600" b="0" u="none" strike="noStrike">
                <a:solidFill>
                  <a:schemeClr val="dk1"/>
                </a:solidFill>
                <a:effectLst/>
                <a:uFillTx/>
                <a:latin typeface="IBM Plex Sans"/>
              </a:defRPr>
            </a:lvl1pPr>
            <a:lvl2pPr lvl="1" algn="l">
              <a:spcBef>
                <a:spcPts val="1134"/>
              </a:spcBef>
              <a:buClr>
                <a:srgbClr val="000000"/>
              </a:buClr>
              <a:buSzPct val="75000"/>
              <a:buFont typeface="Symbol" charset="2"/>
              <a:buChar char=""/>
              <a:defRPr lang="en-US" sz="1600" b="0" u="none" strike="noStrike">
                <a:solidFill>
                  <a:schemeClr val="dk1"/>
                </a:solidFill>
                <a:effectLst/>
                <a:uFillTx/>
                <a:latin typeface="IBM Plex Sans"/>
              </a:defRPr>
            </a:lvl2pPr>
            <a:lvl3pPr lvl="2" algn="l">
              <a:spcBef>
                <a:spcPts val="850"/>
              </a:spcBef>
              <a:buClr>
                <a:srgbClr val="000000"/>
              </a:buClr>
              <a:buSzPct val="45000"/>
              <a:buFont typeface="Wingdings" charset="2"/>
              <a:buChar char=""/>
              <a:defRPr lang="en-US" sz="1600" b="0" u="none" strike="noStrike">
                <a:solidFill>
                  <a:schemeClr val="dk1"/>
                </a:solidFill>
                <a:effectLst/>
                <a:uFillTx/>
                <a:latin typeface="IBM Plex Sans"/>
              </a:defRPr>
            </a:lvl3pPr>
            <a:lvl4pPr lvl="3" algn="l">
              <a:spcBef>
                <a:spcPts val="567"/>
              </a:spcBef>
              <a:buClr>
                <a:srgbClr val="000000"/>
              </a:buClr>
              <a:buSzPct val="75000"/>
              <a:buFont typeface="Symbol" charset="2"/>
              <a:buChar char=""/>
              <a:defRPr lang="en-US" sz="1600" b="0" u="none" strike="noStrike">
                <a:solidFill>
                  <a:schemeClr val="dk1"/>
                </a:solidFill>
                <a:effectLst/>
                <a:uFillTx/>
                <a:latin typeface="IBM Plex Sans"/>
              </a:defRPr>
            </a:lvl4pPr>
            <a:lvl5pPr lvl="4" algn="l">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5pPr>
            <a:lvl6pPr lvl="5" algn="l">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6pPr>
            <a:lvl7pPr lvl="6" algn="l">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7pPr>
          </a:lstStyle>
          <a:p>
            <a:pPr algn="l">
              <a:spcBef>
                <a:spcPts val="1417"/>
              </a:spcBef>
              <a:buClr>
                <a:srgbClr val="000000"/>
              </a:buClr>
              <a:buSzPct val="45000"/>
              <a:buFont typeface="Wingdings" charset="2"/>
              <a:buChar char=""/>
            </a:pPr>
            <a:r>
              <a:rPr lang="en-US" sz="1600" b="0" u="none" strike="noStrike">
                <a:solidFill>
                  <a:schemeClr val="dk1"/>
                </a:solidFill>
                <a:effectLst/>
                <a:uFillTx/>
                <a:latin typeface="IBM Plex Sans"/>
              </a:rPr>
              <a:t>Click to edit the outline text format</a:t>
            </a:r>
            <a:endParaRPr lang="en-US" sz="1600" b="0" u="none" strike="noStrike">
              <a:solidFill>
                <a:schemeClr val="dk1"/>
              </a:solidFill>
              <a:effectLst/>
              <a:uFillTx/>
              <a:latin typeface="IBM Plex Sans"/>
            </a:endParaRPr>
          </a:p>
          <a:p>
            <a:pPr marL="743040" lvl="1" indent="-285840" algn="l">
              <a:spcBef>
                <a:spcPts val="1134"/>
              </a:spcBef>
              <a:buClr>
                <a:srgbClr val="000000"/>
              </a:buClr>
              <a:buSzPct val="75000"/>
              <a:buFont typeface="Symbol" charset="2"/>
              <a:buChar char=""/>
            </a:pPr>
            <a:r>
              <a:rPr lang="en-US" sz="1600" b="0" u="none" strike="noStrike">
                <a:solidFill>
                  <a:schemeClr val="dk1"/>
                </a:solidFill>
                <a:effectLst/>
                <a:uFillTx/>
                <a:latin typeface="IBM Plex Sans"/>
              </a:rPr>
              <a:t>Second Outline Level</a:t>
            </a:r>
            <a:endParaRPr lang="en-US" sz="1600" b="0" u="none" strike="noStrike">
              <a:solidFill>
                <a:schemeClr val="dk1"/>
              </a:solidFill>
              <a:effectLst/>
              <a:uFillTx/>
              <a:latin typeface="IBM Plex Sans"/>
            </a:endParaRPr>
          </a:p>
          <a:p>
            <a:pPr marL="1143000" lvl="2" indent="-228600" algn="l">
              <a:spcBef>
                <a:spcPts val="850"/>
              </a:spcBef>
              <a:buClr>
                <a:srgbClr val="000000"/>
              </a:buClr>
              <a:buSzPct val="45000"/>
              <a:buFont typeface="Wingdings" charset="2"/>
              <a:buChar char=""/>
            </a:pPr>
            <a:r>
              <a:rPr lang="en-US" sz="1600" b="0" u="none" strike="noStrike">
                <a:solidFill>
                  <a:schemeClr val="dk1"/>
                </a:solidFill>
                <a:effectLst/>
                <a:uFillTx/>
                <a:latin typeface="IBM Plex Sans"/>
              </a:rPr>
              <a:t>Third Outline Level</a:t>
            </a:r>
            <a:endParaRPr lang="en-US" sz="1600" b="0" u="none" strike="noStrike">
              <a:solidFill>
                <a:schemeClr val="dk1"/>
              </a:solidFill>
              <a:effectLst/>
              <a:uFillTx/>
              <a:latin typeface="IBM Plex Sans"/>
            </a:endParaRPr>
          </a:p>
          <a:p>
            <a:pPr marL="1600200" lvl="3" indent="-228600" algn="l">
              <a:spcBef>
                <a:spcPts val="567"/>
              </a:spcBef>
              <a:buClr>
                <a:srgbClr val="000000"/>
              </a:buClr>
              <a:buSzPct val="75000"/>
              <a:buFont typeface="Symbol" charset="2"/>
              <a:buChar char=""/>
            </a:pPr>
            <a:r>
              <a:rPr lang="en-US" sz="1600" b="0" u="none" strike="noStrike">
                <a:solidFill>
                  <a:schemeClr val="dk1"/>
                </a:solidFill>
                <a:effectLst/>
                <a:uFillTx/>
                <a:latin typeface="IBM Plex Sans"/>
              </a:rPr>
              <a:t>Fourth Outline Level</a:t>
            </a:r>
            <a:endParaRPr lang="en-US" sz="1600" b="0" u="none" strike="noStrike">
              <a:solidFill>
                <a:schemeClr val="dk1"/>
              </a:solidFill>
              <a:effectLst/>
              <a:uFillTx/>
              <a:latin typeface="IBM Plex Sans"/>
            </a:endParaRPr>
          </a:p>
          <a:p>
            <a:pPr marL="2057400" lvl="4" indent="-228600" algn="l">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Fifth Outline Level</a:t>
            </a:r>
            <a:endParaRPr lang="en-US" sz="1600" b="0" u="none" strike="noStrike">
              <a:solidFill>
                <a:schemeClr val="dk1"/>
              </a:solidFill>
              <a:effectLst/>
              <a:uFillTx/>
              <a:latin typeface="IBM Plex Sans"/>
            </a:endParaRPr>
          </a:p>
          <a:p>
            <a:pPr marL="2514600" lvl="5" indent="-228600" algn="l">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Sixth Outline Level</a:t>
            </a:r>
            <a:endParaRPr lang="en-US" sz="1600" b="0" u="none" strike="noStrike">
              <a:solidFill>
                <a:schemeClr val="dk1"/>
              </a:solidFill>
              <a:effectLst/>
              <a:uFillTx/>
              <a:latin typeface="IBM Plex Sans"/>
            </a:endParaRPr>
          </a:p>
          <a:p>
            <a:pPr marL="2971800" lvl="6" indent="-228600" algn="l">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Seventh Outline Level</a:t>
            </a:r>
            <a:endParaRPr lang="en-US" sz="1600" b="0" u="none" strike="noStrike">
              <a:solidFill>
                <a:schemeClr val="dk1"/>
              </a:solidFill>
              <a:effectLst/>
              <a:uFillTx/>
              <a:latin typeface="IBM Plex San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5.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2.xml"/><Relationship Id="rId5" Type="http://schemas.openxmlformats.org/officeDocument/2006/relationships/notesSlide" Target="../notesSlides/notesSlide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2.xml"/><Relationship Id="rId5" Type="http://schemas.openxmlformats.org/officeDocument/2006/relationships/notesSlide" Target="../notesSlides/notesSlide16.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7.png"/><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12.png"/><Relationship Id="rId8" Type="http://schemas.openxmlformats.org/officeDocument/2006/relationships/image" Target="../media/image20.png"/><Relationship Id="rId9" Type="http://schemas.openxmlformats.org/officeDocument/2006/relationships/slideLayout" Target="../slideLayouts/slideLayout2.xml"/><Relationship Id="rId10" Type="http://schemas.openxmlformats.org/officeDocument/2006/relationships/notesSlide" Target="../notesSlides/notesSlide1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slideLayout" Target="../slideLayouts/slideLayout2.xml"/><Relationship Id="rId6"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Relationship Id="rId3" Type="http://schemas.openxmlformats.org/officeDocument/2006/relationships/notesSlide" Target="../notesSlides/notesSlide28.xml"/>
</Relationships>
</file>

<file path=ppt/slides/_rels/slide3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32.xml"/>
</Relationships>
</file>

<file path=ppt/slides/_rels/slide3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0.png"/><Relationship Id="rId3" Type="http://schemas.openxmlformats.org/officeDocument/2006/relationships/image" Target="../media/image10.png"/><Relationship Id="rId4" Type="http://schemas.openxmlformats.org/officeDocument/2006/relationships/slideLayout" Target="../slideLayouts/slideLayout2.xml"/><Relationship Id="rId5" Type="http://schemas.openxmlformats.org/officeDocument/2006/relationships/notesSlide" Target="../notesSlides/notesSlide3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8.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image" Target="../media/image27.png"/><Relationship Id="rId7" Type="http://schemas.openxmlformats.org/officeDocument/2006/relationships/slideLayout" Target="../slideLayouts/slideLayout2.xml"/><Relationship Id="rId8" Type="http://schemas.openxmlformats.org/officeDocument/2006/relationships/notesSlide" Target="../notesSlides/notesSlide44.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
</Relationships>
</file>

<file path=ppt/slides/_rels/slide5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20.png"/><Relationship Id="rId7" Type="http://schemas.openxmlformats.org/officeDocument/2006/relationships/image" Target="../media/image6.png"/><Relationship Id="rId8" Type="http://schemas.openxmlformats.org/officeDocument/2006/relationships/image" Target="../media/image31.png"/><Relationship Id="rId9" Type="http://schemas.openxmlformats.org/officeDocument/2006/relationships/slideLayout" Target="../slideLayouts/slideLayout2.xml"/><Relationship Id="rId10" Type="http://schemas.openxmlformats.org/officeDocument/2006/relationships/notesSlide" Target="../notesSlides/notesSlide54.xml"/>
</Relationships>
</file>

<file path=ppt/slides/_rels/slide5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5.png"/><Relationship Id="rId3" Type="http://schemas.openxmlformats.org/officeDocument/2006/relationships/slideLayout" Target="../slideLayouts/slideLayout2.xml"/><Relationship Id="rId4" Type="http://schemas.openxmlformats.org/officeDocument/2006/relationships/notesSlide" Target="../notesSlides/notesSlide56.xml"/>
</Relationships>
</file>

<file path=ppt/slides/_rels/slide5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slideLayout" Target="../slideLayouts/slideLayout2.xml"/><Relationship Id="rId5"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32.png"/><Relationship Id="rId5" Type="http://schemas.openxmlformats.org/officeDocument/2006/relationships/image" Target="../media/image3.png"/><Relationship Id="rId6" Type="http://schemas.openxmlformats.org/officeDocument/2006/relationships/image" Target="../media/image33.png"/><Relationship Id="rId7" Type="http://schemas.openxmlformats.org/officeDocument/2006/relationships/slideLayout" Target="../slideLayouts/slideLayout2.xml"/><Relationship Id="rId8"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hyperlink" Target="https://docs.github.com/en/copilot/reference/ai-models/supported-models" TargetMode="External"/><Relationship Id="rId2" Type="http://schemas.openxmlformats.org/officeDocument/2006/relationships/hyperlink" Target="https://docs.github.com/en/copilot/reference/hooks-reference" TargetMode="External"/><Relationship Id="rId3" Type="http://schemas.openxmlformats.org/officeDocument/2006/relationships/hyperlink" Target="https://code.visualstudio.com/docs/agents/overview" TargetMode="External"/><Relationship Id="rId4" Type="http://schemas.openxmlformats.org/officeDocument/2006/relationships/hyperlink" Target="https://agentskills.io" TargetMode="External"/><Relationship Id="rId5" Type="http://schemas.openxmlformats.org/officeDocument/2006/relationships/hyperlink" Target="https://agents.md" TargetMode="External"/><Relationship Id="rId6" Type="http://schemas.openxmlformats.org/officeDocument/2006/relationships/hyperlink" Target="https://github.com/mattpocock/skills" TargetMode="External"/><Relationship Id="rId7" Type="http://schemas.openxmlformats.org/officeDocument/2006/relationships/hyperlink" Target="https://github.com/obra/superpowers" TargetMode="External"/><Relationship Id="rId8" Type="http://schemas.openxmlformats.org/officeDocument/2006/relationships/hyperlink" Target="https://github.com/anthropics/skills" TargetMode="External"/><Relationship Id="rId9" Type="http://schemas.openxmlformats.org/officeDocument/2006/relationships/hyperlink" Target="https://aihero.dev/ai-coding-dictionary/smart-zone" TargetMode="External"/><Relationship Id="rId10" Type="http://schemas.openxmlformats.org/officeDocument/2006/relationships/hyperlink" Target="https://youtube.com/watch?v=rmvDxxNubIg" TargetMode="External"/><Relationship Id="rId11" Type="http://schemas.openxmlformats.org/officeDocument/2006/relationships/slideLayout" Target="../slideLayouts/slideLayout2.xml"/><Relationship Id="rId1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A"/>
        </a:solidFill>
      </p:bgPr>
    </p:bg>
    <p:spTree>
      <p:nvGrpSpPr>
        <p:cNvPr id="1" name=""/>
        <p:cNvGrpSpPr/>
        <p:nvPr/>
      </p:nvGrpSpPr>
      <p:grpSpPr>
        <a:xfrm>
          <a:off x="0" y="0"/>
          <a:ext cx="0" cy="0"/>
          <a:chOff x="0" y="0"/>
          <a:chExt cx="0" cy="0"/>
        </a:xfrm>
      </p:grpSpPr>
      <p:sp>
        <p:nvSpPr>
          <p:cNvPr id="10" name="Text 0"/>
          <p:cNvSpPr/>
          <p:nvPr/>
        </p:nvSpPr>
        <p:spPr>
          <a:xfrm>
            <a:off x="812880" y="2163960"/>
            <a:ext cx="63309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E8823A"/>
                </a:solidFill>
                <a:effectLst/>
                <a:uFillTx/>
                <a:latin typeface="Space Grotesk"/>
                <a:ea typeface="Space Grotesk"/>
              </a:rPr>
              <a:t>INTERNAL PRESENTATION · </a:t>
            </a:r>
            <a:r>
              <a:rPr lang="en-US" sz="1200" b="1" u="none" spc="150" strike="noStrike">
                <a:solidFill>
                  <a:srgbClr val="E8823A"/>
                </a:solidFill>
                <a:effectLst/>
                <a:uFillTx/>
                <a:latin typeface="Space Grotesk"/>
                <a:ea typeface="Space Grotesk"/>
              </a:rPr>
              <a:t>OCTOBER 2026</a:t>
            </a:r>
            <a:endParaRPr lang="en-US" sz="1200" b="0" u="none" strike="noStrike">
              <a:solidFill>
                <a:srgbClr val="FFFFFF"/>
              </a:solidFill>
              <a:effectLst/>
              <a:uFillTx/>
              <a:latin typeface="Arial"/>
            </a:endParaRPr>
          </a:p>
        </p:txBody>
      </p:sp>
      <p:sp>
        <p:nvSpPr>
          <p:cNvPr id="11" name="PlaceHolder 1"/>
          <p:cNvSpPr>
            <a:spLocks noGrp="1"/>
          </p:cNvSpPr>
          <p:nvPr>
            <p:ph type="title"/>
          </p:nvPr>
        </p:nvSpPr>
        <p:spPr>
          <a:xfrm>
            <a:off x="812880" y="2580480"/>
            <a:ext cx="6330960" cy="1366200"/>
          </a:xfrm>
          <a:prstGeom prst="rect">
            <a:avLst/>
          </a:prstGeom>
          <a:noFill/>
          <a:ln w="0">
            <a:noFill/>
          </a:ln>
        </p:spPr>
        <p:txBody>
          <a:bodyPr lIns="0" tIns="0" rIns="0" bIns="0" anchor="t">
            <a:normAutofit/>
          </a:bodyPr>
          <a:p>
            <a:pPr indent="0" algn="l" defTabSz="914400">
              <a:lnSpc>
                <a:spcPts val="5281"/>
              </a:lnSpc>
              <a:buNone/>
              <a:tabLst>
                <a:tab pos="0" algn="l"/>
              </a:tabLst>
            </a:pPr>
            <a:r>
              <a:rPr lang="en-US" sz="4800" b="1" u="none" strike="noStrike">
                <a:solidFill>
                  <a:srgbClr val="F5F2EA"/>
                </a:solidFill>
                <a:effectLst/>
                <a:uFillTx/>
                <a:latin typeface="Space Grotesk"/>
                <a:ea typeface="Space Grotesk"/>
              </a:rPr>
              <a:t>Working with AI agents in GitHub Copilot</a:t>
            </a:r>
            <a:endParaRPr lang="en-US" sz="4800" b="0" u="none" strike="noStrike">
              <a:solidFill>
                <a:schemeClr val="dk1"/>
              </a:solidFill>
              <a:effectLst/>
              <a:uFillTx/>
              <a:latin typeface="IBM Plex Sans"/>
            </a:endParaRPr>
          </a:p>
        </p:txBody>
      </p:sp>
      <p:sp>
        <p:nvSpPr>
          <p:cNvPr id="12" name="Text 2"/>
          <p:cNvSpPr/>
          <p:nvPr/>
        </p:nvSpPr>
        <p:spPr>
          <a:xfrm>
            <a:off x="812880" y="4124880"/>
            <a:ext cx="6330960" cy="59400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C3CCDB"/>
                </a:solidFill>
                <a:effectLst/>
                <a:uFillTx/>
                <a:latin typeface="IBM Plex Sans"/>
                <a:ea typeface="IBM Plex Sans"/>
              </a:rPr>
              <a:t>Models, modes, AGENTS.md, skills, hooks — and how to keep the agent in the “smart zone” without burning tokens.</a:t>
            </a:r>
            <a:endParaRPr lang="en-US" sz="1600" b="0" u="none" strike="noStrike">
              <a:solidFill>
                <a:srgbClr val="FFFFFF"/>
              </a:solidFill>
              <a:effectLst/>
              <a:uFillTx/>
              <a:latin typeface="Arial"/>
            </a:endParaRPr>
          </a:p>
        </p:txBody>
      </p:sp>
      <p:sp>
        <p:nvSpPr>
          <p:cNvPr id="13" name="Text 3"/>
          <p:cNvSpPr/>
          <p:nvPr/>
        </p:nvSpPr>
        <p:spPr>
          <a:xfrm>
            <a:off x="7569360" y="2452680"/>
            <a:ext cx="3809520" cy="1952640"/>
          </a:xfrm>
          <a:prstGeom prst="roundRect">
            <a:avLst>
              <a:gd name="adj" fmla="val 5203"/>
            </a:avLst>
          </a:prstGeom>
          <a:solidFill>
            <a:srgbClr val="131A2A"/>
          </a:solidFill>
          <a:ln w="0">
            <a:noFill/>
          </a:ln>
        </p:spPr>
        <p:style>
          <a:lnRef idx="0"/>
          <a:fillRef idx="0"/>
          <a:effectRef idx="0"/>
          <a:fontRef idx="minor"/>
        </p:style>
        <p:txBody>
          <a:bodyPr wrap="none" lIns="173520" tIns="173520" rIns="71280" bIns="14796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 copilot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&gt; /grill-me add CSV export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Question 1: only the filtered</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rows or the whole set?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I recommend: only filtered.</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&gt; /context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34% · smart zone</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AGENDA</a:t>
            </a:r>
            <a:endParaRPr lang="en-US" sz="1200" b="0" u="none" strike="noStrike">
              <a:solidFill>
                <a:srgbClr val="000000"/>
              </a:solidFill>
              <a:effectLst/>
              <a:uFillTx/>
              <a:latin typeface="Arial"/>
            </a:endParaRPr>
          </a:p>
        </p:txBody>
      </p:sp>
      <p:sp>
        <p:nvSpPr>
          <p:cNvPr id="1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What we cover today</a:t>
            </a:r>
            <a:endParaRPr lang="en-US" sz="3000" b="0" u="none" strike="noStrike">
              <a:solidFill>
                <a:schemeClr val="dk1"/>
              </a:solidFill>
              <a:effectLst/>
              <a:uFillTx/>
              <a:latin typeface="IBM Plex Sans"/>
            </a:endParaRPr>
          </a:p>
        </p:txBody>
      </p:sp>
      <p:sp>
        <p:nvSpPr>
          <p:cNvPr id="16" name="Shape 2"/>
          <p:cNvSpPr/>
          <p:nvPr/>
        </p:nvSpPr>
        <p:spPr>
          <a:xfrm>
            <a:off x="81252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 name="Text 3"/>
          <p:cNvSpPr/>
          <p:nvPr/>
        </p:nvSpPr>
        <p:spPr>
          <a:xfrm>
            <a:off x="812880" y="184428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01</a:t>
            </a:r>
            <a:endParaRPr lang="en-US" sz="1400" b="0" u="none" strike="noStrike">
              <a:solidFill>
                <a:srgbClr val="000000"/>
              </a:solidFill>
              <a:effectLst/>
              <a:uFillTx/>
              <a:latin typeface="Arial"/>
            </a:endParaRPr>
          </a:p>
        </p:txBody>
      </p:sp>
      <p:sp>
        <p:nvSpPr>
          <p:cNvPr id="18" name="Text 4"/>
          <p:cNvSpPr/>
          <p:nvPr/>
        </p:nvSpPr>
        <p:spPr>
          <a:xfrm>
            <a:off x="1270080" y="1838880"/>
            <a:ext cx="2540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Models: Claude, GPT, Grok</a:t>
            </a:r>
            <a:endParaRPr lang="en-US" sz="1400" b="0" u="none" strike="noStrike">
              <a:solidFill>
                <a:srgbClr val="000000"/>
              </a:solidFill>
              <a:effectLst/>
              <a:uFillTx/>
              <a:latin typeface="Arial"/>
            </a:endParaRPr>
          </a:p>
        </p:txBody>
      </p:sp>
      <p:sp>
        <p:nvSpPr>
          <p:cNvPr id="19" name="Shape 5"/>
          <p:cNvSpPr/>
          <p:nvPr/>
        </p:nvSpPr>
        <p:spPr>
          <a:xfrm>
            <a:off x="81252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 name="Text 6"/>
          <p:cNvSpPr/>
          <p:nvPr/>
        </p:nvSpPr>
        <p:spPr>
          <a:xfrm>
            <a:off x="812880" y="22813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02</a:t>
            </a:r>
            <a:endParaRPr lang="en-US" sz="1400" b="0" u="none" strike="noStrike">
              <a:solidFill>
                <a:srgbClr val="000000"/>
              </a:solidFill>
              <a:effectLst/>
              <a:uFillTx/>
              <a:latin typeface="Arial"/>
            </a:endParaRPr>
          </a:p>
        </p:txBody>
      </p:sp>
      <p:sp>
        <p:nvSpPr>
          <p:cNvPr id="21" name="Text 7"/>
          <p:cNvSpPr/>
          <p:nvPr/>
        </p:nvSpPr>
        <p:spPr>
          <a:xfrm>
            <a:off x="1270080" y="2276280"/>
            <a:ext cx="19558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Plan vs Agent vs Ask</a:t>
            </a:r>
            <a:endParaRPr lang="en-US" sz="1400" b="0" u="none" strike="noStrike">
              <a:solidFill>
                <a:srgbClr val="000000"/>
              </a:solidFill>
              <a:effectLst/>
              <a:uFillTx/>
              <a:latin typeface="Arial"/>
            </a:endParaRPr>
          </a:p>
        </p:txBody>
      </p:sp>
      <p:sp>
        <p:nvSpPr>
          <p:cNvPr id="22" name="Shape 8"/>
          <p:cNvSpPr/>
          <p:nvPr/>
        </p:nvSpPr>
        <p:spPr>
          <a:xfrm>
            <a:off x="81252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 name="Text 9"/>
          <p:cNvSpPr/>
          <p:nvPr/>
        </p:nvSpPr>
        <p:spPr>
          <a:xfrm>
            <a:off x="812880" y="27187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03</a:t>
            </a:r>
            <a:endParaRPr lang="en-US" sz="1400" b="0" u="none" strike="noStrike">
              <a:solidFill>
                <a:srgbClr val="000000"/>
              </a:solidFill>
              <a:effectLst/>
              <a:uFillTx/>
              <a:latin typeface="Arial"/>
            </a:endParaRPr>
          </a:p>
        </p:txBody>
      </p:sp>
      <p:sp>
        <p:nvSpPr>
          <p:cNvPr id="24" name="Text 10"/>
          <p:cNvSpPr/>
          <p:nvPr/>
        </p:nvSpPr>
        <p:spPr>
          <a:xfrm>
            <a:off x="1270080" y="2713320"/>
            <a:ext cx="25023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Harness: Local, CLI, Cloud</a:t>
            </a:r>
            <a:endParaRPr lang="en-US" sz="1400" b="0" u="none" strike="noStrike">
              <a:solidFill>
                <a:srgbClr val="000000"/>
              </a:solidFill>
              <a:effectLst/>
              <a:uFillTx/>
              <a:latin typeface="Arial"/>
            </a:endParaRPr>
          </a:p>
        </p:txBody>
      </p:sp>
      <p:sp>
        <p:nvSpPr>
          <p:cNvPr id="25" name="Shape 11"/>
          <p:cNvSpPr/>
          <p:nvPr/>
        </p:nvSpPr>
        <p:spPr>
          <a:xfrm>
            <a:off x="81252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 name="Text 12"/>
          <p:cNvSpPr/>
          <p:nvPr/>
        </p:nvSpPr>
        <p:spPr>
          <a:xfrm>
            <a:off x="812880" y="31561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04</a:t>
            </a:r>
            <a:endParaRPr lang="en-US" sz="1400" b="0" u="none" strike="noStrike">
              <a:solidFill>
                <a:srgbClr val="000000"/>
              </a:solidFill>
              <a:effectLst/>
              <a:uFillTx/>
              <a:latin typeface="Arial"/>
            </a:endParaRPr>
          </a:p>
        </p:txBody>
      </p:sp>
      <p:sp>
        <p:nvSpPr>
          <p:cNvPr id="27" name="Text 13"/>
          <p:cNvSpPr/>
          <p:nvPr/>
        </p:nvSpPr>
        <p:spPr>
          <a:xfrm>
            <a:off x="1270080" y="3150720"/>
            <a:ext cx="24379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AGENTS.md hierarchy</a:t>
            </a:r>
            <a:endParaRPr lang="en-US" sz="1400" b="0" u="none" strike="noStrike">
              <a:solidFill>
                <a:srgbClr val="000000"/>
              </a:solidFill>
              <a:effectLst/>
              <a:uFillTx/>
              <a:latin typeface="Arial"/>
            </a:endParaRPr>
          </a:p>
        </p:txBody>
      </p:sp>
      <p:sp>
        <p:nvSpPr>
          <p:cNvPr id="28" name="Shape 14"/>
          <p:cNvSpPr/>
          <p:nvPr/>
        </p:nvSpPr>
        <p:spPr>
          <a:xfrm>
            <a:off x="81252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 name="Text 15"/>
          <p:cNvSpPr/>
          <p:nvPr/>
        </p:nvSpPr>
        <p:spPr>
          <a:xfrm>
            <a:off x="812880" y="35931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05</a:t>
            </a:r>
            <a:endParaRPr lang="en-US" sz="1400" b="0" u="none" strike="noStrike">
              <a:solidFill>
                <a:srgbClr val="000000"/>
              </a:solidFill>
              <a:effectLst/>
              <a:uFillTx/>
              <a:latin typeface="Arial"/>
            </a:endParaRPr>
          </a:p>
        </p:txBody>
      </p:sp>
      <p:sp>
        <p:nvSpPr>
          <p:cNvPr id="30" name="Text 16"/>
          <p:cNvSpPr/>
          <p:nvPr/>
        </p:nvSpPr>
        <p:spPr>
          <a:xfrm>
            <a:off x="1270080" y="3587760"/>
            <a:ext cx="19875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What tools agents have</a:t>
            </a:r>
            <a:endParaRPr lang="en-US" sz="1400" b="0" u="none" strike="noStrike">
              <a:solidFill>
                <a:srgbClr val="000000"/>
              </a:solidFill>
              <a:effectLst/>
              <a:uFillTx/>
              <a:latin typeface="Arial"/>
            </a:endParaRPr>
          </a:p>
        </p:txBody>
      </p:sp>
      <p:sp>
        <p:nvSpPr>
          <p:cNvPr id="31" name="Shape 17"/>
          <p:cNvSpPr/>
          <p:nvPr/>
        </p:nvSpPr>
        <p:spPr>
          <a:xfrm>
            <a:off x="81252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2" name="Text 18"/>
          <p:cNvSpPr/>
          <p:nvPr/>
        </p:nvSpPr>
        <p:spPr>
          <a:xfrm>
            <a:off x="812880" y="40305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06</a:t>
            </a:r>
            <a:endParaRPr lang="en-US" sz="1400" b="0" u="none" strike="noStrike">
              <a:solidFill>
                <a:srgbClr val="000000"/>
              </a:solidFill>
              <a:effectLst/>
              <a:uFillTx/>
              <a:latin typeface="Arial"/>
            </a:endParaRPr>
          </a:p>
        </p:txBody>
      </p:sp>
      <p:sp>
        <p:nvSpPr>
          <p:cNvPr id="33" name="Text 19"/>
          <p:cNvSpPr/>
          <p:nvPr/>
        </p:nvSpPr>
        <p:spPr>
          <a:xfrm>
            <a:off x="1270080" y="4025160"/>
            <a:ext cx="5083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Skills</a:t>
            </a:r>
            <a:endParaRPr lang="en-US" sz="1400" b="0" u="none" strike="noStrike">
              <a:solidFill>
                <a:srgbClr val="000000"/>
              </a:solidFill>
              <a:effectLst/>
              <a:uFillTx/>
              <a:latin typeface="Arial"/>
            </a:endParaRPr>
          </a:p>
        </p:txBody>
      </p:sp>
      <p:sp>
        <p:nvSpPr>
          <p:cNvPr id="34" name="Shape 20"/>
          <p:cNvSpPr/>
          <p:nvPr/>
        </p:nvSpPr>
        <p:spPr>
          <a:xfrm>
            <a:off x="812520" y="47822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5" name="Text 21"/>
          <p:cNvSpPr/>
          <p:nvPr/>
        </p:nvSpPr>
        <p:spPr>
          <a:xfrm>
            <a:off x="812880" y="446760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07</a:t>
            </a:r>
            <a:endParaRPr lang="en-US" sz="1400" b="0" u="none" strike="noStrike">
              <a:solidFill>
                <a:srgbClr val="000000"/>
              </a:solidFill>
              <a:effectLst/>
              <a:uFillTx/>
              <a:latin typeface="Arial"/>
            </a:endParaRPr>
          </a:p>
        </p:txBody>
      </p:sp>
      <p:sp>
        <p:nvSpPr>
          <p:cNvPr id="36" name="Text 22"/>
          <p:cNvSpPr/>
          <p:nvPr/>
        </p:nvSpPr>
        <p:spPr>
          <a:xfrm>
            <a:off x="1270080" y="4462560"/>
            <a:ext cx="3824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Popular skills: Pocock, Superpowers</a:t>
            </a:r>
            <a:endParaRPr lang="en-US" sz="1400" b="0" u="none" strike="noStrike">
              <a:solidFill>
                <a:srgbClr val="000000"/>
              </a:solidFill>
              <a:effectLst/>
              <a:uFillTx/>
              <a:latin typeface="Arial"/>
            </a:endParaRPr>
          </a:p>
        </p:txBody>
      </p:sp>
      <p:sp>
        <p:nvSpPr>
          <p:cNvPr id="37" name="Shape 23"/>
          <p:cNvSpPr/>
          <p:nvPr/>
        </p:nvSpPr>
        <p:spPr>
          <a:xfrm>
            <a:off x="640044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 name="Text 24"/>
          <p:cNvSpPr/>
          <p:nvPr/>
        </p:nvSpPr>
        <p:spPr>
          <a:xfrm>
            <a:off x="6400800" y="184428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08</a:t>
            </a:r>
            <a:endParaRPr lang="en-US" sz="1400" b="0" u="none" strike="noStrike">
              <a:solidFill>
                <a:srgbClr val="000000"/>
              </a:solidFill>
              <a:effectLst/>
              <a:uFillTx/>
              <a:latin typeface="Arial"/>
            </a:endParaRPr>
          </a:p>
        </p:txBody>
      </p:sp>
      <p:sp>
        <p:nvSpPr>
          <p:cNvPr id="39" name="Text 25"/>
          <p:cNvSpPr/>
          <p:nvPr/>
        </p:nvSpPr>
        <p:spPr>
          <a:xfrm>
            <a:off x="6858000" y="1838880"/>
            <a:ext cx="33303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Custom skills: </a:t>
            </a:r>
            <a:r>
              <a:rPr lang="en-US" sz="1400" b="0" u="none" strike="noStrike">
                <a:solidFill>
                  <a:srgbClr val="131A2A"/>
                </a:solidFill>
                <a:effectLst/>
                <a:uFillTx/>
                <a:latin typeface="IBM Plex Sans"/>
                <a:ea typeface="IBM Plex Sans"/>
              </a:rPr>
              <a:t>“Make this a skill”</a:t>
            </a:r>
            <a:endParaRPr lang="en-US" sz="1400" b="0" u="none" strike="noStrike">
              <a:solidFill>
                <a:srgbClr val="000000"/>
              </a:solidFill>
              <a:effectLst/>
              <a:uFillTx/>
              <a:latin typeface="Arial"/>
            </a:endParaRPr>
          </a:p>
        </p:txBody>
      </p:sp>
      <p:sp>
        <p:nvSpPr>
          <p:cNvPr id="40" name="Shape 26"/>
          <p:cNvSpPr/>
          <p:nvPr/>
        </p:nvSpPr>
        <p:spPr>
          <a:xfrm>
            <a:off x="640044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1" name="Text 27"/>
          <p:cNvSpPr/>
          <p:nvPr/>
        </p:nvSpPr>
        <p:spPr>
          <a:xfrm>
            <a:off x="6400800" y="22813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09</a:t>
            </a:r>
            <a:endParaRPr lang="en-US" sz="1400" b="0" u="none" strike="noStrike">
              <a:solidFill>
                <a:srgbClr val="000000"/>
              </a:solidFill>
              <a:effectLst/>
              <a:uFillTx/>
              <a:latin typeface="Arial"/>
            </a:endParaRPr>
          </a:p>
        </p:txBody>
      </p:sp>
      <p:sp>
        <p:nvSpPr>
          <p:cNvPr id="42" name="Text 28"/>
          <p:cNvSpPr/>
          <p:nvPr/>
        </p:nvSpPr>
        <p:spPr>
          <a:xfrm>
            <a:off x="6858000" y="2276280"/>
            <a:ext cx="6037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Hooks</a:t>
            </a:r>
            <a:endParaRPr lang="en-US" sz="1400" b="0" u="none" strike="noStrike">
              <a:solidFill>
                <a:srgbClr val="000000"/>
              </a:solidFill>
              <a:effectLst/>
              <a:uFillTx/>
              <a:latin typeface="Arial"/>
            </a:endParaRPr>
          </a:p>
        </p:txBody>
      </p:sp>
      <p:sp>
        <p:nvSpPr>
          <p:cNvPr id="43" name="Shape 29"/>
          <p:cNvSpPr/>
          <p:nvPr/>
        </p:nvSpPr>
        <p:spPr>
          <a:xfrm>
            <a:off x="640044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 name="Text 30"/>
          <p:cNvSpPr/>
          <p:nvPr/>
        </p:nvSpPr>
        <p:spPr>
          <a:xfrm>
            <a:off x="6400800" y="27187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10</a:t>
            </a:r>
            <a:endParaRPr lang="en-US" sz="1400" b="0" u="none" strike="noStrike">
              <a:solidFill>
                <a:srgbClr val="000000"/>
              </a:solidFill>
              <a:effectLst/>
              <a:uFillTx/>
              <a:latin typeface="Arial"/>
            </a:endParaRPr>
          </a:p>
        </p:txBody>
      </p:sp>
      <p:sp>
        <p:nvSpPr>
          <p:cNvPr id="45" name="Text 31"/>
          <p:cNvSpPr/>
          <p:nvPr/>
        </p:nvSpPr>
        <p:spPr>
          <a:xfrm>
            <a:off x="6858000" y="2713320"/>
            <a:ext cx="151740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Other useful tools</a:t>
            </a:r>
            <a:endParaRPr lang="en-US" sz="1400" b="0" u="none" strike="noStrike">
              <a:solidFill>
                <a:srgbClr val="000000"/>
              </a:solidFill>
              <a:effectLst/>
              <a:uFillTx/>
              <a:latin typeface="Arial"/>
            </a:endParaRPr>
          </a:p>
        </p:txBody>
      </p:sp>
      <p:sp>
        <p:nvSpPr>
          <p:cNvPr id="46" name="Shape 32"/>
          <p:cNvSpPr/>
          <p:nvPr/>
        </p:nvSpPr>
        <p:spPr>
          <a:xfrm>
            <a:off x="640044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7" name="Text 33"/>
          <p:cNvSpPr/>
          <p:nvPr/>
        </p:nvSpPr>
        <p:spPr>
          <a:xfrm>
            <a:off x="6400800" y="315612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11</a:t>
            </a:r>
            <a:endParaRPr lang="en-US" sz="1400" b="0" u="none" strike="noStrike">
              <a:solidFill>
                <a:srgbClr val="000000"/>
              </a:solidFill>
              <a:effectLst/>
              <a:uFillTx/>
              <a:latin typeface="Arial"/>
            </a:endParaRPr>
          </a:p>
        </p:txBody>
      </p:sp>
      <p:sp>
        <p:nvSpPr>
          <p:cNvPr id="48" name="Text 34"/>
          <p:cNvSpPr/>
          <p:nvPr/>
        </p:nvSpPr>
        <p:spPr>
          <a:xfrm>
            <a:off x="6858000" y="3150720"/>
            <a:ext cx="15415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Tokens and costs</a:t>
            </a:r>
            <a:endParaRPr lang="en-US" sz="1400" b="0" u="none" strike="noStrike">
              <a:solidFill>
                <a:srgbClr val="000000"/>
              </a:solidFill>
              <a:effectLst/>
              <a:uFillTx/>
              <a:latin typeface="Arial"/>
            </a:endParaRPr>
          </a:p>
        </p:txBody>
      </p:sp>
      <p:sp>
        <p:nvSpPr>
          <p:cNvPr id="49" name="Shape 35"/>
          <p:cNvSpPr/>
          <p:nvPr/>
        </p:nvSpPr>
        <p:spPr>
          <a:xfrm>
            <a:off x="640044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0" name="Text 36"/>
          <p:cNvSpPr/>
          <p:nvPr/>
        </p:nvSpPr>
        <p:spPr>
          <a:xfrm>
            <a:off x="6400800" y="35931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12</a:t>
            </a:r>
            <a:endParaRPr lang="en-US" sz="1400" b="0" u="none" strike="noStrike">
              <a:solidFill>
                <a:srgbClr val="000000"/>
              </a:solidFill>
              <a:effectLst/>
              <a:uFillTx/>
              <a:latin typeface="Arial"/>
            </a:endParaRPr>
          </a:p>
        </p:txBody>
      </p:sp>
      <p:sp>
        <p:nvSpPr>
          <p:cNvPr id="51" name="Text 37"/>
          <p:cNvSpPr/>
          <p:nvPr/>
        </p:nvSpPr>
        <p:spPr>
          <a:xfrm>
            <a:off x="6858000" y="3587760"/>
            <a:ext cx="32900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Context: smart zone vs dumb zone</a:t>
            </a:r>
            <a:endParaRPr lang="en-US" sz="1400" b="0" u="none" strike="noStrike">
              <a:solidFill>
                <a:srgbClr val="000000"/>
              </a:solidFill>
              <a:effectLst/>
              <a:uFillTx/>
              <a:latin typeface="Arial"/>
            </a:endParaRPr>
          </a:p>
        </p:txBody>
      </p:sp>
      <p:sp>
        <p:nvSpPr>
          <p:cNvPr id="52" name="Shape 38"/>
          <p:cNvSpPr/>
          <p:nvPr/>
        </p:nvSpPr>
        <p:spPr>
          <a:xfrm>
            <a:off x="640044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3" name="Text 39"/>
          <p:cNvSpPr/>
          <p:nvPr/>
        </p:nvSpPr>
        <p:spPr>
          <a:xfrm>
            <a:off x="6400800" y="403056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13</a:t>
            </a:r>
            <a:endParaRPr lang="en-US" sz="1400" b="0" u="none" strike="noStrike">
              <a:solidFill>
                <a:srgbClr val="000000"/>
              </a:solidFill>
              <a:effectLst/>
              <a:uFillTx/>
              <a:latin typeface="Arial"/>
            </a:endParaRPr>
          </a:p>
        </p:txBody>
      </p:sp>
      <p:sp>
        <p:nvSpPr>
          <p:cNvPr id="54" name="Text 40"/>
          <p:cNvSpPr/>
          <p:nvPr/>
        </p:nvSpPr>
        <p:spPr>
          <a:xfrm>
            <a:off x="6858000" y="4025160"/>
            <a:ext cx="33868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How to save context and tokens</a:t>
            </a:r>
            <a:endParaRPr lang="en-US" sz="1400" b="0" u="none" strike="noStrike">
              <a:solidFill>
                <a:srgbClr val="000000"/>
              </a:solidFill>
              <a:effectLst/>
              <a:uFillTx/>
              <a:latin typeface="Arial"/>
            </a:endParaRPr>
          </a:p>
        </p:txBody>
      </p:sp>
      <p:sp>
        <p:nvSpPr>
          <p:cNvPr id="55" name="Shape 41"/>
          <p:cNvSpPr/>
          <p:nvPr/>
        </p:nvSpPr>
        <p:spPr>
          <a:xfrm>
            <a:off x="6400440" y="47822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6" name="Text 42"/>
          <p:cNvSpPr/>
          <p:nvPr/>
        </p:nvSpPr>
        <p:spPr>
          <a:xfrm>
            <a:off x="6400800" y="4467600"/>
            <a:ext cx="4060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A84F17"/>
                </a:solidFill>
                <a:effectLst/>
                <a:uFillTx/>
                <a:latin typeface="Space Grotesk"/>
                <a:ea typeface="Space Grotesk"/>
              </a:rPr>
              <a:t>14</a:t>
            </a:r>
            <a:endParaRPr lang="en-US" sz="1400" b="0" u="none" strike="noStrike">
              <a:solidFill>
                <a:srgbClr val="000000"/>
              </a:solidFill>
              <a:effectLst/>
              <a:uFillTx/>
              <a:latin typeface="Arial"/>
            </a:endParaRPr>
          </a:p>
        </p:txBody>
      </p:sp>
      <p:sp>
        <p:nvSpPr>
          <p:cNvPr id="57" name="Text 43"/>
          <p:cNvSpPr/>
          <p:nvPr/>
        </p:nvSpPr>
        <p:spPr>
          <a:xfrm>
            <a:off x="6858000" y="4462560"/>
            <a:ext cx="19623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Bonus: best practices</a:t>
            </a:r>
            <a:endParaRPr lang="en-US" sz="1400" b="0" u="none" strike="noStrike">
              <a:solidFill>
                <a:srgbClr val="000000"/>
              </a:solidFill>
              <a:effectLst/>
              <a:uFillTx/>
              <a:latin typeface="Arial"/>
            </a:endParaRPr>
          </a:p>
        </p:txBody>
      </p:sp>
      <p:sp>
        <p:nvSpPr>
          <p:cNvPr id="58" name="Text 44"/>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59" name="Text 45"/>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02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5"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01 · MODELS</a:t>
            </a:r>
            <a:endParaRPr lang="en-US" sz="1200" b="0" u="none" strike="noStrike">
              <a:solidFill>
                <a:srgbClr val="000000"/>
              </a:solidFill>
              <a:effectLst/>
              <a:uFillTx/>
              <a:latin typeface="Arial"/>
            </a:endParaRPr>
          </a:p>
        </p:txBody>
      </p:sp>
      <p:sp>
        <p:nvSpPr>
          <p:cNvPr id="76"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Which model for which task</a:t>
            </a:r>
            <a:endParaRPr lang="en-US" sz="3000" b="0" u="none" strike="noStrike">
              <a:solidFill>
                <a:schemeClr val="dk1"/>
              </a:solidFill>
              <a:effectLst/>
              <a:uFillTx/>
              <a:latin typeface="IBM Plex Sans"/>
            </a:endParaRPr>
          </a:p>
        </p:txBody>
      </p:sp>
      <p:sp>
        <p:nvSpPr>
          <p:cNvPr id="77" name="Shape 2"/>
          <p:cNvSpPr/>
          <p:nvPr/>
        </p:nvSpPr>
        <p:spPr>
          <a:xfrm>
            <a:off x="816120" y="1778400"/>
            <a:ext cx="3413880" cy="191376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8" name="Image 0" descr="Lightning"/>
          <p:cNvPicPr/>
          <p:nvPr/>
        </p:nvPicPr>
        <p:blipFill>
          <a:blip r:embed="rId1"/>
          <a:stretch/>
        </p:blipFill>
        <p:spPr>
          <a:xfrm>
            <a:off x="1021320" y="1983960"/>
            <a:ext cx="228240" cy="228240"/>
          </a:xfrm>
          <a:prstGeom prst="rect">
            <a:avLst/>
          </a:prstGeom>
          <a:noFill/>
          <a:ln w="0">
            <a:noFill/>
          </a:ln>
        </p:spPr>
      </p:pic>
      <p:sp>
        <p:nvSpPr>
          <p:cNvPr id="79" name="Text 3"/>
          <p:cNvSpPr/>
          <p:nvPr/>
        </p:nvSpPr>
        <p:spPr>
          <a:xfrm>
            <a:off x="1325880" y="1991520"/>
            <a:ext cx="21067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IBM Plex Sans"/>
                <a:ea typeface="IBM Plex Sans"/>
              </a:rPr>
              <a:t>Haiku 4.5 · GPT-5.6 Luna</a:t>
            </a:r>
            <a:endParaRPr lang="en-US" sz="1200" b="0" u="none" strike="noStrike">
              <a:solidFill>
                <a:srgbClr val="000000"/>
              </a:solidFill>
              <a:effectLst/>
              <a:uFillTx/>
              <a:latin typeface="Arial"/>
            </a:endParaRPr>
          </a:p>
        </p:txBody>
      </p:sp>
      <p:sp>
        <p:nvSpPr>
          <p:cNvPr id="80" name="Text 4"/>
          <p:cNvSpPr/>
          <p:nvPr/>
        </p:nvSpPr>
        <p:spPr>
          <a:xfrm>
            <a:off x="1021320" y="2301120"/>
            <a:ext cx="3093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Fast &amp; cheap</a:t>
            </a:r>
            <a:endParaRPr lang="en-US" sz="1600" b="0" u="none" strike="noStrike">
              <a:solidFill>
                <a:srgbClr val="000000"/>
              </a:solidFill>
              <a:effectLst/>
              <a:uFillTx/>
              <a:latin typeface="Arial"/>
            </a:endParaRPr>
          </a:p>
        </p:txBody>
      </p:sp>
      <p:sp>
        <p:nvSpPr>
          <p:cNvPr id="81" name="Text 5"/>
          <p:cNvSpPr/>
          <p:nvPr/>
        </p:nvSpPr>
        <p:spPr>
          <a:xfrm>
            <a:off x="1119960" y="2634120"/>
            <a:ext cx="298692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Renames, formatting, boilerplate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Explain an error or a function</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Generate test data</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Subagents that explore the code</a:t>
            </a:r>
            <a:endParaRPr lang="en-US" sz="1200" b="0" u="none" strike="noStrike">
              <a:solidFill>
                <a:srgbClr val="000000"/>
              </a:solidFill>
              <a:effectLst/>
              <a:uFillTx/>
              <a:latin typeface="Arial"/>
            </a:endParaRPr>
          </a:p>
        </p:txBody>
      </p:sp>
      <p:sp>
        <p:nvSpPr>
          <p:cNvPr id="82" name="Shape 6"/>
          <p:cNvSpPr/>
          <p:nvPr/>
        </p:nvSpPr>
        <p:spPr>
          <a:xfrm>
            <a:off x="4388760" y="1743840"/>
            <a:ext cx="3413880" cy="191376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3" name="Image 1" descr="Tool"/>
          <p:cNvPicPr/>
          <p:nvPr/>
        </p:nvPicPr>
        <p:blipFill>
          <a:blip r:embed="rId2"/>
          <a:stretch/>
        </p:blipFill>
        <p:spPr>
          <a:xfrm>
            <a:off x="4594320" y="1983960"/>
            <a:ext cx="228240" cy="228240"/>
          </a:xfrm>
          <a:prstGeom prst="rect">
            <a:avLst/>
          </a:prstGeom>
          <a:noFill/>
          <a:ln w="0">
            <a:noFill/>
          </a:ln>
        </p:spPr>
      </p:pic>
      <p:sp>
        <p:nvSpPr>
          <p:cNvPr id="84" name="Text 7"/>
          <p:cNvSpPr/>
          <p:nvPr/>
        </p:nvSpPr>
        <p:spPr>
          <a:xfrm>
            <a:off x="4898880" y="1991520"/>
            <a:ext cx="2900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IBM Plex Sans"/>
                <a:ea typeface="IBM Plex Sans"/>
              </a:rPr>
              <a:t>Sonnet 5.5 · GPT-5.6 Terra · Grok 4.7</a:t>
            </a:r>
            <a:endParaRPr lang="en-US" sz="1200" b="0" u="none" strike="noStrike">
              <a:solidFill>
                <a:srgbClr val="000000"/>
              </a:solidFill>
              <a:effectLst/>
              <a:uFillTx/>
              <a:latin typeface="Arial"/>
            </a:endParaRPr>
          </a:p>
        </p:txBody>
      </p:sp>
      <p:sp>
        <p:nvSpPr>
          <p:cNvPr id="85" name="Text 8"/>
          <p:cNvSpPr/>
          <p:nvPr/>
        </p:nvSpPr>
        <p:spPr>
          <a:xfrm>
            <a:off x="4594320" y="2301120"/>
            <a:ext cx="3093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Balanced</a:t>
            </a:r>
            <a:endParaRPr lang="en-US" sz="1600" b="0" u="none" strike="noStrike">
              <a:solidFill>
                <a:srgbClr val="000000"/>
              </a:solidFill>
              <a:effectLst/>
              <a:uFillTx/>
              <a:latin typeface="Arial"/>
            </a:endParaRPr>
          </a:p>
        </p:txBody>
      </p:sp>
      <p:sp>
        <p:nvSpPr>
          <p:cNvPr id="86" name="Text 9"/>
          <p:cNvSpPr/>
          <p:nvPr/>
        </p:nvSpPr>
        <p:spPr>
          <a:xfrm>
            <a:off x="4692960" y="2634120"/>
            <a:ext cx="298692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Regular features, end to end</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Refactors across a few files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Unit and integration tests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Everyday code review</a:t>
            </a:r>
            <a:endParaRPr lang="en-US" sz="1200" b="0" u="none" strike="noStrike">
              <a:solidFill>
                <a:srgbClr val="000000"/>
              </a:solidFill>
              <a:effectLst/>
              <a:uFillTx/>
              <a:latin typeface="Arial"/>
            </a:endParaRPr>
          </a:p>
        </p:txBody>
      </p:sp>
      <p:sp>
        <p:nvSpPr>
          <p:cNvPr id="87" name="Shape 10"/>
          <p:cNvSpPr/>
          <p:nvPr/>
        </p:nvSpPr>
        <p:spPr>
          <a:xfrm>
            <a:off x="7961760" y="1778400"/>
            <a:ext cx="3413880" cy="191376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8" name="Image 2" descr="Star"/>
          <p:cNvPicPr/>
          <p:nvPr/>
        </p:nvPicPr>
        <p:blipFill>
          <a:blip r:embed="rId3"/>
          <a:stretch/>
        </p:blipFill>
        <p:spPr>
          <a:xfrm>
            <a:off x="8167320" y="1983960"/>
            <a:ext cx="228240" cy="228240"/>
          </a:xfrm>
          <a:prstGeom prst="rect">
            <a:avLst/>
          </a:prstGeom>
          <a:noFill/>
          <a:ln w="0">
            <a:noFill/>
          </a:ln>
        </p:spPr>
      </p:pic>
      <p:sp>
        <p:nvSpPr>
          <p:cNvPr id="89" name="Text 11"/>
          <p:cNvSpPr/>
          <p:nvPr/>
        </p:nvSpPr>
        <p:spPr>
          <a:xfrm>
            <a:off x="8471880" y="1991520"/>
            <a:ext cx="1910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IBM Plex Sans"/>
                <a:ea typeface="IBM Plex Sans"/>
              </a:rPr>
              <a:t>Opus 5.5 · GPT-5.6 Sol</a:t>
            </a:r>
            <a:endParaRPr lang="en-US" sz="1200" b="0" u="none" strike="noStrike">
              <a:solidFill>
                <a:srgbClr val="000000"/>
              </a:solidFill>
              <a:effectLst/>
              <a:uFillTx/>
              <a:latin typeface="Arial"/>
            </a:endParaRPr>
          </a:p>
        </p:txBody>
      </p:sp>
      <p:sp>
        <p:nvSpPr>
          <p:cNvPr id="90" name="Text 12"/>
          <p:cNvSpPr/>
          <p:nvPr/>
        </p:nvSpPr>
        <p:spPr>
          <a:xfrm>
            <a:off x="8167320" y="2301120"/>
            <a:ext cx="3093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Maximum</a:t>
            </a:r>
            <a:endParaRPr lang="en-US" sz="1600" b="0" u="none" strike="noStrike">
              <a:solidFill>
                <a:srgbClr val="000000"/>
              </a:solidFill>
              <a:effectLst/>
              <a:uFillTx/>
              <a:latin typeface="Arial"/>
            </a:endParaRPr>
          </a:p>
        </p:txBody>
      </p:sp>
      <p:sp>
        <p:nvSpPr>
          <p:cNvPr id="91" name="Text 13"/>
          <p:cNvSpPr/>
          <p:nvPr/>
        </p:nvSpPr>
        <p:spPr>
          <a:xfrm>
            <a:off x="8265960" y="2634120"/>
            <a:ext cx="298692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Plans and architecture decisions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Hard bugs, concurrency, perf</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Large, unfamiliar codebase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When the balanced model failed</a:t>
            </a:r>
            <a:endParaRPr lang="en-US" sz="1200" b="0" u="none" strike="noStrike">
              <a:solidFill>
                <a:srgbClr val="000000"/>
              </a:solidFill>
              <a:effectLst/>
              <a:uFillTx/>
              <a:latin typeface="Arial"/>
            </a:endParaRPr>
          </a:p>
        </p:txBody>
      </p:sp>
      <p:sp>
        <p:nvSpPr>
          <p:cNvPr id="92" name="Text 14"/>
          <p:cNvSpPr/>
          <p:nvPr/>
        </p:nvSpPr>
        <p:spPr>
          <a:xfrm>
            <a:off x="812880" y="3949920"/>
            <a:ext cx="10883160" cy="27396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ts val="1959"/>
              </a:lnSpc>
              <a:tabLst>
                <a:tab pos="0" algn="l"/>
              </a:tabLst>
            </a:pPr>
            <a:r>
              <a:rPr lang="en-US" sz="1400" b="1" u="none" strike="noStrike">
                <a:solidFill>
                  <a:srgbClr val="444C5C"/>
                </a:solidFill>
                <a:effectLst/>
                <a:uFillTx/>
                <a:latin typeface="IBM Plex Sans"/>
                <a:ea typeface="IBM Plex Sans"/>
              </a:rPr>
              <a:t>Auto</a:t>
            </a:r>
            <a:r>
              <a:rPr lang="en-US" sz="1400" b="0" u="none" strike="noStrike">
                <a:solidFill>
                  <a:srgbClr val="444C5C"/>
                </a:solidFill>
                <a:effectLst/>
                <a:uFillTx/>
                <a:latin typeface="IBM Plex Sans"/>
                <a:ea typeface="IBM Plex Sans"/>
              </a:rPr>
              <a:t> in the model picker: Copilot picks the model — a good starting point if you don't know what to choose. Downside: you're not guaranteed to get the model you need.</a:t>
            </a:r>
            <a:endParaRPr lang="en-US" sz="1400" b="0" u="none" strike="noStrike">
              <a:solidFill>
                <a:srgbClr val="000000"/>
              </a:solidFill>
              <a:effectLst/>
              <a:uFillTx/>
              <a:latin typeface="Arial"/>
            </a:endParaRPr>
          </a:p>
        </p:txBody>
      </p:sp>
      <p:sp>
        <p:nvSpPr>
          <p:cNvPr id="93" name="Text 1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94" name="Text 1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03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22"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02 · PLAN VS AGENT VS ASK</a:t>
            </a:r>
            <a:endParaRPr lang="en-US" sz="1200" b="0" u="none" strike="noStrike">
              <a:solidFill>
                <a:srgbClr val="000000"/>
              </a:solidFill>
              <a:effectLst/>
              <a:uFillTx/>
              <a:latin typeface="Arial"/>
            </a:endParaRPr>
          </a:p>
        </p:txBody>
      </p:sp>
      <p:sp>
        <p:nvSpPr>
          <p:cNvPr id="123"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Three ways of working</a:t>
            </a:r>
            <a:endParaRPr lang="en-US" sz="3000" b="0" u="none" strike="noStrike">
              <a:solidFill>
                <a:schemeClr val="dk1"/>
              </a:solidFill>
              <a:effectLst/>
              <a:uFillTx/>
              <a:latin typeface="IBM Plex Sans"/>
            </a:endParaRPr>
          </a:p>
        </p:txBody>
      </p:sp>
      <p:sp>
        <p:nvSpPr>
          <p:cNvPr id="124" name="Shape 2"/>
          <p:cNvSpPr/>
          <p:nvPr/>
        </p:nvSpPr>
        <p:spPr>
          <a:xfrm>
            <a:off x="816120" y="1778400"/>
            <a:ext cx="3413880" cy="272124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5" name="Image 0" descr="Chat"/>
          <p:cNvPicPr/>
          <p:nvPr/>
        </p:nvPicPr>
        <p:blipFill>
          <a:blip r:embed="rId1"/>
          <a:stretch/>
        </p:blipFill>
        <p:spPr>
          <a:xfrm>
            <a:off x="1021320" y="1991520"/>
            <a:ext cx="228240" cy="228240"/>
          </a:xfrm>
          <a:prstGeom prst="rect">
            <a:avLst/>
          </a:prstGeom>
          <a:noFill/>
          <a:ln w="0">
            <a:noFill/>
          </a:ln>
        </p:spPr>
      </p:pic>
      <p:sp>
        <p:nvSpPr>
          <p:cNvPr id="126" name="Text 3"/>
          <p:cNvSpPr/>
          <p:nvPr/>
        </p:nvSpPr>
        <p:spPr>
          <a:xfrm>
            <a:off x="1351440" y="1983960"/>
            <a:ext cx="4179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Ask</a:t>
            </a:r>
            <a:endParaRPr lang="en-US" sz="1600" b="0" u="none" strike="noStrike">
              <a:solidFill>
                <a:srgbClr val="000000"/>
              </a:solidFill>
              <a:effectLst/>
              <a:uFillTx/>
              <a:latin typeface="Arial"/>
            </a:endParaRPr>
          </a:p>
        </p:txBody>
      </p:sp>
      <p:sp>
        <p:nvSpPr>
          <p:cNvPr id="127" name="Text 4"/>
          <p:cNvSpPr/>
          <p:nvPr/>
        </p:nvSpPr>
        <p:spPr>
          <a:xfrm>
            <a:off x="1021320" y="2329200"/>
            <a:ext cx="309348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Answers questions about code and errors. Reads only.</a:t>
            </a:r>
            <a:endParaRPr lang="en-US" sz="1400" b="0" u="none" strike="noStrike">
              <a:solidFill>
                <a:srgbClr val="000000"/>
              </a:solidFill>
              <a:effectLst/>
              <a:uFillTx/>
              <a:latin typeface="Arial"/>
            </a:endParaRPr>
          </a:p>
        </p:txBody>
      </p:sp>
      <p:sp>
        <p:nvSpPr>
          <p:cNvPr id="128" name="Text 5"/>
          <p:cNvSpPr/>
          <p:nvPr/>
        </p:nvSpPr>
        <p:spPr>
          <a:xfrm>
            <a:off x="1021320" y="2928600"/>
            <a:ext cx="3003120" cy="273960"/>
          </a:xfrm>
          <a:prstGeom prst="roundRect">
            <a:avLst>
              <a:gd name="adj" fmla="val 50000"/>
            </a:avLst>
          </a:prstGeom>
          <a:solidFill>
            <a:srgbClr val="DCE8F5"/>
          </a:solidFill>
          <a:ln w="0">
            <a:noFill/>
          </a:ln>
        </p:spPr>
        <p:style>
          <a:lnRef idx="0"/>
          <a:fillRef idx="0"/>
          <a:effectRef idx="0"/>
          <a:fontRef idx="minor"/>
        </p:style>
        <p:txBody>
          <a:bodyPr lIns="61560" tIns="0" rIns="0" bIns="0" anchor="t">
            <a:normAutofit/>
          </a:bodyPr>
          <a:p>
            <a:pPr defTabSz="914400">
              <a:lnSpc>
                <a:spcPts val="1559"/>
              </a:lnSpc>
              <a:tabLst>
                <a:tab pos="0" algn="l"/>
              </a:tabLst>
            </a:pPr>
            <a:r>
              <a:rPr lang="en-US" sz="1200" b="1" u="none" strike="noStrike">
                <a:solidFill>
                  <a:srgbClr val="131A2A"/>
                </a:solidFill>
                <a:effectLst/>
                <a:uFillTx/>
                <a:latin typeface="IBM Plex Sans"/>
                <a:ea typeface="IBM Plex Sans"/>
              </a:rPr>
              <a:t>Doesn't modify files</a:t>
            </a:r>
            <a:endParaRPr lang="en-US" sz="1200" b="0" u="none" strike="noStrike">
              <a:solidFill>
                <a:srgbClr val="000000"/>
              </a:solidFill>
              <a:effectLst/>
              <a:uFillTx/>
              <a:latin typeface="Arial"/>
            </a:endParaRPr>
          </a:p>
        </p:txBody>
      </p:sp>
      <p:sp>
        <p:nvSpPr>
          <p:cNvPr id="129" name="Text 6"/>
          <p:cNvSpPr/>
          <p:nvPr/>
        </p:nvSpPr>
        <p:spPr>
          <a:xfrm>
            <a:off x="1021320" y="330444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Example:</a:t>
            </a:r>
            <a:endParaRPr lang="en-US" sz="1200" b="0" u="none" strike="noStrike">
              <a:solidFill>
                <a:srgbClr val="000000"/>
              </a:solidFill>
              <a:effectLst/>
              <a:uFillTx/>
              <a:latin typeface="Arial"/>
            </a:endParaRPr>
          </a:p>
        </p:txBody>
      </p:sp>
      <p:sp>
        <p:nvSpPr>
          <p:cNvPr id="130" name="Text 7"/>
          <p:cNvSpPr/>
          <p:nvPr/>
        </p:nvSpPr>
        <p:spPr>
          <a:xfrm>
            <a:off x="1021320" y="361944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“How does a request get from /login to the database?”</a:t>
            </a:r>
            <a:endParaRPr lang="en-US" sz="1200" b="0" u="none" strike="noStrike">
              <a:solidFill>
                <a:srgbClr val="000000"/>
              </a:solidFill>
              <a:effectLst/>
              <a:uFillTx/>
              <a:latin typeface="Arial"/>
            </a:endParaRPr>
          </a:p>
        </p:txBody>
      </p:sp>
      <p:sp>
        <p:nvSpPr>
          <p:cNvPr id="131" name="Shape 8"/>
          <p:cNvSpPr/>
          <p:nvPr/>
        </p:nvSpPr>
        <p:spPr>
          <a:xfrm>
            <a:off x="4388760" y="1778400"/>
            <a:ext cx="3413880" cy="272124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2" name="Image 1" descr="Book"/>
          <p:cNvPicPr/>
          <p:nvPr/>
        </p:nvPicPr>
        <p:blipFill>
          <a:blip r:embed="rId2"/>
          <a:stretch/>
        </p:blipFill>
        <p:spPr>
          <a:xfrm>
            <a:off x="4594320" y="1991520"/>
            <a:ext cx="228240" cy="228240"/>
          </a:xfrm>
          <a:prstGeom prst="rect">
            <a:avLst/>
          </a:prstGeom>
          <a:noFill/>
          <a:ln w="0">
            <a:noFill/>
          </a:ln>
        </p:spPr>
      </p:pic>
      <p:sp>
        <p:nvSpPr>
          <p:cNvPr id="133" name="Text 9"/>
          <p:cNvSpPr/>
          <p:nvPr/>
        </p:nvSpPr>
        <p:spPr>
          <a:xfrm>
            <a:off x="4924440" y="1983960"/>
            <a:ext cx="5011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Plan</a:t>
            </a:r>
            <a:endParaRPr lang="en-US" sz="1600" b="0" u="none" strike="noStrike">
              <a:solidFill>
                <a:srgbClr val="000000"/>
              </a:solidFill>
              <a:effectLst/>
              <a:uFillTx/>
              <a:latin typeface="Arial"/>
            </a:endParaRPr>
          </a:p>
        </p:txBody>
      </p:sp>
      <p:sp>
        <p:nvSpPr>
          <p:cNvPr id="134" name="Text 10"/>
          <p:cNvSpPr/>
          <p:nvPr/>
        </p:nvSpPr>
        <p:spPr>
          <a:xfrm>
            <a:off x="4594320" y="2329200"/>
            <a:ext cx="309348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Researches the code, asks you questions and writes a step-by-step plan that you review.</a:t>
            </a:r>
            <a:endParaRPr lang="en-US" sz="1400" b="0" u="none" strike="noStrike">
              <a:solidFill>
                <a:srgbClr val="000000"/>
              </a:solidFill>
              <a:effectLst/>
              <a:uFillTx/>
              <a:latin typeface="Arial"/>
            </a:endParaRPr>
          </a:p>
        </p:txBody>
      </p:sp>
      <p:sp>
        <p:nvSpPr>
          <p:cNvPr id="135" name="Text 11"/>
          <p:cNvSpPr/>
          <p:nvPr/>
        </p:nvSpPr>
        <p:spPr>
          <a:xfrm>
            <a:off x="4594320" y="3177720"/>
            <a:ext cx="3003120" cy="273960"/>
          </a:xfrm>
          <a:prstGeom prst="roundRect">
            <a:avLst>
              <a:gd name="adj" fmla="val 50000"/>
            </a:avLst>
          </a:prstGeom>
          <a:solidFill>
            <a:srgbClr val="DCE8F5"/>
          </a:solidFill>
          <a:ln w="0">
            <a:noFill/>
          </a:ln>
        </p:spPr>
        <p:style>
          <a:lnRef idx="0"/>
          <a:fillRef idx="0"/>
          <a:effectRef idx="0"/>
          <a:fontRef idx="minor"/>
        </p:style>
        <p:txBody>
          <a:bodyPr lIns="61560" tIns="0" rIns="0" bIns="0" anchor="t">
            <a:normAutofit/>
          </a:bodyPr>
          <a:p>
            <a:pPr defTabSz="914400">
              <a:lnSpc>
                <a:spcPts val="1559"/>
              </a:lnSpc>
              <a:tabLst>
                <a:tab pos="0" algn="l"/>
              </a:tabLst>
            </a:pPr>
            <a:r>
              <a:rPr lang="en-US" sz="1200" b="1" u="none" strike="noStrike">
                <a:solidFill>
                  <a:srgbClr val="131A2A"/>
                </a:solidFill>
                <a:effectLst/>
                <a:uFillTx/>
                <a:latin typeface="IBM Plex Sans"/>
                <a:ea typeface="IBM Plex Sans"/>
              </a:rPr>
              <a:t>No code changes — just the plan</a:t>
            </a:r>
            <a:endParaRPr lang="en-US" sz="1200" b="0" u="none" strike="noStrike">
              <a:solidFill>
                <a:srgbClr val="000000"/>
              </a:solidFill>
              <a:effectLst/>
              <a:uFillTx/>
              <a:latin typeface="Arial"/>
            </a:endParaRPr>
          </a:p>
        </p:txBody>
      </p:sp>
      <p:sp>
        <p:nvSpPr>
          <p:cNvPr id="136" name="Text 12"/>
          <p:cNvSpPr/>
          <p:nvPr/>
        </p:nvSpPr>
        <p:spPr>
          <a:xfrm>
            <a:off x="4594320" y="355320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Example:</a:t>
            </a:r>
            <a:endParaRPr lang="en-US" sz="1200" b="0" u="none" strike="noStrike">
              <a:solidFill>
                <a:srgbClr val="000000"/>
              </a:solidFill>
              <a:effectLst/>
              <a:uFillTx/>
              <a:latin typeface="Arial"/>
            </a:endParaRPr>
          </a:p>
        </p:txBody>
      </p:sp>
      <p:sp>
        <p:nvSpPr>
          <p:cNvPr id="137" name="Text 13"/>
          <p:cNvSpPr/>
          <p:nvPr/>
        </p:nvSpPr>
        <p:spPr>
          <a:xfrm>
            <a:off x="4594320" y="38682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“Plan rate limiting on /api/login.”</a:t>
            </a:r>
            <a:endParaRPr lang="en-US" sz="1200" b="0" u="none" strike="noStrike">
              <a:solidFill>
                <a:srgbClr val="000000"/>
              </a:solidFill>
              <a:effectLst/>
              <a:uFillTx/>
              <a:latin typeface="Arial"/>
            </a:endParaRPr>
          </a:p>
        </p:txBody>
      </p:sp>
      <p:sp>
        <p:nvSpPr>
          <p:cNvPr id="138" name="Shape 14"/>
          <p:cNvSpPr/>
          <p:nvPr/>
        </p:nvSpPr>
        <p:spPr>
          <a:xfrm>
            <a:off x="7961760" y="1778400"/>
            <a:ext cx="3413880" cy="272124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9" name="Image 2" descr="Wrench"/>
          <p:cNvPicPr/>
          <p:nvPr/>
        </p:nvPicPr>
        <p:blipFill>
          <a:blip r:embed="rId3"/>
          <a:stretch/>
        </p:blipFill>
        <p:spPr>
          <a:xfrm>
            <a:off x="8167320" y="1991520"/>
            <a:ext cx="228240" cy="228240"/>
          </a:xfrm>
          <a:prstGeom prst="rect">
            <a:avLst/>
          </a:prstGeom>
          <a:noFill/>
          <a:ln w="0">
            <a:noFill/>
          </a:ln>
        </p:spPr>
      </p:pic>
      <p:sp>
        <p:nvSpPr>
          <p:cNvPr id="140" name="Text 15"/>
          <p:cNvSpPr/>
          <p:nvPr/>
        </p:nvSpPr>
        <p:spPr>
          <a:xfrm>
            <a:off x="8497440" y="1983960"/>
            <a:ext cx="7095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Agent</a:t>
            </a:r>
            <a:endParaRPr lang="en-US" sz="1600" b="0" u="none" strike="noStrike">
              <a:solidFill>
                <a:srgbClr val="000000"/>
              </a:solidFill>
              <a:effectLst/>
              <a:uFillTx/>
              <a:latin typeface="Arial"/>
            </a:endParaRPr>
          </a:p>
        </p:txBody>
      </p:sp>
      <p:sp>
        <p:nvSpPr>
          <p:cNvPr id="141" name="Text 16"/>
          <p:cNvSpPr/>
          <p:nvPr/>
        </p:nvSpPr>
        <p:spPr>
          <a:xfrm>
            <a:off x="8167320" y="2329200"/>
            <a:ext cx="309348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Works autonomously: edits files, runs commands and tests, iterates until done.</a:t>
            </a:r>
            <a:endParaRPr lang="en-US" sz="1400" b="0" u="none" strike="noStrike">
              <a:solidFill>
                <a:srgbClr val="000000"/>
              </a:solidFill>
              <a:effectLst/>
              <a:uFillTx/>
              <a:latin typeface="Arial"/>
            </a:endParaRPr>
          </a:p>
        </p:txBody>
      </p:sp>
      <p:sp>
        <p:nvSpPr>
          <p:cNvPr id="142" name="Text 17"/>
          <p:cNvSpPr/>
          <p:nvPr/>
        </p:nvSpPr>
        <p:spPr>
          <a:xfrm>
            <a:off x="8167320" y="3177720"/>
            <a:ext cx="3003120" cy="273960"/>
          </a:xfrm>
          <a:prstGeom prst="roundRect">
            <a:avLst>
              <a:gd name="adj" fmla="val 50000"/>
            </a:avLst>
          </a:prstGeom>
          <a:solidFill>
            <a:srgbClr val="DCE8F5"/>
          </a:solidFill>
          <a:ln w="0">
            <a:noFill/>
          </a:ln>
        </p:spPr>
        <p:style>
          <a:lnRef idx="0"/>
          <a:fillRef idx="0"/>
          <a:effectRef idx="0"/>
          <a:fontRef idx="minor"/>
        </p:style>
        <p:txBody>
          <a:bodyPr lIns="61560" tIns="0" rIns="0" bIns="0" anchor="t">
            <a:normAutofit/>
          </a:bodyPr>
          <a:p>
            <a:pPr defTabSz="914400">
              <a:lnSpc>
                <a:spcPts val="1559"/>
              </a:lnSpc>
              <a:tabLst>
                <a:tab pos="0" algn="l"/>
              </a:tabLst>
            </a:pPr>
            <a:r>
              <a:rPr lang="en-US" sz="1200" b="1" u="none" strike="noStrike">
                <a:solidFill>
                  <a:srgbClr val="131A2A"/>
                </a:solidFill>
                <a:effectLst/>
                <a:uFillTx/>
                <a:latin typeface="IBM Plex Sans"/>
                <a:ea typeface="IBM Plex Sans"/>
              </a:rPr>
              <a:t>Modifies files, runs commands</a:t>
            </a:r>
            <a:endParaRPr lang="en-US" sz="1200" b="0" u="none" strike="noStrike">
              <a:solidFill>
                <a:srgbClr val="000000"/>
              </a:solidFill>
              <a:effectLst/>
              <a:uFillTx/>
              <a:latin typeface="Arial"/>
            </a:endParaRPr>
          </a:p>
        </p:txBody>
      </p:sp>
      <p:sp>
        <p:nvSpPr>
          <p:cNvPr id="143" name="Text 18"/>
          <p:cNvSpPr/>
          <p:nvPr/>
        </p:nvSpPr>
        <p:spPr>
          <a:xfrm>
            <a:off x="8167320" y="355320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Example:</a:t>
            </a:r>
            <a:endParaRPr lang="en-US" sz="1200" b="0" u="none" strike="noStrike">
              <a:solidFill>
                <a:srgbClr val="000000"/>
              </a:solidFill>
              <a:effectLst/>
              <a:uFillTx/>
              <a:latin typeface="Arial"/>
            </a:endParaRPr>
          </a:p>
        </p:txBody>
      </p:sp>
      <p:sp>
        <p:nvSpPr>
          <p:cNvPr id="144" name="Text 19"/>
          <p:cNvSpPr/>
          <p:nvPr/>
        </p:nvSpPr>
        <p:spPr>
          <a:xfrm>
            <a:off x="8167320" y="38682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“Implement the plan. Run the tests after each step.”</a:t>
            </a:r>
            <a:endParaRPr lang="en-US" sz="1200" b="0" u="none" strike="noStrike">
              <a:solidFill>
                <a:srgbClr val="000000"/>
              </a:solidFill>
              <a:effectLst/>
              <a:uFillTx/>
              <a:latin typeface="Arial"/>
            </a:endParaRPr>
          </a:p>
        </p:txBody>
      </p:sp>
      <p:sp>
        <p:nvSpPr>
          <p:cNvPr id="145" name="Text 2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146" name="Text 2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04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8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03 · HARNESS</a:t>
            </a:r>
            <a:endParaRPr lang="en-US" sz="1200" b="0" u="none" strike="noStrike">
              <a:solidFill>
                <a:srgbClr val="000000"/>
              </a:solidFill>
              <a:effectLst/>
              <a:uFillTx/>
              <a:latin typeface="Arial"/>
            </a:endParaRPr>
          </a:p>
        </p:txBody>
      </p:sp>
      <p:sp>
        <p:nvSpPr>
          <p:cNvPr id="18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Local vs Copilot CLI vs Cloud agent</a:t>
            </a:r>
            <a:endParaRPr lang="en-US" sz="3000" b="0" u="none" strike="noStrike">
              <a:solidFill>
                <a:schemeClr val="dk1"/>
              </a:solidFill>
              <a:effectLst/>
              <a:uFillTx/>
              <a:latin typeface="IBM Plex Sans"/>
            </a:endParaRPr>
          </a:p>
        </p:txBody>
      </p:sp>
      <p:sp>
        <p:nvSpPr>
          <p:cNvPr id="190" name="Shape 2"/>
          <p:cNvSpPr/>
          <p:nvPr/>
        </p:nvSpPr>
        <p:spPr>
          <a:xfrm>
            <a:off x="11376000" y="1775160"/>
            <a:ext cx="360" cy="242604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91" name="Shape 3"/>
          <p:cNvSpPr/>
          <p:nvPr/>
        </p:nvSpPr>
        <p:spPr>
          <a:xfrm>
            <a:off x="812520" y="419796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192" name="Table 0"/>
          <p:cNvGraphicFramePr/>
          <p:nvPr/>
        </p:nvGraphicFramePr>
        <p:xfrm>
          <a:off x="823320" y="1785960"/>
          <a:ext cx="10550160" cy="2409840"/>
        </p:xfrm>
        <a:graphic>
          <a:graphicData uri="http://schemas.openxmlformats.org/drawingml/2006/table">
            <a:tbl>
              <a:tblPr/>
              <a:tblGrid>
                <a:gridCol w="1688040"/>
                <a:gridCol w="2954160"/>
                <a:gridCol w="2954160"/>
                <a:gridCol w="2954160"/>
              </a:tblGrid>
              <a:tr h="330480">
                <a:tc>
                  <a:txBody>
                    <a:bodyPr lIns="53280" tIns="53280" rIns="53280" bIns="53280" anchor="t">
                      <a:noAutofit/>
                    </a:bodyPr>
                    <a:p>
                      <a:endParaRPr lang="en-US" sz="1200" b="0" u="none" strike="noStrike">
                        <a:solidFill>
                          <a:schemeClr val="dk1"/>
                        </a:solidFill>
                        <a:effectLst/>
                        <a:uFillTx/>
                        <a:latin typeface="IBM Plex Sans"/>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Local (VS Code)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Copilot CLI</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Cloud agent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Where it runs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in VS Code, on your machine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in the terminal / Agent Host, on your machine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on GitHub's infrastructure, Linux sandbox</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What it sees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workspace, VS Code tools, extensions, MCP</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current folder or an isolated git worktree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cloned repo; the result is a pull request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Interaction</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interactive, you approve step by step</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interactive or autopilot, can run in the background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async: start it and come back to the PR</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Ideal for</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daily work, debugging, UI</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long tasks, scripting, parallel sessions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clear issues, mechanical refactors, tests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Start with</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Chat panel → Local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copilot in the terminal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assign an issue to Copilot or /delegate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193" name="Text 4"/>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194" name="Text 5"/>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05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23"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04 · AGENTS.MD</a:t>
            </a:r>
            <a:endParaRPr lang="en-US" sz="1200" b="0" u="none" strike="noStrike">
              <a:solidFill>
                <a:srgbClr val="000000"/>
              </a:solidFill>
              <a:effectLst/>
              <a:uFillTx/>
              <a:latin typeface="Arial"/>
            </a:endParaRPr>
          </a:p>
        </p:txBody>
      </p:sp>
      <p:sp>
        <p:nvSpPr>
          <p:cNvPr id="224"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What AGENTS.md is</a:t>
            </a:r>
            <a:endParaRPr lang="en-US" sz="3000" b="0" u="none" strike="noStrike">
              <a:solidFill>
                <a:schemeClr val="dk1"/>
              </a:solidFill>
              <a:effectLst/>
              <a:uFillTx/>
              <a:latin typeface="IBM Plex Sans"/>
            </a:endParaRPr>
          </a:p>
        </p:txBody>
      </p:sp>
      <p:sp>
        <p:nvSpPr>
          <p:cNvPr id="225" name="Text 2"/>
          <p:cNvSpPr/>
          <p:nvPr/>
        </p:nvSpPr>
        <p:spPr>
          <a:xfrm>
            <a:off x="891000" y="1775520"/>
            <a:ext cx="3969000" cy="2514240"/>
          </a:xfrm>
          <a:prstGeom prst="rect">
            <a:avLst/>
          </a:prstGeom>
          <a:noFill/>
          <a:ln w="0">
            <a:noFill/>
          </a:ln>
        </p:spPr>
        <p:style>
          <a:lnRef idx="0"/>
          <a:fillRef idx="0"/>
          <a:effectRef idx="0"/>
          <a:fontRef idx="minor"/>
        </p:style>
        <p:txBody>
          <a:bodyPr lIns="0" tIns="0" rIns="0" bIns="0" anchor="t">
            <a:normAutofit/>
          </a:bodyPr>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A Markdown file at the root of the repo — an open standard (agents.md).</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Copilot reads it automatically in VS Code, the CLI, the cloud agent and code review. So do Claude Code, Codex and Cursor.</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It goes into the context on </a:t>
            </a:r>
            <a:r>
              <a:rPr lang="en-US" sz="1400" b="1" u="none" strike="noStrike">
                <a:solidFill>
                  <a:srgbClr val="444C5C"/>
                </a:solidFill>
                <a:effectLst/>
                <a:uFillTx/>
                <a:latin typeface="IBM Plex Sans"/>
                <a:ea typeface="IBM Plex Sans"/>
              </a:rPr>
              <a:t>every</a:t>
            </a:r>
            <a:r>
              <a:rPr lang="en-US" sz="1400" b="0" u="none" strike="noStrike">
                <a:solidFill>
                  <a:srgbClr val="444C5C"/>
                </a:solidFill>
                <a:effectLst/>
                <a:uFillTx/>
                <a:latin typeface="IBM Plex Sans"/>
                <a:ea typeface="IBM Plex Sans"/>
              </a:rPr>
              <a:t> request → keep it short and to the point.</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Copilot variants: </a:t>
            </a:r>
            <a:r>
              <a:rPr lang="en-US" sz="1400" b="0" u="none" strike="noStrike">
                <a:solidFill>
                  <a:srgbClr val="2B5E96"/>
                </a:solidFill>
                <a:effectLst/>
                <a:uFillTx/>
                <a:latin typeface="IBM Plex Sans"/>
                <a:ea typeface="IBM Plex Sans"/>
              </a:rPr>
              <a:t>.github/copilot-instructions.md</a:t>
            </a:r>
            <a:r>
              <a:rPr lang="en-US" sz="1400" b="0" u="none" strike="noStrike">
                <a:solidFill>
                  <a:srgbClr val="444C5C"/>
                </a:solidFill>
                <a:effectLst/>
                <a:uFillTx/>
                <a:latin typeface="IBM Plex Sans"/>
                <a:ea typeface="IBM Plex Sans"/>
              </a:rPr>
              <a:t> and </a:t>
            </a:r>
            <a:r>
              <a:rPr lang="en-US" sz="1400" b="0" u="none" strike="noStrike">
                <a:solidFill>
                  <a:srgbClr val="2B5E96"/>
                </a:solidFill>
                <a:effectLst/>
                <a:uFillTx/>
                <a:latin typeface="IBM Plex Sans"/>
                <a:ea typeface="IBM Plex Sans"/>
              </a:rPr>
              <a:t>*.instructions.md</a:t>
            </a:r>
            <a:r>
              <a:rPr lang="en-US" sz="1400" b="0" u="none" strike="noStrike">
                <a:solidFill>
                  <a:srgbClr val="444C5C"/>
                </a:solidFill>
                <a:effectLst/>
                <a:uFillTx/>
                <a:latin typeface="IBM Plex Sans"/>
                <a:ea typeface="IBM Plex Sans"/>
              </a:rPr>
              <a:t> with </a:t>
            </a:r>
            <a:r>
              <a:rPr lang="en-US" sz="1400" b="0" u="none" strike="noStrike">
                <a:solidFill>
                  <a:srgbClr val="2B5E96"/>
                </a:solidFill>
                <a:effectLst/>
                <a:uFillTx/>
                <a:latin typeface="IBM Plex Sans"/>
                <a:ea typeface="IBM Plex Sans"/>
              </a:rPr>
              <a:t>applyTo</a:t>
            </a:r>
            <a:r>
              <a:rPr lang="en-US" sz="1400" b="0" u="none" strike="noStrike">
                <a:solidFill>
                  <a:srgbClr val="444C5C"/>
                </a:solidFill>
                <a:effectLst/>
                <a:uFillTx/>
                <a:latin typeface="IBM Plex Sans"/>
                <a:ea typeface="IBM Plex Sans"/>
              </a:rPr>
              <a:t> per file type.</a:t>
            </a:r>
            <a:endParaRPr lang="en-US" sz="1400" b="0" u="none" strike="noStrike">
              <a:solidFill>
                <a:srgbClr val="000000"/>
              </a:solidFill>
              <a:effectLst/>
              <a:uFillTx/>
              <a:latin typeface="Arial"/>
            </a:endParaRPr>
          </a:p>
        </p:txBody>
      </p:sp>
      <p:sp>
        <p:nvSpPr>
          <p:cNvPr id="226" name="Shape 3"/>
          <p:cNvSpPr/>
          <p:nvPr/>
        </p:nvSpPr>
        <p:spPr>
          <a:xfrm>
            <a:off x="5054400" y="1775520"/>
            <a:ext cx="6324480" cy="3450600"/>
          </a:xfrm>
          <a:prstGeom prst="roundRect">
            <a:avLst>
              <a:gd name="adj" fmla="val 2944"/>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7" name="Text 4"/>
          <p:cNvSpPr/>
          <p:nvPr/>
        </p:nvSpPr>
        <p:spPr>
          <a:xfrm>
            <a:off x="5257800" y="1927800"/>
            <a:ext cx="609552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AGENTS.md</a:t>
            </a:r>
            <a:endParaRPr lang="en-US" sz="1200" b="0" u="none" strike="noStrike">
              <a:solidFill>
                <a:srgbClr val="000000"/>
              </a:solidFill>
              <a:effectLst/>
              <a:uFillTx/>
              <a:latin typeface="Arial"/>
            </a:endParaRPr>
          </a:p>
        </p:txBody>
      </p:sp>
      <p:sp>
        <p:nvSpPr>
          <p:cNvPr id="228" name="Text 5"/>
          <p:cNvSpPr/>
          <p:nvPr/>
        </p:nvSpPr>
        <p:spPr>
          <a:xfrm>
            <a:off x="5257800" y="2202120"/>
            <a:ext cx="6095520" cy="289692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F2A66B"/>
                </a:solidFill>
                <a:effectLst/>
                <a:uFillTx/>
                <a:latin typeface="JetBrains Mono"/>
                <a:ea typeface="JetBrains Mono"/>
              </a:rPr>
              <a:t># AGENTS.md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Project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Billing API (Spring Boot, PostgreSQL), UI in /web (React).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Commands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Build: `maven build`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Tests: `mvn test --filter Category!=Slow`</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Lint web: `cd web &amp;&amp; npm run lint`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Conventions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No logic in controllers; everything goes in /Services.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Entity migrations are generated, not written by hand.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Commits: Conventional Commits.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Don't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Don't modify /Legacy without asking.</a:t>
            </a:r>
            <a:endParaRPr lang="en-US" sz="1200" b="0" u="none" strike="noStrike">
              <a:solidFill>
                <a:srgbClr val="000000"/>
              </a:solidFill>
              <a:effectLst/>
              <a:uFillTx/>
              <a:latin typeface="Arial"/>
            </a:endParaRPr>
          </a:p>
        </p:txBody>
      </p:sp>
      <p:sp>
        <p:nvSpPr>
          <p:cNvPr id="229" name="Text 6"/>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230" name="Text 7"/>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06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31"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04 · AGENTS.MD</a:t>
            </a:r>
            <a:endParaRPr lang="en-US" sz="1200" b="0" u="none" strike="noStrike">
              <a:solidFill>
                <a:srgbClr val="000000"/>
              </a:solidFill>
              <a:effectLst/>
              <a:uFillTx/>
              <a:latin typeface="Arial"/>
            </a:endParaRPr>
          </a:p>
        </p:txBody>
      </p:sp>
      <p:sp>
        <p:nvSpPr>
          <p:cNvPr id="232"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User vs repo vs folder hierarchy</a:t>
            </a:r>
            <a:endParaRPr lang="en-US" sz="3000" b="0" u="none" strike="noStrike">
              <a:solidFill>
                <a:schemeClr val="dk1"/>
              </a:solidFill>
              <a:effectLst/>
              <a:uFillTx/>
              <a:latin typeface="IBM Plex Sans"/>
            </a:endParaRPr>
          </a:p>
        </p:txBody>
      </p:sp>
      <p:sp>
        <p:nvSpPr>
          <p:cNvPr id="233" name="Shape 2"/>
          <p:cNvSpPr/>
          <p:nvPr/>
        </p:nvSpPr>
        <p:spPr>
          <a:xfrm>
            <a:off x="816120" y="1778400"/>
            <a:ext cx="3413880" cy="267804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4" name="Image 0" descr="Users"/>
          <p:cNvPicPr/>
          <p:nvPr/>
        </p:nvPicPr>
        <p:blipFill>
          <a:blip r:embed="rId1"/>
          <a:stretch/>
        </p:blipFill>
        <p:spPr>
          <a:xfrm>
            <a:off x="1021320" y="1991520"/>
            <a:ext cx="228240" cy="228240"/>
          </a:xfrm>
          <a:prstGeom prst="rect">
            <a:avLst/>
          </a:prstGeom>
          <a:noFill/>
          <a:ln w="0">
            <a:noFill/>
          </a:ln>
        </p:spPr>
      </p:pic>
      <p:sp>
        <p:nvSpPr>
          <p:cNvPr id="235" name="Text 3"/>
          <p:cNvSpPr/>
          <p:nvPr/>
        </p:nvSpPr>
        <p:spPr>
          <a:xfrm>
            <a:off x="1351440" y="1983960"/>
            <a:ext cx="18025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User (personal)</a:t>
            </a:r>
            <a:endParaRPr lang="en-US" sz="1600" b="0" u="none" strike="noStrike">
              <a:solidFill>
                <a:srgbClr val="000000"/>
              </a:solidFill>
              <a:effectLst/>
              <a:uFillTx/>
              <a:latin typeface="Arial"/>
            </a:endParaRPr>
          </a:p>
        </p:txBody>
      </p:sp>
      <p:sp>
        <p:nvSpPr>
          <p:cNvPr id="236" name="Text 4"/>
          <p:cNvSpPr/>
          <p:nvPr/>
        </p:nvSpPr>
        <p:spPr>
          <a:xfrm>
            <a:off x="1021320" y="2219760"/>
            <a:ext cx="3093480" cy="87840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ts val="1681"/>
              </a:lnSpc>
              <a:tabLst>
                <a:tab pos="0" algn="l"/>
              </a:tabLst>
            </a:pPr>
            <a:r>
              <a:rPr lang="en-US" sz="1200" b="0" u="none" strike="noStrike">
                <a:solidFill>
                  <a:srgbClr val="2B5E96"/>
                </a:solidFill>
                <a:effectLst/>
                <a:uFillTx/>
                <a:latin typeface="JetBrains Mono"/>
                <a:ea typeface="JetBrains Mono"/>
              </a:rPr>
              <a:t>~/.copilot/</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*.instructions.md (testing.instructions.md, code-style.instructions.md)</a:t>
            </a:r>
            <a:endParaRPr lang="en-US" sz="1200" b="0" u="none" strike="noStrike">
              <a:solidFill>
                <a:srgbClr val="000000"/>
              </a:solidFill>
              <a:effectLst/>
              <a:uFillTx/>
              <a:latin typeface="Arial"/>
            </a:endParaRPr>
          </a:p>
        </p:txBody>
      </p:sp>
      <p:sp>
        <p:nvSpPr>
          <p:cNvPr id="237" name="Text 5"/>
          <p:cNvSpPr/>
          <p:nvPr/>
        </p:nvSpPr>
        <p:spPr>
          <a:xfrm>
            <a:off x="1021320" y="32587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Your preferences, across all projects. They don't go into git.</a:t>
            </a:r>
            <a:endParaRPr lang="en-US" sz="1200" b="0" u="none" strike="noStrike">
              <a:solidFill>
                <a:srgbClr val="000000"/>
              </a:solidFill>
              <a:effectLst/>
              <a:uFillTx/>
              <a:latin typeface="Arial"/>
            </a:endParaRPr>
          </a:p>
        </p:txBody>
      </p:sp>
      <p:sp>
        <p:nvSpPr>
          <p:cNvPr id="238" name="Shape 6"/>
          <p:cNvSpPr/>
          <p:nvPr/>
        </p:nvSpPr>
        <p:spPr>
          <a:xfrm>
            <a:off x="1033920" y="3773880"/>
            <a:ext cx="360" cy="477720"/>
          </a:xfrm>
          <a:prstGeom prst="line">
            <a:avLst/>
          </a:prstGeom>
          <a:ln w="25400">
            <a:solidFill>
              <a:srgbClr val="E8823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39" name="Text 7"/>
          <p:cNvSpPr/>
          <p:nvPr/>
        </p:nvSpPr>
        <p:spPr>
          <a:xfrm>
            <a:off x="1146600" y="3799800"/>
            <a:ext cx="29642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i="1" u="none" strike="noStrike">
                <a:solidFill>
                  <a:srgbClr val="131A2A"/>
                </a:solidFill>
                <a:effectLst/>
                <a:uFillTx/>
                <a:latin typeface="IBM Plex Sans"/>
                <a:ea typeface="IBM Plex Sans"/>
              </a:rPr>
              <a:t>“Answer in English. Briefly explain before big changes.”</a:t>
            </a:r>
            <a:endParaRPr lang="en-US" sz="1200" b="0" u="none" strike="noStrike">
              <a:solidFill>
                <a:srgbClr val="000000"/>
              </a:solidFill>
              <a:effectLst/>
              <a:uFillTx/>
              <a:latin typeface="Arial"/>
            </a:endParaRPr>
          </a:p>
        </p:txBody>
      </p:sp>
      <p:sp>
        <p:nvSpPr>
          <p:cNvPr id="240" name="Shape 8"/>
          <p:cNvSpPr/>
          <p:nvPr/>
        </p:nvSpPr>
        <p:spPr>
          <a:xfrm>
            <a:off x="4388760" y="1778400"/>
            <a:ext cx="3413880" cy="267804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1" name="Image 1" descr="Home"/>
          <p:cNvPicPr/>
          <p:nvPr/>
        </p:nvPicPr>
        <p:blipFill>
          <a:blip r:embed="rId2"/>
          <a:stretch/>
        </p:blipFill>
        <p:spPr>
          <a:xfrm>
            <a:off x="4594320" y="1991520"/>
            <a:ext cx="228240" cy="228240"/>
          </a:xfrm>
          <a:prstGeom prst="rect">
            <a:avLst/>
          </a:prstGeom>
          <a:noFill/>
          <a:ln w="0">
            <a:noFill/>
          </a:ln>
        </p:spPr>
      </p:pic>
      <p:sp>
        <p:nvSpPr>
          <p:cNvPr id="242" name="Text 9"/>
          <p:cNvSpPr/>
          <p:nvPr/>
        </p:nvSpPr>
        <p:spPr>
          <a:xfrm>
            <a:off x="4924440" y="1983960"/>
            <a:ext cx="16401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Repo (team)</a:t>
            </a:r>
            <a:endParaRPr lang="en-US" sz="1600" b="0" u="none" strike="noStrike">
              <a:solidFill>
                <a:srgbClr val="000000"/>
              </a:solidFill>
              <a:effectLst/>
              <a:uFillTx/>
              <a:latin typeface="Arial"/>
            </a:endParaRPr>
          </a:p>
        </p:txBody>
      </p:sp>
      <p:sp>
        <p:nvSpPr>
          <p:cNvPr id="243" name="Text 10"/>
          <p:cNvSpPr/>
          <p:nvPr/>
        </p:nvSpPr>
        <p:spPr>
          <a:xfrm>
            <a:off x="4594320" y="231660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.github/</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copilot-instructions.md</a:t>
            </a:r>
            <a:endParaRPr lang="en-US" sz="1200" b="0" u="none" strike="noStrike">
              <a:solidFill>
                <a:srgbClr val="000000"/>
              </a:solidFill>
              <a:effectLst/>
              <a:uFillTx/>
              <a:latin typeface="Arial"/>
            </a:endParaRPr>
          </a:p>
        </p:txBody>
      </p:sp>
      <p:sp>
        <p:nvSpPr>
          <p:cNvPr id="244" name="Text 11"/>
          <p:cNvSpPr/>
          <p:nvPr/>
        </p:nvSpPr>
        <p:spPr>
          <a:xfrm>
            <a:off x="4594320" y="304524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team's rules, versioned in git, the same for everyone.</a:t>
            </a:r>
            <a:endParaRPr lang="en-US" sz="1200" b="0" u="none" strike="noStrike">
              <a:solidFill>
                <a:srgbClr val="000000"/>
              </a:solidFill>
              <a:effectLst/>
              <a:uFillTx/>
              <a:latin typeface="Arial"/>
            </a:endParaRPr>
          </a:p>
        </p:txBody>
      </p:sp>
      <p:sp>
        <p:nvSpPr>
          <p:cNvPr id="245" name="Shape 12"/>
          <p:cNvSpPr/>
          <p:nvPr/>
        </p:nvSpPr>
        <p:spPr>
          <a:xfrm>
            <a:off x="4606560" y="3560760"/>
            <a:ext cx="360" cy="477360"/>
          </a:xfrm>
          <a:prstGeom prst="line">
            <a:avLst/>
          </a:prstGeom>
          <a:ln w="25400">
            <a:solidFill>
              <a:srgbClr val="E8823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46" name="Text 13"/>
          <p:cNvSpPr/>
          <p:nvPr/>
        </p:nvSpPr>
        <p:spPr>
          <a:xfrm>
            <a:off x="4719600" y="3586320"/>
            <a:ext cx="29642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i="1" u="none" strike="noStrike">
                <a:solidFill>
                  <a:srgbClr val="131A2A"/>
                </a:solidFill>
                <a:effectLst/>
                <a:uFillTx/>
                <a:latin typeface="IBM Plex Sans"/>
                <a:ea typeface="IBM Plex Sans"/>
              </a:rPr>
              <a:t>Build/test commands, repo structure, conventions.</a:t>
            </a:r>
            <a:endParaRPr lang="en-US" sz="1200" b="0" u="none" strike="noStrike">
              <a:solidFill>
                <a:srgbClr val="000000"/>
              </a:solidFill>
              <a:effectLst/>
              <a:uFillTx/>
              <a:latin typeface="Arial"/>
            </a:endParaRPr>
          </a:p>
        </p:txBody>
      </p:sp>
      <p:sp>
        <p:nvSpPr>
          <p:cNvPr id="247" name="Shape 14"/>
          <p:cNvSpPr/>
          <p:nvPr/>
        </p:nvSpPr>
        <p:spPr>
          <a:xfrm>
            <a:off x="7961760" y="1778400"/>
            <a:ext cx="3413880" cy="267804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8" name="Image 2" descr="Code"/>
          <p:cNvPicPr/>
          <p:nvPr/>
        </p:nvPicPr>
        <p:blipFill>
          <a:blip r:embed="rId3"/>
          <a:stretch/>
        </p:blipFill>
        <p:spPr>
          <a:xfrm>
            <a:off x="8167320" y="1991520"/>
            <a:ext cx="228240" cy="228240"/>
          </a:xfrm>
          <a:prstGeom prst="rect">
            <a:avLst/>
          </a:prstGeom>
          <a:noFill/>
          <a:ln w="0">
            <a:noFill/>
          </a:ln>
        </p:spPr>
      </p:pic>
      <p:sp>
        <p:nvSpPr>
          <p:cNvPr id="249" name="Text 15"/>
          <p:cNvSpPr/>
          <p:nvPr/>
        </p:nvSpPr>
        <p:spPr>
          <a:xfrm>
            <a:off x="8497440" y="1983960"/>
            <a:ext cx="184680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Hierarchy (folder)</a:t>
            </a:r>
            <a:endParaRPr lang="en-US" sz="1600" b="0" u="none" strike="noStrike">
              <a:solidFill>
                <a:srgbClr val="000000"/>
              </a:solidFill>
              <a:effectLst/>
              <a:uFillTx/>
              <a:latin typeface="Arial"/>
            </a:endParaRPr>
          </a:p>
        </p:txBody>
      </p:sp>
      <p:sp>
        <p:nvSpPr>
          <p:cNvPr id="250" name="Text 16"/>
          <p:cNvSpPr/>
          <p:nvPr/>
        </p:nvSpPr>
        <p:spPr>
          <a:xfrm>
            <a:off x="8167320" y="231660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web/AGENTS.md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api/AGENTS.md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packages/x/AGENTS.md</a:t>
            </a:r>
            <a:endParaRPr lang="en-US" sz="1200" b="0" u="none" strike="noStrike">
              <a:solidFill>
                <a:srgbClr val="000000"/>
              </a:solidFill>
              <a:effectLst/>
              <a:uFillTx/>
              <a:latin typeface="Arial"/>
            </a:endParaRPr>
          </a:p>
        </p:txBody>
      </p:sp>
      <p:sp>
        <p:nvSpPr>
          <p:cNvPr id="251" name="Text 17"/>
          <p:cNvSpPr/>
          <p:nvPr/>
        </p:nvSpPr>
        <p:spPr>
          <a:xfrm>
            <a:off x="8167320" y="304524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Local rules for a package or a </a:t>
            </a:r>
            <a:r>
              <a:rPr lang="en-US" sz="1200" b="0" u="none" strike="noStrike">
                <a:solidFill>
                  <a:srgbClr val="444C5C"/>
                </a:solidFill>
                <a:effectLst/>
                <a:uFillTx/>
                <a:latin typeface="IBM Plex Sans"/>
                <a:ea typeface="IBM Plex Sans"/>
              </a:rPr>
              <a:t>monorepo.</a:t>
            </a:r>
            <a:endParaRPr lang="en-US" sz="1200" b="0" u="none" strike="noStrike">
              <a:solidFill>
                <a:srgbClr val="000000"/>
              </a:solidFill>
              <a:effectLst/>
              <a:uFillTx/>
              <a:latin typeface="Arial"/>
            </a:endParaRPr>
          </a:p>
        </p:txBody>
      </p:sp>
      <p:sp>
        <p:nvSpPr>
          <p:cNvPr id="252" name="Shape 18"/>
          <p:cNvSpPr/>
          <p:nvPr/>
        </p:nvSpPr>
        <p:spPr>
          <a:xfrm>
            <a:off x="8179560" y="3560760"/>
            <a:ext cx="360" cy="477360"/>
          </a:xfrm>
          <a:prstGeom prst="line">
            <a:avLst/>
          </a:prstGeom>
          <a:ln w="25400">
            <a:solidFill>
              <a:srgbClr val="E8823A"/>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53" name="Text 19"/>
          <p:cNvSpPr/>
          <p:nvPr/>
        </p:nvSpPr>
        <p:spPr>
          <a:xfrm>
            <a:off x="8292600" y="3586320"/>
            <a:ext cx="29642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i="1" u="none" strike="noStrike">
                <a:solidFill>
                  <a:srgbClr val="131A2A"/>
                </a:solidFill>
                <a:effectLst/>
                <a:uFillTx/>
                <a:latin typeface="IBM Plex Sans"/>
                <a:ea typeface="IBM Plex Sans"/>
              </a:rPr>
              <a:t>“In /web: functional components, Tailwind, tests with Vitest.”</a:t>
            </a:r>
            <a:endParaRPr lang="en-US" sz="1200" b="0" u="none" strike="noStrike">
              <a:solidFill>
                <a:srgbClr val="000000"/>
              </a:solidFill>
              <a:effectLst/>
              <a:uFillTx/>
              <a:latin typeface="Arial"/>
            </a:endParaRPr>
          </a:p>
        </p:txBody>
      </p:sp>
      <p:sp>
        <p:nvSpPr>
          <p:cNvPr id="254" name="Text 20"/>
          <p:cNvSpPr/>
          <p:nvPr/>
        </p:nvSpPr>
        <p:spPr>
          <a:xfrm>
            <a:off x="812880" y="4714200"/>
            <a:ext cx="1088316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The levels add up. On the same topic, </a:t>
            </a:r>
            <a:r>
              <a:rPr lang="en-US" sz="1400" b="1" u="none" strike="noStrike">
                <a:solidFill>
                  <a:srgbClr val="444C5C"/>
                </a:solidFill>
                <a:effectLst/>
                <a:uFillTx/>
                <a:latin typeface="IBM Plex Sans"/>
                <a:ea typeface="IBM Plex Sans"/>
              </a:rPr>
              <a:t>the AGENTS.md closest to the edited file wins</a:t>
            </a:r>
            <a:r>
              <a:rPr lang="en-US" sz="1400" b="0" u="none" strike="noStrike">
                <a:solidFill>
                  <a:srgbClr val="444C5C"/>
                </a:solidFill>
                <a:effectLst/>
                <a:uFillTx/>
                <a:latin typeface="IBM Plex Sans"/>
                <a:ea typeface="IBM Plex Sans"/>
              </a:rPr>
              <a:t>. In VS Code, files in subfolders are enabled with </a:t>
            </a:r>
            <a:r>
              <a:rPr lang="en-US" sz="1400" b="0" u="none" strike="noStrike">
                <a:solidFill>
                  <a:srgbClr val="2B5E96"/>
                </a:solidFill>
                <a:effectLst/>
                <a:uFillTx/>
                <a:latin typeface="IBM Plex Sans"/>
                <a:ea typeface="IBM Plex Sans"/>
              </a:rPr>
              <a:t>chat.useNestedAgentsMdFiles</a:t>
            </a:r>
            <a:r>
              <a:rPr lang="en-US" sz="1400" b="0" u="none" strike="noStrike">
                <a:solidFill>
                  <a:srgbClr val="444C5C"/>
                </a:solidFill>
                <a:effectLst/>
                <a:uFillTx/>
                <a:latin typeface="IBM Plex Sans"/>
                <a:ea typeface="IBM Plex Sans"/>
              </a:rPr>
              <a:t> (experimental).</a:t>
            </a:r>
            <a:endParaRPr lang="en-US" sz="1400" b="0" u="none" strike="noStrike">
              <a:solidFill>
                <a:srgbClr val="000000"/>
              </a:solidFill>
              <a:effectLst/>
              <a:uFillTx/>
              <a:latin typeface="Arial"/>
            </a:endParaRPr>
          </a:p>
        </p:txBody>
      </p:sp>
      <p:sp>
        <p:nvSpPr>
          <p:cNvPr id="255" name="Text 21"/>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256" name="Text 22"/>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07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76"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05 · TOOLS</a:t>
            </a:r>
            <a:endParaRPr lang="en-US" sz="1200" b="0" u="none" strike="noStrike">
              <a:solidFill>
                <a:srgbClr val="000000"/>
              </a:solidFill>
              <a:effectLst/>
              <a:uFillTx/>
              <a:latin typeface="Arial"/>
            </a:endParaRPr>
          </a:p>
        </p:txBody>
      </p:sp>
      <p:sp>
        <p:nvSpPr>
          <p:cNvPr id="277"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The agent's toolkit in VS Code</a:t>
            </a:r>
            <a:endParaRPr lang="en-US" sz="3000" b="0" u="none" strike="noStrike">
              <a:solidFill>
                <a:schemeClr val="dk1"/>
              </a:solidFill>
              <a:effectLst/>
              <a:uFillTx/>
              <a:latin typeface="IBM Plex Sans"/>
            </a:endParaRPr>
          </a:p>
        </p:txBody>
      </p:sp>
      <p:sp>
        <p:nvSpPr>
          <p:cNvPr id="278" name="Shape 2"/>
          <p:cNvSpPr/>
          <p:nvPr/>
        </p:nvSpPr>
        <p:spPr>
          <a:xfrm>
            <a:off x="81612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79" name="Image 0" descr="Book"/>
          <p:cNvPicPr/>
          <p:nvPr/>
        </p:nvPicPr>
        <p:blipFill>
          <a:blip r:embed="rId1"/>
          <a:stretch/>
        </p:blipFill>
        <p:spPr>
          <a:xfrm>
            <a:off x="995760" y="1965960"/>
            <a:ext cx="228240" cy="228240"/>
          </a:xfrm>
          <a:prstGeom prst="rect">
            <a:avLst/>
          </a:prstGeom>
          <a:noFill/>
          <a:ln w="0">
            <a:noFill/>
          </a:ln>
        </p:spPr>
      </p:pic>
      <p:sp>
        <p:nvSpPr>
          <p:cNvPr id="280" name="Text 3"/>
          <p:cNvSpPr/>
          <p:nvPr/>
        </p:nvSpPr>
        <p:spPr>
          <a:xfrm>
            <a:off x="1325880" y="1958400"/>
            <a:ext cx="6278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Read</a:t>
            </a:r>
            <a:endParaRPr lang="en-US" sz="1600" b="0" u="none" strike="noStrike">
              <a:solidFill>
                <a:srgbClr val="000000"/>
              </a:solidFill>
              <a:effectLst/>
              <a:uFillTx/>
              <a:latin typeface="Arial"/>
            </a:endParaRPr>
          </a:p>
        </p:txBody>
      </p:sp>
      <p:sp>
        <p:nvSpPr>
          <p:cNvPr id="281" name="Text 4"/>
          <p:cNvSpPr/>
          <p:nvPr/>
        </p:nvSpPr>
        <p:spPr>
          <a:xfrm>
            <a:off x="995760" y="226584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#read</a:t>
            </a:r>
            <a:endParaRPr lang="en-US" sz="1200" b="0" u="none" strike="noStrike">
              <a:solidFill>
                <a:srgbClr val="000000"/>
              </a:solidFill>
              <a:effectLst/>
              <a:uFillTx/>
              <a:latin typeface="Arial"/>
            </a:endParaRPr>
          </a:p>
        </p:txBody>
      </p:sp>
      <p:sp>
        <p:nvSpPr>
          <p:cNvPr id="282" name="Text 5"/>
          <p:cNvSpPr/>
          <p:nvPr/>
        </p:nvSpPr>
        <p:spPr>
          <a:xfrm>
            <a:off x="995760" y="254268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Reads files and the editor's problems.</a:t>
            </a:r>
            <a:endParaRPr lang="en-US" sz="1200" b="0" u="none" strike="noStrike">
              <a:solidFill>
                <a:srgbClr val="000000"/>
              </a:solidFill>
              <a:effectLst/>
              <a:uFillTx/>
              <a:latin typeface="Arial"/>
            </a:endParaRPr>
          </a:p>
        </p:txBody>
      </p:sp>
      <p:sp>
        <p:nvSpPr>
          <p:cNvPr id="283" name="Shape 6"/>
          <p:cNvSpPr/>
          <p:nvPr/>
        </p:nvSpPr>
        <p:spPr>
          <a:xfrm>
            <a:off x="349560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84" name="Image 1" descr="Search"/>
          <p:cNvPicPr/>
          <p:nvPr/>
        </p:nvPicPr>
        <p:blipFill>
          <a:blip r:embed="rId2"/>
          <a:stretch/>
        </p:blipFill>
        <p:spPr>
          <a:xfrm>
            <a:off x="3675600" y="1965960"/>
            <a:ext cx="228240" cy="228240"/>
          </a:xfrm>
          <a:prstGeom prst="rect">
            <a:avLst/>
          </a:prstGeom>
          <a:noFill/>
          <a:ln w="0">
            <a:noFill/>
          </a:ln>
        </p:spPr>
      </p:pic>
      <p:sp>
        <p:nvSpPr>
          <p:cNvPr id="285" name="Text 7"/>
          <p:cNvSpPr/>
          <p:nvPr/>
        </p:nvSpPr>
        <p:spPr>
          <a:xfrm>
            <a:off x="4005720" y="1958400"/>
            <a:ext cx="9320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Search</a:t>
            </a:r>
            <a:endParaRPr lang="en-US" sz="1600" b="0" u="none" strike="noStrike">
              <a:solidFill>
                <a:srgbClr val="000000"/>
              </a:solidFill>
              <a:effectLst/>
              <a:uFillTx/>
              <a:latin typeface="Arial"/>
            </a:endParaRPr>
          </a:p>
        </p:txBody>
      </p:sp>
      <p:sp>
        <p:nvSpPr>
          <p:cNvPr id="286" name="Text 8"/>
          <p:cNvSpPr/>
          <p:nvPr/>
        </p:nvSpPr>
        <p:spPr>
          <a:xfrm>
            <a:off x="3675600" y="226584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#search/codebase</a:t>
            </a:r>
            <a:endParaRPr lang="en-US" sz="1200" b="0" u="none" strike="noStrike">
              <a:solidFill>
                <a:srgbClr val="000000"/>
              </a:solidFill>
              <a:effectLst/>
              <a:uFillTx/>
              <a:latin typeface="Arial"/>
            </a:endParaRPr>
          </a:p>
        </p:txBody>
      </p:sp>
      <p:sp>
        <p:nvSpPr>
          <p:cNvPr id="287" name="Text 9"/>
          <p:cNvSpPr/>
          <p:nvPr/>
        </p:nvSpPr>
        <p:spPr>
          <a:xfrm>
            <a:off x="3675600" y="254268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Grep, file search and semantic search.</a:t>
            </a:r>
            <a:endParaRPr lang="en-US" sz="1200" b="0" u="none" strike="noStrike">
              <a:solidFill>
                <a:srgbClr val="000000"/>
              </a:solidFill>
              <a:effectLst/>
              <a:uFillTx/>
              <a:latin typeface="Arial"/>
            </a:endParaRPr>
          </a:p>
        </p:txBody>
      </p:sp>
      <p:sp>
        <p:nvSpPr>
          <p:cNvPr id="288" name="Shape 10"/>
          <p:cNvSpPr/>
          <p:nvPr/>
        </p:nvSpPr>
        <p:spPr>
          <a:xfrm>
            <a:off x="617544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89" name="Image 2" descr="Code"/>
          <p:cNvPicPr/>
          <p:nvPr/>
        </p:nvPicPr>
        <p:blipFill>
          <a:blip r:embed="rId3"/>
          <a:stretch/>
        </p:blipFill>
        <p:spPr>
          <a:xfrm>
            <a:off x="6355080" y="1965960"/>
            <a:ext cx="228240" cy="228240"/>
          </a:xfrm>
          <a:prstGeom prst="rect">
            <a:avLst/>
          </a:prstGeom>
          <a:noFill/>
          <a:ln w="0">
            <a:noFill/>
          </a:ln>
        </p:spPr>
      </p:pic>
      <p:sp>
        <p:nvSpPr>
          <p:cNvPr id="290" name="Text 11"/>
          <p:cNvSpPr/>
          <p:nvPr/>
        </p:nvSpPr>
        <p:spPr>
          <a:xfrm>
            <a:off x="6685560" y="1958400"/>
            <a:ext cx="8395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Edit</a:t>
            </a:r>
            <a:endParaRPr lang="en-US" sz="1600" b="0" u="none" strike="noStrike">
              <a:solidFill>
                <a:srgbClr val="000000"/>
              </a:solidFill>
              <a:effectLst/>
              <a:uFillTx/>
              <a:latin typeface="Arial"/>
            </a:endParaRPr>
          </a:p>
        </p:txBody>
      </p:sp>
      <p:sp>
        <p:nvSpPr>
          <p:cNvPr id="291" name="Text 12"/>
          <p:cNvSpPr/>
          <p:nvPr/>
        </p:nvSpPr>
        <p:spPr>
          <a:xfrm>
            <a:off x="6355080" y="226584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#edit/editFiles</a:t>
            </a:r>
            <a:endParaRPr lang="en-US" sz="1200" b="0" u="none" strike="noStrike">
              <a:solidFill>
                <a:srgbClr val="000000"/>
              </a:solidFill>
              <a:effectLst/>
              <a:uFillTx/>
              <a:latin typeface="Arial"/>
            </a:endParaRPr>
          </a:p>
        </p:txBody>
      </p:sp>
      <p:sp>
        <p:nvSpPr>
          <p:cNvPr id="292" name="Text 13"/>
          <p:cNvSpPr/>
          <p:nvPr/>
        </p:nvSpPr>
        <p:spPr>
          <a:xfrm>
            <a:off x="6355080" y="254268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Creates and modifies files; you see the diff.</a:t>
            </a:r>
            <a:endParaRPr lang="en-US" sz="1200" b="0" u="none" strike="noStrike">
              <a:solidFill>
                <a:srgbClr val="000000"/>
              </a:solidFill>
              <a:effectLst/>
              <a:uFillTx/>
              <a:latin typeface="Arial"/>
            </a:endParaRPr>
          </a:p>
        </p:txBody>
      </p:sp>
      <p:sp>
        <p:nvSpPr>
          <p:cNvPr id="293" name="Shape 14"/>
          <p:cNvSpPr/>
          <p:nvPr/>
        </p:nvSpPr>
        <p:spPr>
          <a:xfrm>
            <a:off x="8854920" y="177840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94" name="Image 3" descr="Play"/>
          <p:cNvPicPr/>
          <p:nvPr/>
        </p:nvPicPr>
        <p:blipFill>
          <a:blip r:embed="rId4"/>
          <a:stretch/>
        </p:blipFill>
        <p:spPr>
          <a:xfrm>
            <a:off x="9034920" y="1965960"/>
            <a:ext cx="228240" cy="228240"/>
          </a:xfrm>
          <a:prstGeom prst="rect">
            <a:avLst/>
          </a:prstGeom>
          <a:noFill/>
          <a:ln w="0">
            <a:noFill/>
          </a:ln>
        </p:spPr>
      </p:pic>
      <p:sp>
        <p:nvSpPr>
          <p:cNvPr id="295" name="Text 15"/>
          <p:cNvSpPr/>
          <p:nvPr/>
        </p:nvSpPr>
        <p:spPr>
          <a:xfrm>
            <a:off x="9365040" y="1958400"/>
            <a:ext cx="10238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Execute</a:t>
            </a:r>
            <a:endParaRPr lang="en-US" sz="1600" b="0" u="none" strike="noStrike">
              <a:solidFill>
                <a:srgbClr val="000000"/>
              </a:solidFill>
              <a:effectLst/>
              <a:uFillTx/>
              <a:latin typeface="Arial"/>
            </a:endParaRPr>
          </a:p>
        </p:txBody>
      </p:sp>
      <p:sp>
        <p:nvSpPr>
          <p:cNvPr id="296" name="Text 16"/>
          <p:cNvSpPr/>
          <p:nvPr/>
        </p:nvSpPr>
        <p:spPr>
          <a:xfrm>
            <a:off x="9034920" y="226584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#execute/runInTerminal</a:t>
            </a:r>
            <a:endParaRPr lang="en-US" sz="1200" b="0" u="none" strike="noStrike">
              <a:solidFill>
                <a:srgbClr val="000000"/>
              </a:solidFill>
              <a:effectLst/>
              <a:uFillTx/>
              <a:latin typeface="Arial"/>
            </a:endParaRPr>
          </a:p>
        </p:txBody>
      </p:sp>
      <p:sp>
        <p:nvSpPr>
          <p:cNvPr id="297" name="Text 17"/>
          <p:cNvSpPr/>
          <p:nvPr/>
        </p:nvSpPr>
        <p:spPr>
          <a:xfrm>
            <a:off x="9034920" y="254268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Runs commands, builds and tests in the terminal.</a:t>
            </a:r>
            <a:endParaRPr lang="en-US" sz="1200" b="0" u="none" strike="noStrike">
              <a:solidFill>
                <a:srgbClr val="000000"/>
              </a:solidFill>
              <a:effectLst/>
              <a:uFillTx/>
              <a:latin typeface="Arial"/>
            </a:endParaRPr>
          </a:p>
        </p:txBody>
      </p:sp>
      <p:sp>
        <p:nvSpPr>
          <p:cNvPr id="298" name="Shape 18"/>
          <p:cNvSpPr/>
          <p:nvPr/>
        </p:nvSpPr>
        <p:spPr>
          <a:xfrm>
            <a:off x="81612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99" name="Image 4" descr="Globe"/>
          <p:cNvPicPr/>
          <p:nvPr/>
        </p:nvPicPr>
        <p:blipFill>
          <a:blip r:embed="rId5"/>
          <a:stretch/>
        </p:blipFill>
        <p:spPr>
          <a:xfrm>
            <a:off x="995760" y="3495240"/>
            <a:ext cx="228240" cy="228240"/>
          </a:xfrm>
          <a:prstGeom prst="rect">
            <a:avLst/>
          </a:prstGeom>
          <a:noFill/>
          <a:ln w="0">
            <a:noFill/>
          </a:ln>
        </p:spPr>
      </p:pic>
      <p:sp>
        <p:nvSpPr>
          <p:cNvPr id="300" name="Text 19"/>
          <p:cNvSpPr/>
          <p:nvPr/>
        </p:nvSpPr>
        <p:spPr>
          <a:xfrm>
            <a:off x="1325880" y="3487680"/>
            <a:ext cx="51300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Web</a:t>
            </a:r>
            <a:endParaRPr lang="en-US" sz="1600" b="0" u="none" strike="noStrike">
              <a:solidFill>
                <a:srgbClr val="000000"/>
              </a:solidFill>
              <a:effectLst/>
              <a:uFillTx/>
              <a:latin typeface="Arial"/>
            </a:endParaRPr>
          </a:p>
        </p:txBody>
      </p:sp>
      <p:sp>
        <p:nvSpPr>
          <p:cNvPr id="301" name="Text 20"/>
          <p:cNvSpPr/>
          <p:nvPr/>
        </p:nvSpPr>
        <p:spPr>
          <a:xfrm>
            <a:off x="995760" y="379512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#web/fetch</a:t>
            </a:r>
            <a:endParaRPr lang="en-US" sz="1200" b="0" u="none" strike="noStrike">
              <a:solidFill>
                <a:srgbClr val="000000"/>
              </a:solidFill>
              <a:effectLst/>
              <a:uFillTx/>
              <a:latin typeface="Arial"/>
            </a:endParaRPr>
          </a:p>
        </p:txBody>
      </p:sp>
      <p:sp>
        <p:nvSpPr>
          <p:cNvPr id="302" name="Text 21"/>
          <p:cNvSpPr/>
          <p:nvPr/>
        </p:nvSpPr>
        <p:spPr>
          <a:xfrm>
            <a:off x="995760" y="407196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Fetches a page: docs, changelog, issue.</a:t>
            </a:r>
            <a:endParaRPr lang="en-US" sz="1200" b="0" u="none" strike="noStrike">
              <a:solidFill>
                <a:srgbClr val="000000"/>
              </a:solidFill>
              <a:effectLst/>
              <a:uFillTx/>
              <a:latin typeface="Arial"/>
            </a:endParaRPr>
          </a:p>
        </p:txBody>
      </p:sp>
      <p:sp>
        <p:nvSpPr>
          <p:cNvPr id="303" name="Shape 22"/>
          <p:cNvSpPr/>
          <p:nvPr/>
        </p:nvSpPr>
        <p:spPr>
          <a:xfrm>
            <a:off x="349560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04" name="Image 5" descr="Activity"/>
          <p:cNvPicPr/>
          <p:nvPr/>
        </p:nvPicPr>
        <p:blipFill>
          <a:blip r:embed="rId6"/>
          <a:stretch/>
        </p:blipFill>
        <p:spPr>
          <a:xfrm>
            <a:off x="3675600" y="3495240"/>
            <a:ext cx="228240" cy="228240"/>
          </a:xfrm>
          <a:prstGeom prst="rect">
            <a:avLst/>
          </a:prstGeom>
          <a:noFill/>
          <a:ln w="0">
            <a:noFill/>
          </a:ln>
        </p:spPr>
      </p:pic>
      <p:sp>
        <p:nvSpPr>
          <p:cNvPr id="305" name="Text 23"/>
          <p:cNvSpPr/>
          <p:nvPr/>
        </p:nvSpPr>
        <p:spPr>
          <a:xfrm>
            <a:off x="4005720" y="3487680"/>
            <a:ext cx="9579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Browser</a:t>
            </a:r>
            <a:endParaRPr lang="en-US" sz="1600" b="0" u="none" strike="noStrike">
              <a:solidFill>
                <a:srgbClr val="000000"/>
              </a:solidFill>
              <a:effectLst/>
              <a:uFillTx/>
              <a:latin typeface="Arial"/>
            </a:endParaRPr>
          </a:p>
        </p:txBody>
      </p:sp>
      <p:sp>
        <p:nvSpPr>
          <p:cNvPr id="306" name="Text 24"/>
          <p:cNvSpPr/>
          <p:nvPr/>
        </p:nvSpPr>
        <p:spPr>
          <a:xfrm>
            <a:off x="3675600" y="379512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#browser</a:t>
            </a:r>
            <a:endParaRPr lang="en-US" sz="1200" b="0" u="none" strike="noStrike">
              <a:solidFill>
                <a:srgbClr val="000000"/>
              </a:solidFill>
              <a:effectLst/>
              <a:uFillTx/>
              <a:latin typeface="Arial"/>
            </a:endParaRPr>
          </a:p>
        </p:txBody>
      </p:sp>
      <p:sp>
        <p:nvSpPr>
          <p:cNvPr id="307" name="Text 25"/>
          <p:cNvSpPr/>
          <p:nvPr/>
        </p:nvSpPr>
        <p:spPr>
          <a:xfrm>
            <a:off x="3675600" y="407196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Browses and tests the app's UI.</a:t>
            </a:r>
            <a:endParaRPr lang="en-US" sz="1200" b="0" u="none" strike="noStrike">
              <a:solidFill>
                <a:srgbClr val="000000"/>
              </a:solidFill>
              <a:effectLst/>
              <a:uFillTx/>
              <a:latin typeface="Arial"/>
            </a:endParaRPr>
          </a:p>
        </p:txBody>
      </p:sp>
      <p:sp>
        <p:nvSpPr>
          <p:cNvPr id="308" name="Shape 26"/>
          <p:cNvSpPr/>
          <p:nvPr/>
        </p:nvSpPr>
        <p:spPr>
          <a:xfrm>
            <a:off x="617544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09" name="Image 6" descr="Users"/>
          <p:cNvPicPr/>
          <p:nvPr/>
        </p:nvPicPr>
        <p:blipFill>
          <a:blip r:embed="rId7"/>
          <a:stretch/>
        </p:blipFill>
        <p:spPr>
          <a:xfrm>
            <a:off x="6355080" y="3495240"/>
            <a:ext cx="228240" cy="228240"/>
          </a:xfrm>
          <a:prstGeom prst="rect">
            <a:avLst/>
          </a:prstGeom>
          <a:noFill/>
          <a:ln w="0">
            <a:noFill/>
          </a:ln>
        </p:spPr>
      </p:pic>
      <p:sp>
        <p:nvSpPr>
          <p:cNvPr id="310" name="Text 27"/>
          <p:cNvSpPr/>
          <p:nvPr/>
        </p:nvSpPr>
        <p:spPr>
          <a:xfrm>
            <a:off x="6685560" y="3487680"/>
            <a:ext cx="12142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Subagents</a:t>
            </a:r>
            <a:endParaRPr lang="en-US" sz="1600" b="0" u="none" strike="noStrike">
              <a:solidFill>
                <a:srgbClr val="000000"/>
              </a:solidFill>
              <a:effectLst/>
              <a:uFillTx/>
              <a:latin typeface="Arial"/>
            </a:endParaRPr>
          </a:p>
        </p:txBody>
      </p:sp>
      <p:sp>
        <p:nvSpPr>
          <p:cNvPr id="311" name="Text 28"/>
          <p:cNvSpPr/>
          <p:nvPr/>
        </p:nvSpPr>
        <p:spPr>
          <a:xfrm>
            <a:off x="6355080" y="3795120"/>
            <a:ext cx="22255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#agent/runSubagent</a:t>
            </a:r>
            <a:endParaRPr lang="en-US" sz="1200" b="0" u="none" strike="noStrike">
              <a:solidFill>
                <a:srgbClr val="000000"/>
              </a:solidFill>
              <a:effectLst/>
              <a:uFillTx/>
              <a:latin typeface="Arial"/>
            </a:endParaRPr>
          </a:p>
        </p:txBody>
      </p:sp>
      <p:sp>
        <p:nvSpPr>
          <p:cNvPr id="312" name="Text 29"/>
          <p:cNvSpPr/>
          <p:nvPr/>
        </p:nvSpPr>
        <p:spPr>
          <a:xfrm>
            <a:off x="6355080" y="4071960"/>
            <a:ext cx="2225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Delegates a subtask to a fresh context.</a:t>
            </a:r>
            <a:endParaRPr lang="en-US" sz="1200" b="0" u="none" strike="noStrike">
              <a:solidFill>
                <a:srgbClr val="000000"/>
              </a:solidFill>
              <a:effectLst/>
              <a:uFillTx/>
              <a:latin typeface="Arial"/>
            </a:endParaRPr>
          </a:p>
        </p:txBody>
      </p:sp>
      <p:sp>
        <p:nvSpPr>
          <p:cNvPr id="313" name="Shape 30"/>
          <p:cNvSpPr/>
          <p:nvPr/>
        </p:nvSpPr>
        <p:spPr>
          <a:xfrm>
            <a:off x="8854920" y="3307680"/>
            <a:ext cx="2520720" cy="137016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14" name="Image 7" descr="Link"/>
          <p:cNvPicPr/>
          <p:nvPr/>
        </p:nvPicPr>
        <p:blipFill>
          <a:blip r:embed="rId8"/>
          <a:stretch/>
        </p:blipFill>
        <p:spPr>
          <a:xfrm>
            <a:off x="9034920" y="3495240"/>
            <a:ext cx="228240" cy="228240"/>
          </a:xfrm>
          <a:prstGeom prst="rect">
            <a:avLst/>
          </a:prstGeom>
          <a:noFill/>
          <a:ln w="0">
            <a:noFill/>
          </a:ln>
        </p:spPr>
      </p:pic>
      <p:sp>
        <p:nvSpPr>
          <p:cNvPr id="315" name="Text 31"/>
          <p:cNvSpPr/>
          <p:nvPr/>
        </p:nvSpPr>
        <p:spPr>
          <a:xfrm>
            <a:off x="9365040" y="3487680"/>
            <a:ext cx="5176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MCP</a:t>
            </a:r>
            <a:endParaRPr lang="en-US" sz="1600" b="0" u="none" strike="noStrike">
              <a:solidFill>
                <a:srgbClr val="000000"/>
              </a:solidFill>
              <a:effectLst/>
              <a:uFillTx/>
              <a:latin typeface="Arial"/>
            </a:endParaRPr>
          </a:p>
        </p:txBody>
      </p:sp>
      <p:sp>
        <p:nvSpPr>
          <p:cNvPr id="316" name="Text 32"/>
          <p:cNvSpPr/>
          <p:nvPr/>
        </p:nvSpPr>
        <p:spPr>
          <a:xfrm>
            <a:off x="9034920" y="3795120"/>
            <a:ext cx="22258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JetBrains Mono"/>
                <a:ea typeface="JetBrains Mono"/>
              </a:rPr>
              <a:t>GitHub · Jira · DB</a:t>
            </a:r>
            <a:endParaRPr lang="en-US" sz="1200" b="0" u="none" strike="noStrike">
              <a:solidFill>
                <a:srgbClr val="000000"/>
              </a:solidFill>
              <a:effectLst/>
              <a:uFillTx/>
              <a:latin typeface="Arial"/>
            </a:endParaRPr>
          </a:p>
        </p:txBody>
      </p:sp>
      <p:sp>
        <p:nvSpPr>
          <p:cNvPr id="317" name="Text 33"/>
          <p:cNvSpPr/>
          <p:nvPr/>
        </p:nvSpPr>
        <p:spPr>
          <a:xfrm>
            <a:off x="9034920" y="4071960"/>
            <a:ext cx="22258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External tools via the Model Context Protocol.</a:t>
            </a:r>
            <a:endParaRPr lang="en-US" sz="1200" b="0" u="none" strike="noStrike">
              <a:solidFill>
                <a:srgbClr val="000000"/>
              </a:solidFill>
              <a:effectLst/>
              <a:uFillTx/>
              <a:latin typeface="Arial"/>
            </a:endParaRPr>
          </a:p>
        </p:txBody>
      </p:sp>
      <p:sp>
        <p:nvSpPr>
          <p:cNvPr id="318" name="Text 34"/>
          <p:cNvSpPr/>
          <p:nvPr/>
        </p:nvSpPr>
        <p:spPr>
          <a:xfrm>
            <a:off x="812880" y="493560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Copilot CLI has equivalents: view, edit, create, bash/powershell, grep, glob, web_fetch, task (subagent) + MCP.</a:t>
            </a:r>
            <a:endParaRPr lang="en-US" sz="1200" b="0" u="none" strike="noStrike">
              <a:solidFill>
                <a:srgbClr val="000000"/>
              </a:solidFill>
              <a:effectLst/>
              <a:uFillTx/>
              <a:latin typeface="Arial"/>
            </a:endParaRPr>
          </a:p>
        </p:txBody>
      </p:sp>
      <p:sp>
        <p:nvSpPr>
          <p:cNvPr id="319" name="Text 3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320" name="Text 3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08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4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06 · SKILLS</a:t>
            </a:r>
            <a:endParaRPr lang="en-US" sz="1200" b="0" u="none" strike="noStrike">
              <a:solidFill>
                <a:srgbClr val="000000"/>
              </a:solidFill>
              <a:effectLst/>
              <a:uFillTx/>
              <a:latin typeface="Arial"/>
            </a:endParaRPr>
          </a:p>
        </p:txBody>
      </p:sp>
      <p:sp>
        <p:nvSpPr>
          <p:cNvPr id="34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What a skill is</a:t>
            </a:r>
            <a:endParaRPr lang="en-US" sz="3000" b="0" u="none" strike="noStrike">
              <a:solidFill>
                <a:schemeClr val="dk1"/>
              </a:solidFill>
              <a:effectLst/>
              <a:uFillTx/>
              <a:latin typeface="IBM Plex Sans"/>
            </a:endParaRPr>
          </a:p>
        </p:txBody>
      </p:sp>
      <p:sp>
        <p:nvSpPr>
          <p:cNvPr id="350" name="Text 2"/>
          <p:cNvSpPr/>
          <p:nvPr/>
        </p:nvSpPr>
        <p:spPr>
          <a:xfrm>
            <a:off x="812880" y="1775520"/>
            <a:ext cx="599076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A </a:t>
            </a:r>
            <a:r>
              <a:rPr lang="en-US" sz="1400" b="1" u="none" strike="noStrike">
                <a:solidFill>
                  <a:srgbClr val="444C5C"/>
                </a:solidFill>
                <a:effectLst/>
                <a:uFillTx/>
                <a:latin typeface="IBM Plex Sans"/>
                <a:ea typeface="IBM Plex Sans"/>
              </a:rPr>
              <a:t>folder</a:t>
            </a:r>
            <a:r>
              <a:rPr lang="en-US" sz="1400" b="0" u="none" strike="noStrike">
                <a:solidFill>
                  <a:srgbClr val="444C5C"/>
                </a:solidFill>
                <a:effectLst/>
                <a:uFillTx/>
                <a:latin typeface="IBM Plex Sans"/>
                <a:ea typeface="IBM Plex Sans"/>
              </a:rPr>
              <a:t> with a </a:t>
            </a:r>
            <a:r>
              <a:rPr lang="en-US" sz="1400" b="0" u="none" strike="noStrike">
                <a:solidFill>
                  <a:srgbClr val="2B5E96"/>
                </a:solidFill>
                <a:effectLst/>
                <a:uFillTx/>
                <a:latin typeface="IBM Plex Sans"/>
                <a:ea typeface="IBM Plex Sans"/>
              </a:rPr>
              <a:t>SKILL.md</a:t>
            </a:r>
            <a:r>
              <a:rPr lang="en-US" sz="1400" b="0" u="none" strike="noStrike">
                <a:solidFill>
                  <a:srgbClr val="444C5C"/>
                </a:solidFill>
                <a:effectLst/>
                <a:uFillTx/>
                <a:latin typeface="IBM Plex Sans"/>
                <a:ea typeface="IBM Plex Sans"/>
              </a:rPr>
              <a:t> file (name, description, instructions) and, optionally, scripts and reference documents. Open standard: agentskills.io.</a:t>
            </a:r>
            <a:endParaRPr lang="en-US" sz="1400" b="0" u="none" strike="noStrike">
              <a:solidFill>
                <a:srgbClr val="000000"/>
              </a:solidFill>
              <a:effectLst/>
              <a:uFillTx/>
              <a:latin typeface="Arial"/>
            </a:endParaRPr>
          </a:p>
        </p:txBody>
      </p:sp>
      <p:sp>
        <p:nvSpPr>
          <p:cNvPr id="351" name="Text 3"/>
          <p:cNvSpPr/>
          <p:nvPr/>
        </p:nvSpPr>
        <p:spPr>
          <a:xfrm>
            <a:off x="812880" y="2649240"/>
            <a:ext cx="5816160" cy="1630080"/>
          </a:xfrm>
          <a:prstGeom prst="roundRect">
            <a:avLst>
              <a:gd name="adj" fmla="val 6232"/>
            </a:avLst>
          </a:prstGeom>
          <a:solidFill>
            <a:srgbClr val="131A2A"/>
          </a:solidFill>
          <a:ln w="0">
            <a:noFill/>
          </a:ln>
        </p:spPr>
        <p:style>
          <a:lnRef idx="0"/>
          <a:fillRef idx="0"/>
          <a:effectRef idx="0"/>
          <a:fontRef idx="minor"/>
        </p:style>
        <p:txBody>
          <a:bodyPr wrap="none" lIns="173520" tIns="122760" rIns="1116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.github/skills/create-migration/</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SKILL.md        </a:t>
            </a:r>
            <a:r>
              <a:rPr lang="en-US" sz="1200" b="0" u="none" strike="noStrike">
                <a:solidFill>
                  <a:srgbClr val="8A93A6"/>
                </a:solidFill>
                <a:effectLst/>
                <a:uFillTx/>
                <a:latin typeface="JetBrains Mono"/>
                <a:ea typeface="JetBrains Mono"/>
              </a:rPr>
              <a:t>  # name, description, steps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references/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conventions.md</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scripts/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new-migration.sh</a:t>
            </a:r>
            <a:endParaRPr lang="en-US" sz="1200" b="0" u="none" strike="noStrike">
              <a:solidFill>
                <a:srgbClr val="FFFFFF"/>
              </a:solidFill>
              <a:effectLst/>
              <a:uFillTx/>
              <a:latin typeface="Arial"/>
            </a:endParaRPr>
          </a:p>
        </p:txBody>
      </p:sp>
      <p:sp>
        <p:nvSpPr>
          <p:cNvPr id="352" name="Text 4"/>
          <p:cNvSpPr/>
          <p:nvPr/>
        </p:nvSpPr>
        <p:spPr>
          <a:xfrm>
            <a:off x="812880" y="4406400"/>
            <a:ext cx="59907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444C5C"/>
                </a:solidFill>
                <a:effectLst/>
                <a:uFillTx/>
                <a:latin typeface="IBM Plex Sans"/>
                <a:ea typeface="IBM Plex Sans"/>
              </a:rPr>
              <a:t>Where:</a:t>
            </a:r>
            <a:r>
              <a:rPr lang="en-US" sz="1200" b="0" u="none" strike="noStrike">
                <a:solidFill>
                  <a:srgbClr val="444C5C"/>
                </a:solidFill>
                <a:effectLst/>
                <a:uFillTx/>
                <a:latin typeface="IBM Plex Sans"/>
                <a:ea typeface="IBM Plex Sans"/>
              </a:rPr>
              <a:t> </a:t>
            </a:r>
            <a:r>
              <a:rPr lang="en-US" sz="1200" b="0" u="none" strike="noStrike">
                <a:solidFill>
                  <a:srgbClr val="2B5E96"/>
                </a:solidFill>
                <a:effectLst/>
                <a:uFillTx/>
                <a:latin typeface="IBM Plex Sans"/>
                <a:ea typeface="IBM Plex Sans"/>
              </a:rPr>
              <a:t>.github/skills/</a:t>
            </a:r>
            <a:r>
              <a:rPr lang="en-US" sz="1200" b="0" u="none" strike="noStrike">
                <a:solidFill>
                  <a:srgbClr val="444C5C"/>
                </a:solidFill>
                <a:effectLst/>
                <a:uFillTx/>
                <a:latin typeface="IBM Plex Sans"/>
                <a:ea typeface="IBM Plex Sans"/>
              </a:rPr>
              <a:t>, </a:t>
            </a:r>
            <a:r>
              <a:rPr lang="en-US" sz="1200" b="0" u="none" strike="noStrike">
                <a:solidFill>
                  <a:srgbClr val="2B5E96"/>
                </a:solidFill>
                <a:effectLst/>
                <a:uFillTx/>
                <a:latin typeface="IBM Plex Sans"/>
                <a:ea typeface="IBM Plex Sans"/>
              </a:rPr>
              <a:t>.agents/skills/</a:t>
            </a:r>
            <a:r>
              <a:rPr lang="en-US" sz="1200" b="0" u="none" strike="noStrike">
                <a:solidFill>
                  <a:srgbClr val="444C5C"/>
                </a:solidFill>
                <a:effectLst/>
                <a:uFillTx/>
                <a:latin typeface="IBM Plex Sans"/>
                <a:ea typeface="IBM Plex Sans"/>
              </a:rPr>
              <a:t>, </a:t>
            </a:r>
            <a:r>
              <a:rPr lang="en-US" sz="1200" b="0" u="none" strike="noStrike">
                <a:solidFill>
                  <a:srgbClr val="2B5E96"/>
                </a:solidFill>
                <a:effectLst/>
                <a:uFillTx/>
                <a:latin typeface="IBM Plex Sans"/>
                <a:ea typeface="IBM Plex Sans"/>
              </a:rPr>
              <a:t>.claude/skills/</a:t>
            </a:r>
            <a:r>
              <a:rPr lang="en-US" sz="1200" b="0" u="none" strike="noStrike">
                <a:solidFill>
                  <a:srgbClr val="444C5C"/>
                </a:solidFill>
                <a:effectLst/>
                <a:uFillTx/>
                <a:latin typeface="IBM Plex Sans"/>
                <a:ea typeface="IBM Plex Sans"/>
              </a:rPr>
              <a:t> (project) · </a:t>
            </a:r>
            <a:r>
              <a:rPr lang="en-US" sz="1200" b="0" u="none" strike="noStrike">
                <a:solidFill>
                  <a:srgbClr val="2B5E96"/>
                </a:solidFill>
                <a:effectLst/>
                <a:uFillTx/>
                <a:latin typeface="IBM Plex Sans"/>
                <a:ea typeface="IBM Plex Sans"/>
              </a:rPr>
              <a:t>~/.copilot/skills/</a:t>
            </a:r>
            <a:r>
              <a:rPr lang="en-US" sz="1200" b="0" u="none" strike="noStrike">
                <a:solidFill>
                  <a:srgbClr val="444C5C"/>
                </a:solidFill>
                <a:effectLst/>
                <a:uFillTx/>
                <a:latin typeface="IBM Plex Sans"/>
                <a:ea typeface="IBM Plex Sans"/>
              </a:rPr>
              <a:t> (personal). They work in VS Code, Copilot CLI and the cloud agent.</a:t>
            </a:r>
            <a:endParaRPr lang="en-US" sz="1200" b="0" u="none" strike="noStrike">
              <a:solidFill>
                <a:srgbClr val="000000"/>
              </a:solidFill>
              <a:effectLst/>
              <a:uFillTx/>
              <a:latin typeface="Arial"/>
            </a:endParaRPr>
          </a:p>
        </p:txBody>
      </p:sp>
      <p:sp>
        <p:nvSpPr>
          <p:cNvPr id="353" name="Text 5"/>
          <p:cNvSpPr/>
          <p:nvPr/>
        </p:nvSpPr>
        <p:spPr>
          <a:xfrm>
            <a:off x="6934320" y="1775520"/>
            <a:ext cx="457812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Progressive disclosure</a:t>
            </a:r>
            <a:endParaRPr lang="en-US" sz="1400" b="0" u="none" strike="noStrike">
              <a:solidFill>
                <a:srgbClr val="000000"/>
              </a:solidFill>
              <a:effectLst/>
              <a:uFillTx/>
              <a:latin typeface="Arial"/>
            </a:endParaRPr>
          </a:p>
        </p:txBody>
      </p:sp>
      <p:sp>
        <p:nvSpPr>
          <p:cNvPr id="354" name="Shape 6"/>
          <p:cNvSpPr/>
          <p:nvPr/>
        </p:nvSpPr>
        <p:spPr>
          <a:xfrm>
            <a:off x="6934320" y="2125800"/>
            <a:ext cx="4444560" cy="766800"/>
          </a:xfrm>
          <a:prstGeom prst="roundRect">
            <a:avLst>
              <a:gd name="adj" fmla="val 13246"/>
            </a:avLst>
          </a:prstGeom>
          <a:solidFill>
            <a:srgbClr val="DCE8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5" name="Text 7"/>
          <p:cNvSpPr/>
          <p:nvPr/>
        </p:nvSpPr>
        <p:spPr>
          <a:xfrm>
            <a:off x="7112160" y="2252880"/>
            <a:ext cx="4211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1</a:t>
            </a:r>
            <a:r>
              <a:rPr lang="en-US" sz="1400" b="0" u="none" strike="noStrike">
                <a:solidFill>
                  <a:srgbClr val="131A2A"/>
                </a:solidFill>
                <a:effectLst/>
                <a:uFillTx/>
                <a:latin typeface="IBM Plex Sans"/>
                <a:ea typeface="IBM Plex Sans"/>
              </a:rPr>
              <a:t> · always in context</a:t>
            </a:r>
            <a:endParaRPr lang="en-US" sz="1400" b="0" u="none" strike="noStrike">
              <a:solidFill>
                <a:srgbClr val="000000"/>
              </a:solidFill>
              <a:effectLst/>
              <a:uFillTx/>
              <a:latin typeface="Arial"/>
            </a:endParaRPr>
          </a:p>
        </p:txBody>
      </p:sp>
      <p:sp>
        <p:nvSpPr>
          <p:cNvPr id="356" name="Text 8"/>
          <p:cNvSpPr/>
          <p:nvPr/>
        </p:nvSpPr>
        <p:spPr>
          <a:xfrm>
            <a:off x="7112160" y="2552400"/>
            <a:ext cx="42116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Only </a:t>
            </a:r>
            <a:r>
              <a:rPr lang="en-US" sz="1200" b="1" u="none" strike="noStrike">
                <a:solidFill>
                  <a:srgbClr val="444C5C"/>
                </a:solidFill>
                <a:effectLst/>
                <a:uFillTx/>
                <a:latin typeface="IBM Plex Sans"/>
                <a:ea typeface="IBM Plex Sans"/>
              </a:rPr>
              <a:t>name + description</a:t>
            </a:r>
            <a:r>
              <a:rPr lang="en-US" sz="1200" b="0" u="none" strike="noStrike">
                <a:solidFill>
                  <a:srgbClr val="444C5C"/>
                </a:solidFill>
                <a:effectLst/>
                <a:uFillTx/>
                <a:latin typeface="IBM Plex Sans"/>
                <a:ea typeface="IBM Plex Sans"/>
              </a:rPr>
              <a:t> — a few dozen tokens per skill.</a:t>
            </a:r>
            <a:endParaRPr lang="en-US" sz="1200" b="0" u="none" strike="noStrike">
              <a:solidFill>
                <a:srgbClr val="000000"/>
              </a:solidFill>
              <a:effectLst/>
              <a:uFillTx/>
              <a:latin typeface="Arial"/>
            </a:endParaRPr>
          </a:p>
        </p:txBody>
      </p:sp>
      <p:sp>
        <p:nvSpPr>
          <p:cNvPr id="357" name="Shape 9"/>
          <p:cNvSpPr/>
          <p:nvPr/>
        </p:nvSpPr>
        <p:spPr>
          <a:xfrm>
            <a:off x="6934320" y="2994480"/>
            <a:ext cx="4444560" cy="979920"/>
          </a:xfrm>
          <a:prstGeom prst="roundRect">
            <a:avLst>
              <a:gd name="adj" fmla="val 10364"/>
            </a:avLst>
          </a:prstGeom>
          <a:solidFill>
            <a:srgbClr val="FBF9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8" name="Text 10"/>
          <p:cNvSpPr/>
          <p:nvPr/>
        </p:nvSpPr>
        <p:spPr>
          <a:xfrm>
            <a:off x="7112160" y="3121560"/>
            <a:ext cx="4211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2</a:t>
            </a:r>
            <a:r>
              <a:rPr lang="en-US" sz="1400" b="0" u="none" strike="noStrike">
                <a:solidFill>
                  <a:srgbClr val="131A2A"/>
                </a:solidFill>
                <a:effectLst/>
                <a:uFillTx/>
                <a:latin typeface="IBM Plex Sans"/>
                <a:ea typeface="IBM Plex Sans"/>
              </a:rPr>
              <a:t> · when the task matches</a:t>
            </a:r>
            <a:endParaRPr lang="en-US" sz="1400" b="0" u="none" strike="noStrike">
              <a:solidFill>
                <a:srgbClr val="000000"/>
              </a:solidFill>
              <a:effectLst/>
              <a:uFillTx/>
              <a:latin typeface="Arial"/>
            </a:endParaRPr>
          </a:p>
        </p:txBody>
      </p:sp>
      <p:sp>
        <p:nvSpPr>
          <p:cNvPr id="359" name="Text 11"/>
          <p:cNvSpPr/>
          <p:nvPr/>
        </p:nvSpPr>
        <p:spPr>
          <a:xfrm>
            <a:off x="7112160" y="3421080"/>
            <a:ext cx="42116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agent loads the body of </a:t>
            </a:r>
            <a:r>
              <a:rPr lang="en-US" sz="1200" b="1" u="none" strike="noStrike">
                <a:solidFill>
                  <a:srgbClr val="444C5C"/>
                </a:solidFill>
                <a:effectLst/>
                <a:uFillTx/>
                <a:latin typeface="IBM Plex Sans"/>
                <a:ea typeface="IBM Plex Sans"/>
              </a:rPr>
              <a:t>SKILL.md</a:t>
            </a:r>
            <a:r>
              <a:rPr lang="en-US" sz="1200" b="0" u="none" strike="noStrike">
                <a:solidFill>
                  <a:srgbClr val="444C5C"/>
                </a:solidFill>
                <a:effectLst/>
                <a:uFillTx/>
                <a:latin typeface="IBM Plex Sans"/>
                <a:ea typeface="IBM Plex Sans"/>
              </a:rPr>
              <a:t>. Or you </a:t>
            </a:r>
            <a:r>
              <a:rPr lang="en-US" sz="1200" b="0" u="none" strike="noStrike">
                <a:solidFill>
                  <a:srgbClr val="444C5C"/>
                </a:solidFill>
                <a:effectLst/>
                <a:uFillTx/>
                <a:latin typeface="IBM Plex Sans"/>
                <a:ea typeface="IBM Plex Sans"/>
              </a:rPr>
              <a:t>call it yourself: </a:t>
            </a:r>
            <a:r>
              <a:rPr lang="en-US" sz="1200" b="0" u="none" strike="noStrike">
                <a:solidFill>
                  <a:srgbClr val="2B5E96"/>
                </a:solidFill>
                <a:effectLst/>
                <a:uFillTx/>
                <a:latin typeface="IBM Plex Sans"/>
                <a:ea typeface="IBM Plex Sans"/>
              </a:rPr>
              <a:t>/create-</a:t>
            </a:r>
            <a:r>
              <a:rPr lang="en-US" sz="1200" b="0" u="none" strike="noStrike">
                <a:solidFill>
                  <a:srgbClr val="2B5E96"/>
                </a:solidFill>
                <a:effectLst/>
                <a:uFillTx/>
                <a:latin typeface="IBM Plex Sans"/>
                <a:ea typeface="IBM Plex Sans"/>
              </a:rPr>
              <a:t>migration</a:t>
            </a:r>
            <a:r>
              <a:rPr lang="en-US" sz="1200" b="0" u="none" strike="noStrike">
                <a:solidFill>
                  <a:srgbClr val="444C5C"/>
                </a:solidFill>
                <a:effectLst/>
                <a:uFillTx/>
                <a:latin typeface="IBM Plex Sans"/>
                <a:ea typeface="IBM Plex Sans"/>
              </a:rPr>
              <a:t>.</a:t>
            </a:r>
            <a:endParaRPr lang="en-US" sz="1200" b="0" u="none" strike="noStrike">
              <a:solidFill>
                <a:srgbClr val="000000"/>
              </a:solidFill>
              <a:effectLst/>
              <a:uFillTx/>
              <a:latin typeface="Arial"/>
            </a:endParaRPr>
          </a:p>
        </p:txBody>
      </p:sp>
      <p:sp>
        <p:nvSpPr>
          <p:cNvPr id="360" name="Shape 12"/>
          <p:cNvSpPr/>
          <p:nvPr/>
        </p:nvSpPr>
        <p:spPr>
          <a:xfrm>
            <a:off x="6934320" y="4076280"/>
            <a:ext cx="4444560" cy="979920"/>
          </a:xfrm>
          <a:prstGeom prst="roundRect">
            <a:avLst>
              <a:gd name="adj" fmla="val 10364"/>
            </a:avLst>
          </a:prstGeom>
          <a:solidFill>
            <a:srgbClr val="F6E3D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1" name="Text 13"/>
          <p:cNvSpPr/>
          <p:nvPr/>
        </p:nvSpPr>
        <p:spPr>
          <a:xfrm>
            <a:off x="7112160" y="4203360"/>
            <a:ext cx="421164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131A2A"/>
                </a:solidFill>
                <a:effectLst/>
                <a:uFillTx/>
                <a:latin typeface="IBM Plex Sans"/>
                <a:ea typeface="IBM Plex Sans"/>
              </a:rPr>
              <a:t>3</a:t>
            </a:r>
            <a:r>
              <a:rPr lang="en-US" sz="1400" b="0" u="none" strike="noStrike">
                <a:solidFill>
                  <a:srgbClr val="131A2A"/>
                </a:solidFill>
                <a:effectLst/>
                <a:uFillTx/>
                <a:latin typeface="IBM Plex Sans"/>
                <a:ea typeface="IBM Plex Sans"/>
              </a:rPr>
              <a:t> · only when needed</a:t>
            </a:r>
            <a:endParaRPr lang="en-US" sz="1400" b="0" u="none" strike="noStrike">
              <a:solidFill>
                <a:srgbClr val="000000"/>
              </a:solidFill>
              <a:effectLst/>
              <a:uFillTx/>
              <a:latin typeface="Arial"/>
            </a:endParaRPr>
          </a:p>
        </p:txBody>
      </p:sp>
      <p:sp>
        <p:nvSpPr>
          <p:cNvPr id="362" name="Text 14"/>
          <p:cNvSpPr/>
          <p:nvPr/>
        </p:nvSpPr>
        <p:spPr>
          <a:xfrm>
            <a:off x="7112160" y="4502880"/>
            <a:ext cx="42116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444C5C"/>
                </a:solidFill>
                <a:effectLst/>
                <a:uFillTx/>
                <a:latin typeface="IBM Plex Sans"/>
                <a:ea typeface="IBM Plex Sans"/>
              </a:rPr>
              <a:t>references/</a:t>
            </a:r>
            <a:r>
              <a:rPr lang="en-US" sz="1200" b="0" u="none" strike="noStrike">
                <a:solidFill>
                  <a:srgbClr val="444C5C"/>
                </a:solidFill>
                <a:effectLst/>
                <a:uFillTx/>
                <a:latin typeface="IBM Plex Sans"/>
                <a:ea typeface="IBM Plex Sans"/>
              </a:rPr>
              <a:t> are read as needed; </a:t>
            </a:r>
            <a:r>
              <a:rPr lang="en-US" sz="1200" b="1" u="none" strike="noStrike">
                <a:solidFill>
                  <a:srgbClr val="444C5C"/>
                </a:solidFill>
                <a:effectLst/>
                <a:uFillTx/>
                <a:latin typeface="IBM Plex Sans"/>
                <a:ea typeface="IBM Plex Sans"/>
              </a:rPr>
              <a:t>scripts/</a:t>
            </a:r>
            <a:r>
              <a:rPr lang="en-US" sz="1200" b="0" u="none" strike="noStrike">
                <a:solidFill>
                  <a:srgbClr val="444C5C"/>
                </a:solidFill>
                <a:effectLst/>
                <a:uFillTx/>
                <a:latin typeface="IBM Plex Sans"/>
                <a:ea typeface="IBM Plex Sans"/>
              </a:rPr>
              <a:t> run without entering the </a:t>
            </a:r>
            <a:r>
              <a:rPr lang="en-US" sz="1200" b="0" u="none" strike="noStrike">
                <a:solidFill>
                  <a:srgbClr val="444C5C"/>
                </a:solidFill>
                <a:effectLst/>
                <a:uFillTx/>
                <a:latin typeface="IBM Plex Sans"/>
                <a:ea typeface="IBM Plex Sans"/>
              </a:rPr>
              <a:t>context.</a:t>
            </a:r>
            <a:endParaRPr lang="en-US" sz="1200" b="0" u="none" strike="noStrike">
              <a:solidFill>
                <a:srgbClr val="000000"/>
              </a:solidFill>
              <a:effectLst/>
              <a:uFillTx/>
              <a:latin typeface="Arial"/>
            </a:endParaRPr>
          </a:p>
        </p:txBody>
      </p:sp>
      <p:sp>
        <p:nvSpPr>
          <p:cNvPr id="363" name="Text 1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364" name="Text 1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09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65"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06 · SKILLS</a:t>
            </a:r>
            <a:endParaRPr lang="en-US" sz="1200" b="0" u="none" strike="noStrike">
              <a:solidFill>
                <a:srgbClr val="000000"/>
              </a:solidFill>
              <a:effectLst/>
              <a:uFillTx/>
              <a:latin typeface="Arial"/>
            </a:endParaRPr>
          </a:p>
        </p:txBody>
      </p:sp>
      <p:sp>
        <p:nvSpPr>
          <p:cNvPr id="366"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Skill vs instructions vs prompt vs agent vs </a:t>
            </a:r>
            <a:r>
              <a:rPr lang="en-US" sz="3000" b="1" u="none" strike="noStrike">
                <a:solidFill>
                  <a:srgbClr val="131A2A"/>
                </a:solidFill>
                <a:effectLst/>
                <a:uFillTx/>
                <a:latin typeface="Space Grotesk"/>
                <a:ea typeface="Space Grotesk"/>
              </a:rPr>
              <a:t>hook</a:t>
            </a:r>
            <a:endParaRPr lang="en-US" sz="3000" b="0" u="none" strike="noStrike">
              <a:solidFill>
                <a:schemeClr val="dk1"/>
              </a:solidFill>
              <a:effectLst/>
              <a:uFillTx/>
              <a:latin typeface="IBM Plex Sans"/>
            </a:endParaRPr>
          </a:p>
        </p:txBody>
      </p:sp>
      <p:sp>
        <p:nvSpPr>
          <p:cNvPr id="367" name="Shape 2"/>
          <p:cNvSpPr/>
          <p:nvPr/>
        </p:nvSpPr>
        <p:spPr>
          <a:xfrm>
            <a:off x="11376000" y="1775160"/>
            <a:ext cx="360" cy="221256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368" name="Shape 3"/>
          <p:cNvSpPr/>
          <p:nvPr/>
        </p:nvSpPr>
        <p:spPr>
          <a:xfrm>
            <a:off x="812520" y="398448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369" name="Table 0"/>
          <p:cNvGraphicFramePr/>
          <p:nvPr/>
        </p:nvGraphicFramePr>
        <p:xfrm>
          <a:off x="823320" y="1785960"/>
          <a:ext cx="10550160" cy="2196360"/>
        </p:xfrm>
        <a:graphic>
          <a:graphicData uri="http://schemas.openxmlformats.org/drawingml/2006/table">
            <a:tbl>
              <a:tblPr/>
              <a:tblGrid>
                <a:gridCol w="1688040"/>
                <a:gridCol w="2742840"/>
                <a:gridCol w="3165120"/>
                <a:gridCol w="295416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Type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File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When it enters the context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Use it for</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Instructions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AGENTS.md · *.instructions.md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always (or by applyTo)</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permanent rules, conventions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Skill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SKILL.md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when the description matches, or </a:t>
                      </a:r>
                      <a:r>
                        <a:rPr lang="en-US" sz="1200" b="1" u="none" strike="noStrike">
                          <a:solidFill>
                            <a:srgbClr val="444C5C"/>
                          </a:solidFill>
                          <a:effectLst/>
                          <a:uFillTx/>
                          <a:latin typeface="IBM Plex Sans"/>
                          <a:ea typeface="IBM Plex Sans"/>
                        </a:rPr>
                        <a:t>/my-skill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repeatable workflows, with steps and scripts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Prompt file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*.prompt.md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only when you run it with </a:t>
                      </a:r>
                      <a:r>
                        <a:rPr lang="en-US" sz="1200" b="1" u="none" strike="noStrike">
                          <a:solidFill>
                            <a:srgbClr val="444C5C"/>
                          </a:solidFill>
                          <a:effectLst/>
                          <a:uFillTx/>
                          <a:latin typeface="IBM Plex Sans"/>
                          <a:ea typeface="IBM Plex Sans"/>
                        </a:rPr>
                        <a:t>/my-skill</a:t>
                      </a:r>
                      <a:r>
                        <a:rPr lang="en-US" sz="1200" b="0" u="none" strike="noStrike">
                          <a:solidFill>
                            <a:srgbClr val="444C5C"/>
                          </a:solidFill>
                          <a:effectLst/>
                          <a:uFillTx/>
                          <a:latin typeface="IBM Plex Sans"/>
                          <a:ea typeface="IBM Plex Sans"/>
                        </a:rPr>
                        <a:t> (VS Code)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 simple, reusable prompt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Custom agent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*.agent.md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when you pick it in the picker or with /agent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 role: its own tools, model and rules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Hook</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.github/hooks/*.json</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on events — deterministic, not through the model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rules that MUST be followed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370" name="Text 4"/>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371" name="Text 5"/>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10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16"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07 · POPULAR SKILLS</a:t>
            </a:r>
            <a:endParaRPr lang="en-US" sz="1200" b="0" u="none" strike="noStrike">
              <a:solidFill>
                <a:srgbClr val="000000"/>
              </a:solidFill>
              <a:effectLst/>
              <a:uFillTx/>
              <a:latin typeface="Arial"/>
            </a:endParaRPr>
          </a:p>
        </p:txBody>
      </p:sp>
      <p:sp>
        <p:nvSpPr>
          <p:cNvPr id="417"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Matt Pocock — mattpocock/skills</a:t>
            </a:r>
            <a:endParaRPr lang="en-US" sz="3000" b="0" u="none" strike="noStrike">
              <a:solidFill>
                <a:schemeClr val="dk1"/>
              </a:solidFill>
              <a:effectLst/>
              <a:uFillTx/>
              <a:latin typeface="IBM Plex Sans"/>
            </a:endParaRPr>
          </a:p>
        </p:txBody>
      </p:sp>
      <p:sp>
        <p:nvSpPr>
          <p:cNvPr id="418" name="Text 2"/>
          <p:cNvSpPr/>
          <p:nvPr/>
        </p:nvSpPr>
        <p:spPr>
          <a:xfrm>
            <a:off x="812880" y="1724400"/>
            <a:ext cx="10883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One of the most installed skill packs. The main flow the author recommends:</a:t>
            </a:r>
            <a:r>
              <a:rPr lang="en-US" sz="1400" b="0"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endParaRPr lang="en-US" sz="1400" b="0" u="none" strike="noStrike">
              <a:solidFill>
                <a:srgbClr val="000000"/>
              </a:solidFill>
              <a:effectLst/>
              <a:uFillTx/>
              <a:latin typeface="Arial"/>
            </a:endParaRPr>
          </a:p>
        </p:txBody>
      </p:sp>
      <p:sp>
        <p:nvSpPr>
          <p:cNvPr id="419" name="Shape 3"/>
          <p:cNvSpPr/>
          <p:nvPr/>
        </p:nvSpPr>
        <p:spPr>
          <a:xfrm>
            <a:off x="816120" y="20574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0" name="Text 4"/>
          <p:cNvSpPr/>
          <p:nvPr/>
        </p:nvSpPr>
        <p:spPr>
          <a:xfrm>
            <a:off x="94500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/grill-with-docs</a:t>
            </a:r>
            <a:endParaRPr lang="en-US" sz="1200" b="0" u="none" strike="noStrike">
              <a:solidFill>
                <a:srgbClr val="000000"/>
              </a:solidFill>
              <a:effectLst/>
              <a:uFillTx/>
              <a:latin typeface="Arial"/>
            </a:endParaRPr>
          </a:p>
        </p:txBody>
      </p:sp>
      <p:sp>
        <p:nvSpPr>
          <p:cNvPr id="421" name="Text 5"/>
          <p:cNvSpPr/>
          <p:nvPr/>
        </p:nvSpPr>
        <p:spPr>
          <a:xfrm>
            <a:off x="945000" y="2572920"/>
            <a:ext cx="1594440" cy="87840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an interview about the idea; keeps CONTEXT.md and ADRs (architectural decision records)</a:t>
            </a:r>
            <a:endParaRPr lang="en-US" sz="1200" b="0" u="none" strike="noStrike">
              <a:solidFill>
                <a:srgbClr val="000000"/>
              </a:solidFill>
              <a:effectLst/>
              <a:uFillTx/>
              <a:latin typeface="Arial"/>
            </a:endParaRPr>
          </a:p>
        </p:txBody>
      </p:sp>
      <p:pic>
        <p:nvPicPr>
          <p:cNvPr id="422" name="Image 0" descr="arrow-right"/>
          <p:cNvPicPr/>
          <p:nvPr/>
        </p:nvPicPr>
        <p:blipFill>
          <a:blip r:embed="rId1"/>
          <a:stretch/>
        </p:blipFill>
        <p:spPr>
          <a:xfrm>
            <a:off x="2697480" y="2791440"/>
            <a:ext cx="228240" cy="151920"/>
          </a:xfrm>
          <a:prstGeom prst="rect">
            <a:avLst/>
          </a:prstGeom>
          <a:noFill/>
          <a:ln w="0">
            <a:noFill/>
          </a:ln>
        </p:spPr>
      </p:pic>
      <p:sp>
        <p:nvSpPr>
          <p:cNvPr id="423" name="Shape 6"/>
          <p:cNvSpPr/>
          <p:nvPr/>
        </p:nvSpPr>
        <p:spPr>
          <a:xfrm>
            <a:off x="300528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4" name="Text 7"/>
          <p:cNvSpPr/>
          <p:nvPr/>
        </p:nvSpPr>
        <p:spPr>
          <a:xfrm>
            <a:off x="313452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/to-spec</a:t>
            </a:r>
            <a:endParaRPr lang="en-US" sz="1200" b="0" u="none" strike="noStrike">
              <a:solidFill>
                <a:srgbClr val="000000"/>
              </a:solidFill>
              <a:effectLst/>
              <a:uFillTx/>
              <a:latin typeface="Arial"/>
            </a:endParaRPr>
          </a:p>
        </p:txBody>
      </p:sp>
      <p:sp>
        <p:nvSpPr>
          <p:cNvPr id="425" name="Text 8"/>
          <p:cNvSpPr/>
          <p:nvPr/>
        </p:nvSpPr>
        <p:spPr>
          <a:xfrm>
            <a:off x="313452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turns the discussion into a specification</a:t>
            </a:r>
            <a:endParaRPr lang="en-US" sz="1200" b="0" u="none" strike="noStrike">
              <a:solidFill>
                <a:srgbClr val="000000"/>
              </a:solidFill>
              <a:effectLst/>
              <a:uFillTx/>
              <a:latin typeface="Arial"/>
            </a:endParaRPr>
          </a:p>
        </p:txBody>
      </p:sp>
      <p:pic>
        <p:nvPicPr>
          <p:cNvPr id="426" name="Image 1" descr="arrow-right"/>
          <p:cNvPicPr/>
          <p:nvPr/>
        </p:nvPicPr>
        <p:blipFill>
          <a:blip r:embed="rId2"/>
          <a:stretch/>
        </p:blipFill>
        <p:spPr>
          <a:xfrm>
            <a:off x="4887000" y="2791440"/>
            <a:ext cx="228240" cy="151920"/>
          </a:xfrm>
          <a:prstGeom prst="rect">
            <a:avLst/>
          </a:prstGeom>
          <a:noFill/>
          <a:ln w="0">
            <a:noFill/>
          </a:ln>
        </p:spPr>
      </p:pic>
      <p:sp>
        <p:nvSpPr>
          <p:cNvPr id="427" name="Shape 9"/>
          <p:cNvSpPr/>
          <p:nvPr/>
        </p:nvSpPr>
        <p:spPr>
          <a:xfrm>
            <a:off x="519480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8" name="Text 10"/>
          <p:cNvSpPr/>
          <p:nvPr/>
        </p:nvSpPr>
        <p:spPr>
          <a:xfrm>
            <a:off x="532404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/to-tickets</a:t>
            </a:r>
            <a:endParaRPr lang="en-US" sz="1200" b="0" u="none" strike="noStrike">
              <a:solidFill>
                <a:srgbClr val="000000"/>
              </a:solidFill>
              <a:effectLst/>
              <a:uFillTx/>
              <a:latin typeface="Arial"/>
            </a:endParaRPr>
          </a:p>
        </p:txBody>
      </p:sp>
      <p:sp>
        <p:nvSpPr>
          <p:cNvPr id="429" name="Text 11"/>
          <p:cNvSpPr/>
          <p:nvPr/>
        </p:nvSpPr>
        <p:spPr>
          <a:xfrm>
            <a:off x="532404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breaks the spec into tickets</a:t>
            </a:r>
            <a:endParaRPr lang="en-US" sz="1200" b="0" u="none" strike="noStrike">
              <a:solidFill>
                <a:srgbClr val="000000"/>
              </a:solidFill>
              <a:effectLst/>
              <a:uFillTx/>
              <a:latin typeface="Arial"/>
            </a:endParaRPr>
          </a:p>
        </p:txBody>
      </p:sp>
      <p:pic>
        <p:nvPicPr>
          <p:cNvPr id="430" name="Image 2" descr="arrow-right"/>
          <p:cNvPicPr/>
          <p:nvPr/>
        </p:nvPicPr>
        <p:blipFill>
          <a:blip r:embed="rId3"/>
          <a:stretch/>
        </p:blipFill>
        <p:spPr>
          <a:xfrm>
            <a:off x="7076520" y="2791440"/>
            <a:ext cx="228240" cy="151920"/>
          </a:xfrm>
          <a:prstGeom prst="rect">
            <a:avLst/>
          </a:prstGeom>
          <a:noFill/>
          <a:ln w="0">
            <a:noFill/>
          </a:ln>
        </p:spPr>
      </p:pic>
      <p:sp>
        <p:nvSpPr>
          <p:cNvPr id="431" name="Shape 12"/>
          <p:cNvSpPr/>
          <p:nvPr/>
        </p:nvSpPr>
        <p:spPr>
          <a:xfrm>
            <a:off x="738432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2" name="Text 13"/>
          <p:cNvSpPr/>
          <p:nvPr/>
        </p:nvSpPr>
        <p:spPr>
          <a:xfrm>
            <a:off x="751356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/implement</a:t>
            </a:r>
            <a:endParaRPr lang="en-US" sz="1200" b="0" u="none" strike="noStrike">
              <a:solidFill>
                <a:srgbClr val="000000"/>
              </a:solidFill>
              <a:effectLst/>
              <a:uFillTx/>
              <a:latin typeface="Arial"/>
            </a:endParaRPr>
          </a:p>
        </p:txBody>
      </p:sp>
      <p:sp>
        <p:nvSpPr>
          <p:cNvPr id="433" name="Text 14"/>
          <p:cNvSpPr/>
          <p:nvPr/>
        </p:nvSpPr>
        <p:spPr>
          <a:xfrm>
            <a:off x="751356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implements, driven by /tdd</a:t>
            </a:r>
            <a:endParaRPr lang="en-US" sz="1200" b="0" u="none" strike="noStrike">
              <a:solidFill>
                <a:srgbClr val="000000"/>
              </a:solidFill>
              <a:effectLst/>
              <a:uFillTx/>
              <a:latin typeface="Arial"/>
            </a:endParaRPr>
          </a:p>
        </p:txBody>
      </p:sp>
      <p:pic>
        <p:nvPicPr>
          <p:cNvPr id="434" name="Image 3" descr="arrow-right"/>
          <p:cNvPicPr/>
          <p:nvPr/>
        </p:nvPicPr>
        <p:blipFill>
          <a:blip r:embed="rId4"/>
          <a:stretch/>
        </p:blipFill>
        <p:spPr>
          <a:xfrm>
            <a:off x="9266040" y="2791440"/>
            <a:ext cx="228240" cy="151920"/>
          </a:xfrm>
          <a:prstGeom prst="rect">
            <a:avLst/>
          </a:prstGeom>
          <a:noFill/>
          <a:ln w="0">
            <a:noFill/>
          </a:ln>
        </p:spPr>
      </p:pic>
      <p:sp>
        <p:nvSpPr>
          <p:cNvPr id="435" name="Shape 15"/>
          <p:cNvSpPr/>
          <p:nvPr/>
        </p:nvSpPr>
        <p:spPr>
          <a:xfrm>
            <a:off x="9573840" y="2179800"/>
            <a:ext cx="1801800" cy="137520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6" name="Text 16"/>
          <p:cNvSpPr/>
          <p:nvPr/>
        </p:nvSpPr>
        <p:spPr>
          <a:xfrm>
            <a:off x="9703080" y="2309040"/>
            <a:ext cx="159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/code-review</a:t>
            </a:r>
            <a:endParaRPr lang="en-US" sz="1200" b="0" u="none" strike="noStrike">
              <a:solidFill>
                <a:srgbClr val="000000"/>
              </a:solidFill>
              <a:effectLst/>
              <a:uFillTx/>
              <a:latin typeface="Arial"/>
            </a:endParaRPr>
          </a:p>
        </p:txBody>
      </p:sp>
      <p:sp>
        <p:nvSpPr>
          <p:cNvPr id="437" name="Text 17"/>
          <p:cNvSpPr/>
          <p:nvPr/>
        </p:nvSpPr>
        <p:spPr>
          <a:xfrm>
            <a:off x="9703080" y="2572920"/>
            <a:ext cx="159444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review before commit</a:t>
            </a:r>
            <a:endParaRPr lang="en-US" sz="1200" b="0" u="none" strike="noStrike">
              <a:solidFill>
                <a:srgbClr val="000000"/>
              </a:solidFill>
              <a:effectLst/>
              <a:uFillTx/>
              <a:latin typeface="Arial"/>
            </a:endParaRPr>
          </a:p>
        </p:txBody>
      </p:sp>
      <p:sp>
        <p:nvSpPr>
          <p:cNvPr id="438" name="Shape 18"/>
          <p:cNvSpPr/>
          <p:nvPr/>
        </p:nvSpPr>
        <p:spPr>
          <a:xfrm>
            <a:off x="816120" y="3764880"/>
            <a:ext cx="3413880" cy="1136520"/>
          </a:xfrm>
          <a:prstGeom prst="roundRect">
            <a:avLst>
              <a:gd name="adj" fmla="val 865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9" name="Text 19"/>
          <p:cNvSpPr/>
          <p:nvPr/>
        </p:nvSpPr>
        <p:spPr>
          <a:xfrm>
            <a:off x="1021320" y="3970440"/>
            <a:ext cx="30934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2B5E96"/>
                </a:solidFill>
                <a:effectLst/>
                <a:uFillTx/>
                <a:latin typeface="JetBrains Mono"/>
                <a:ea typeface="JetBrains Mono"/>
              </a:rPr>
              <a:t>/grill-me</a:t>
            </a:r>
            <a:endParaRPr lang="en-US" sz="1400" b="0" u="none" strike="noStrike">
              <a:solidFill>
                <a:srgbClr val="000000"/>
              </a:solidFill>
              <a:effectLst/>
              <a:uFillTx/>
              <a:latin typeface="Arial"/>
            </a:endParaRPr>
          </a:p>
        </p:txBody>
      </p:sp>
      <p:sp>
        <p:nvSpPr>
          <p:cNvPr id="440" name="Text 20"/>
          <p:cNvSpPr/>
          <p:nvPr/>
        </p:nvSpPr>
        <p:spPr>
          <a:xfrm>
            <a:off x="1021320" y="426996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same interview, for when you have no codebase. It saves nothing locally.</a:t>
            </a:r>
            <a:endParaRPr lang="en-US" sz="1200" b="0" u="none" strike="noStrike">
              <a:solidFill>
                <a:srgbClr val="000000"/>
              </a:solidFill>
              <a:effectLst/>
              <a:uFillTx/>
              <a:latin typeface="Arial"/>
            </a:endParaRPr>
          </a:p>
        </p:txBody>
      </p:sp>
      <p:sp>
        <p:nvSpPr>
          <p:cNvPr id="441" name="Shape 21"/>
          <p:cNvSpPr/>
          <p:nvPr/>
        </p:nvSpPr>
        <p:spPr>
          <a:xfrm>
            <a:off x="4388760" y="3764880"/>
            <a:ext cx="3413880" cy="1136520"/>
          </a:xfrm>
          <a:prstGeom prst="roundRect">
            <a:avLst>
              <a:gd name="adj" fmla="val 865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2" name="Text 22"/>
          <p:cNvSpPr/>
          <p:nvPr/>
        </p:nvSpPr>
        <p:spPr>
          <a:xfrm>
            <a:off x="4594320" y="3970440"/>
            <a:ext cx="309348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2B5E96"/>
                </a:solidFill>
                <a:effectLst/>
                <a:uFillTx/>
                <a:latin typeface="JetBrains Mono"/>
                <a:ea typeface="JetBrains Mono"/>
              </a:rPr>
              <a:t>/ask-matt</a:t>
            </a:r>
            <a:endParaRPr lang="en-US" sz="1400" b="0" u="none" strike="noStrike">
              <a:solidFill>
                <a:srgbClr val="000000"/>
              </a:solidFill>
              <a:effectLst/>
              <a:uFillTx/>
              <a:latin typeface="Arial"/>
            </a:endParaRPr>
          </a:p>
        </p:txBody>
      </p:sp>
      <p:sp>
        <p:nvSpPr>
          <p:cNvPr id="443" name="Text 23"/>
          <p:cNvSpPr/>
          <p:nvPr/>
        </p:nvSpPr>
        <p:spPr>
          <a:xfrm>
            <a:off x="4594320" y="4269960"/>
            <a:ext cx="3205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Helps you pick the right skill from the pack.</a:t>
            </a:r>
            <a:endParaRPr lang="en-US" sz="1200" b="0" u="none" strike="noStrike">
              <a:solidFill>
                <a:srgbClr val="000000"/>
              </a:solidFill>
              <a:effectLst/>
              <a:uFillTx/>
              <a:latin typeface="Arial"/>
            </a:endParaRPr>
          </a:p>
        </p:txBody>
      </p:sp>
      <p:sp>
        <p:nvSpPr>
          <p:cNvPr id="444" name="Text 27"/>
          <p:cNvSpPr/>
          <p:nvPr/>
        </p:nvSpPr>
        <p:spPr>
          <a:xfrm>
            <a:off x="812880" y="5108400"/>
            <a:ext cx="10566000" cy="525240"/>
          </a:xfrm>
          <a:prstGeom prst="roundRect">
            <a:avLst>
              <a:gd name="adj" fmla="val 19327"/>
            </a:avLst>
          </a:prstGeom>
          <a:solidFill>
            <a:srgbClr val="131A2A"/>
          </a:solidFill>
          <a:ln w="0">
            <a:noFill/>
          </a:ln>
        </p:spPr>
        <p:style>
          <a:lnRef idx="0"/>
          <a:fillRef idx="0"/>
          <a:effectRef idx="0"/>
          <a:fontRef idx="minor"/>
        </p:style>
        <p:txBody>
          <a:bodyPr wrap="none" lIns="173520" tIns="122760" rIns="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 npx skills@latest add mattpocock/skills </a:t>
            </a:r>
            <a:endParaRPr lang="en-US" sz="1200" b="0" u="none" strike="noStrike">
              <a:solidFill>
                <a:srgbClr val="FFFFFF"/>
              </a:solidFill>
              <a:effectLst/>
              <a:uFillTx/>
              <a:latin typeface="Arial"/>
            </a:endParaRPr>
          </a:p>
        </p:txBody>
      </p:sp>
      <p:sp>
        <p:nvSpPr>
          <p:cNvPr id="445" name="Text 28"/>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a:t>
            </a:r>
            <a:r>
              <a:rPr lang="en-US" sz="1200" b="0" u="none" strike="noStrike">
                <a:solidFill>
                  <a:srgbClr val="5E6677"/>
                </a:solidFill>
                <a:effectLst/>
                <a:uFillTx/>
                <a:latin typeface="IBM Plex Sans"/>
                <a:ea typeface="IBM Plex Sans"/>
              </a:rPr>
              <a:t>Copilot</a:t>
            </a:r>
            <a:endParaRPr lang="en-US" sz="1200" b="0" u="none" strike="noStrike">
              <a:solidFill>
                <a:srgbClr val="000000"/>
              </a:solidFill>
              <a:effectLst/>
              <a:uFillTx/>
              <a:latin typeface="Arial"/>
            </a:endParaRPr>
          </a:p>
        </p:txBody>
      </p:sp>
      <p:sp>
        <p:nvSpPr>
          <p:cNvPr id="446" name="Text 29"/>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11 / 25</a:t>
            </a:r>
            <a:endParaRPr lang="en-US" sz="1200" b="0" u="none" strike="noStrike">
              <a:solidFill>
                <a:srgbClr val="000000"/>
              </a:solidFill>
              <a:effectLst/>
              <a:uFillTx/>
              <a:latin typeface="Arial"/>
            </a:endParaRPr>
          </a:p>
        </p:txBody>
      </p:sp>
      <p:sp>
        <p:nvSpPr>
          <p:cNvPr id="447" name="Text 38"/>
          <p:cNvSpPr/>
          <p:nvPr/>
        </p:nvSpPr>
        <p:spPr>
          <a:xfrm>
            <a:off x="812880" y="5715000"/>
            <a:ext cx="10566000" cy="525240"/>
          </a:xfrm>
          <a:prstGeom prst="roundRect">
            <a:avLst>
              <a:gd name="adj" fmla="val 19327"/>
            </a:avLst>
          </a:prstGeom>
          <a:solidFill>
            <a:srgbClr val="131A2A"/>
          </a:solidFill>
          <a:ln w="0">
            <a:noFill/>
          </a:ln>
        </p:spPr>
        <p:style>
          <a:lnRef idx="0"/>
          <a:fillRef idx="0"/>
          <a:effectRef idx="0"/>
          <a:fontRef idx="minor"/>
        </p:style>
        <p:txBody>
          <a:bodyPr wrap="none" lIns="173520" tIns="122760" rIns="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 # or add the skill manually to the ~/.agents/skills folder</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4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07 · POPULAR SKILLS</a:t>
            </a:r>
            <a:endParaRPr lang="en-US" sz="1200" b="0" u="none" strike="noStrike">
              <a:solidFill>
                <a:srgbClr val="000000"/>
              </a:solidFill>
              <a:effectLst/>
              <a:uFillTx/>
              <a:latin typeface="Arial"/>
            </a:endParaRPr>
          </a:p>
        </p:txBody>
      </p:sp>
      <p:sp>
        <p:nvSpPr>
          <p:cNvPr id="44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/grill-me: let the agent interrogate you</a:t>
            </a:r>
            <a:endParaRPr lang="en-US" sz="3000" b="0" u="none" strike="noStrike">
              <a:solidFill>
                <a:schemeClr val="dk1"/>
              </a:solidFill>
              <a:effectLst/>
              <a:uFillTx/>
              <a:latin typeface="IBM Plex Sans"/>
            </a:endParaRPr>
          </a:p>
        </p:txBody>
      </p:sp>
      <p:sp>
        <p:nvSpPr>
          <p:cNvPr id="450" name="Shape 2"/>
          <p:cNvSpPr/>
          <p:nvPr/>
        </p:nvSpPr>
        <p:spPr>
          <a:xfrm>
            <a:off x="816120" y="1778400"/>
            <a:ext cx="6419520" cy="2640240"/>
          </a:xfrm>
          <a:prstGeom prst="roundRect">
            <a:avLst>
              <a:gd name="adj" fmla="val 372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1" name="Text 3"/>
          <p:cNvSpPr/>
          <p:nvPr/>
        </p:nvSpPr>
        <p:spPr>
          <a:xfrm>
            <a:off x="1021320" y="1983960"/>
            <a:ext cx="61891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What the skill asks of the agent</a:t>
            </a:r>
            <a:endParaRPr lang="en-US" sz="1600" b="0" u="none" strike="noStrike">
              <a:solidFill>
                <a:srgbClr val="000000"/>
              </a:solidFill>
              <a:effectLst/>
              <a:uFillTx/>
              <a:latin typeface="Arial"/>
            </a:endParaRPr>
          </a:p>
        </p:txBody>
      </p:sp>
      <p:sp>
        <p:nvSpPr>
          <p:cNvPr id="452" name="Text 4"/>
          <p:cNvSpPr/>
          <p:nvPr/>
        </p:nvSpPr>
        <p:spPr>
          <a:xfrm>
            <a:off x="1099440" y="2329200"/>
            <a:ext cx="6103440" cy="1767600"/>
          </a:xfrm>
          <a:prstGeom prst="rect">
            <a:avLst/>
          </a:prstGeom>
          <a:noFill/>
          <a:ln w="0">
            <a:noFill/>
          </a:ln>
        </p:spPr>
        <p:style>
          <a:lnRef idx="0"/>
          <a:fillRef idx="0"/>
          <a:effectRef idx="0"/>
          <a:fontRef idx="minor"/>
        </p:style>
        <p:txBody>
          <a:bodyPr lIns="0" tIns="0" rIns="0" bIns="0" anchor="t">
            <a:normAutofit/>
          </a:bodyPr>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To question you relentlessly about the plan until you reach a </a:t>
            </a:r>
            <a:r>
              <a:rPr lang="en-US" sz="1400" b="1" u="none" strike="noStrike">
                <a:solidFill>
                  <a:srgbClr val="444C5C"/>
                </a:solidFill>
                <a:effectLst/>
                <a:uFillTx/>
                <a:latin typeface="IBM Plex Sans"/>
                <a:ea typeface="IBM Plex Sans"/>
              </a:rPr>
              <a:t>shared understanding</a:t>
            </a:r>
            <a:r>
              <a:rPr lang="en-US" sz="1400" b="0" u="none" strike="noStrike">
                <a:solidFill>
                  <a:srgbClr val="444C5C"/>
                </a:solidFill>
                <a:effectLst/>
                <a:uFillTx/>
                <a:latin typeface="IBM Plex Sans"/>
                <a:ea typeface="IBM Plex Sans"/>
              </a:rPr>
              <a:t>.</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To walk the decision tree branch by branch, resolving dependencies.</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1" u="none" strike="noStrike">
                <a:solidFill>
                  <a:srgbClr val="444C5C"/>
                </a:solidFill>
                <a:effectLst/>
                <a:uFillTx/>
                <a:latin typeface="IBM Plex Sans"/>
                <a:ea typeface="IBM Plex Sans"/>
              </a:rPr>
              <a:t>One question at a time</a:t>
            </a:r>
            <a:r>
              <a:rPr lang="en-US" sz="1400" b="0" u="none" strike="noStrike">
                <a:solidFill>
                  <a:srgbClr val="444C5C"/>
                </a:solidFill>
                <a:effectLst/>
                <a:uFillTx/>
                <a:latin typeface="IBM Plex Sans"/>
                <a:ea typeface="IBM Plex Sans"/>
              </a:rPr>
              <a:t> — and for each one, the answer it recommends. </a:t>
            </a:r>
            <a:r>
              <a:rPr lang="en-US" sz="1200" b="0" u="none" strike="noStrike">
                <a:solidFill>
                  <a:srgbClr val="444C5C"/>
                </a:solidFill>
                <a:effectLst/>
                <a:uFillTx/>
                <a:latin typeface="IBM Plex Sans"/>
                <a:ea typeface="IBM Plex Sans"/>
              </a:rPr>
              <a:t>(</a:t>
            </a:r>
            <a:r>
              <a:rPr lang="en-US" sz="1200" b="0" i="1" u="none" strike="noStrike">
                <a:solidFill>
                  <a:srgbClr val="444C5C"/>
                </a:solidFill>
                <a:effectLst/>
                <a:uFillTx/>
                <a:latin typeface="IBM Plex Sans"/>
                <a:ea typeface="IBM Plex Sans"/>
              </a:rPr>
              <a:t>Note: before V1.2 – you can now get several questions at once</a:t>
            </a:r>
            <a:r>
              <a:rPr lang="en-US" sz="1200" b="0" u="none" strike="noStrike">
                <a:solidFill>
                  <a:srgbClr val="444C5C"/>
                </a:solidFill>
                <a:effectLst/>
                <a:uFillTx/>
                <a:latin typeface="IBM Plex Sans"/>
                <a:ea typeface="IBM Plex Sans"/>
              </a:rPr>
              <a:t>)</a:t>
            </a:r>
            <a:endParaRPr lang="en-US" sz="12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It looks up facts in the code itself; </a:t>
            </a:r>
            <a:r>
              <a:rPr lang="en-US" sz="1400" b="1" u="none" strike="noStrike">
                <a:solidFill>
                  <a:srgbClr val="444C5C"/>
                </a:solidFill>
                <a:effectLst/>
                <a:uFillTx/>
                <a:latin typeface="IBM Plex Sans"/>
                <a:ea typeface="IBM Plex Sans"/>
              </a:rPr>
              <a:t>decisions stay yours</a:t>
            </a:r>
            <a:r>
              <a:rPr lang="en-US" sz="1400" b="0" u="none" strike="noStrike">
                <a:solidFill>
                  <a:srgbClr val="444C5C"/>
                </a:solidFill>
                <a:effectLst/>
                <a:uFillTx/>
                <a:latin typeface="IBM Plex Sans"/>
                <a:ea typeface="IBM Plex Sans"/>
              </a:rPr>
              <a:t>.</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Not to write code until you confirm you're aligned.</a:t>
            </a:r>
            <a:endParaRPr lang="en-US" sz="1400" b="0" u="none" strike="noStrike">
              <a:solidFill>
                <a:srgbClr val="000000"/>
              </a:solidFill>
              <a:effectLst/>
              <a:uFillTx/>
              <a:latin typeface="Arial"/>
            </a:endParaRPr>
          </a:p>
        </p:txBody>
      </p:sp>
      <p:sp>
        <p:nvSpPr>
          <p:cNvPr id="453" name="Shape 5"/>
          <p:cNvSpPr/>
          <p:nvPr/>
        </p:nvSpPr>
        <p:spPr>
          <a:xfrm>
            <a:off x="7445520" y="1778400"/>
            <a:ext cx="3930120" cy="1583640"/>
          </a:xfrm>
          <a:prstGeom prst="roundRect">
            <a:avLst>
              <a:gd name="adj" fmla="val 6214"/>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54" name="Image 0" descr="Lightbulb"/>
          <p:cNvPicPr/>
          <p:nvPr/>
        </p:nvPicPr>
        <p:blipFill>
          <a:blip r:embed="rId1"/>
          <a:stretch/>
        </p:blipFill>
        <p:spPr>
          <a:xfrm>
            <a:off x="7650720" y="1991520"/>
            <a:ext cx="228240" cy="228240"/>
          </a:xfrm>
          <a:prstGeom prst="rect">
            <a:avLst/>
          </a:prstGeom>
          <a:noFill/>
          <a:ln w="0">
            <a:noFill/>
          </a:ln>
        </p:spPr>
      </p:pic>
      <p:sp>
        <p:nvSpPr>
          <p:cNvPr id="455" name="Text 6"/>
          <p:cNvSpPr/>
          <p:nvPr/>
        </p:nvSpPr>
        <p:spPr>
          <a:xfrm>
            <a:off x="7980840" y="1983960"/>
            <a:ext cx="18997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When to use it</a:t>
            </a:r>
            <a:endParaRPr lang="en-US" sz="1600" b="0" u="none" strike="noStrike">
              <a:solidFill>
                <a:srgbClr val="000000"/>
              </a:solidFill>
              <a:effectLst/>
              <a:uFillTx/>
              <a:latin typeface="Arial"/>
            </a:endParaRPr>
          </a:p>
        </p:txBody>
      </p:sp>
      <p:sp>
        <p:nvSpPr>
          <p:cNvPr id="456" name="Text 7"/>
          <p:cNvSpPr/>
          <p:nvPr/>
        </p:nvSpPr>
        <p:spPr>
          <a:xfrm>
            <a:off x="7749360" y="2304000"/>
            <a:ext cx="351900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Vague requirements, new feature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Architecture decisions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Before a big refactor</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Also non-code: design docs, processes</a:t>
            </a:r>
            <a:endParaRPr lang="en-US" sz="1200" b="0" u="none" strike="noStrike">
              <a:solidFill>
                <a:srgbClr val="000000"/>
              </a:solidFill>
              <a:effectLst/>
              <a:uFillTx/>
              <a:latin typeface="Arial"/>
            </a:endParaRPr>
          </a:p>
        </p:txBody>
      </p:sp>
      <p:sp>
        <p:nvSpPr>
          <p:cNvPr id="457" name="Text 8"/>
          <p:cNvSpPr/>
          <p:nvPr/>
        </p:nvSpPr>
        <p:spPr>
          <a:xfrm>
            <a:off x="7442280" y="3517920"/>
            <a:ext cx="3936600" cy="903960"/>
          </a:xfrm>
          <a:prstGeom prst="roundRect">
            <a:avLst>
              <a:gd name="adj" fmla="val 11236"/>
            </a:avLst>
          </a:prstGeom>
          <a:solidFill>
            <a:srgbClr val="F6E3D3"/>
          </a:solidFill>
          <a:ln w="0">
            <a:noFill/>
          </a:ln>
        </p:spPr>
        <p:style>
          <a:lnRef idx="0"/>
          <a:fillRef idx="0"/>
          <a:effectRef idx="0"/>
          <a:fontRef idx="minor"/>
        </p:style>
        <p:txBody>
          <a:bodyPr lIns="173520" tIns="173520" rIns="67680" bIns="14796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30 minutes of questions beats days of redoing misunderstood code.</a:t>
            </a:r>
            <a:endParaRPr lang="en-US" sz="1400" b="0" u="none" strike="noStrike">
              <a:solidFill>
                <a:srgbClr val="000000"/>
              </a:solidFill>
              <a:effectLst/>
              <a:uFillTx/>
              <a:latin typeface="Arial"/>
            </a:endParaRPr>
          </a:p>
        </p:txBody>
      </p:sp>
      <p:sp>
        <p:nvSpPr>
          <p:cNvPr id="458" name="Text 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459" name="Text 1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12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93"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07 · POPULAR SKILLS</a:t>
            </a:r>
            <a:endParaRPr lang="en-US" sz="1200" b="0" u="none" strike="noStrike">
              <a:solidFill>
                <a:srgbClr val="000000"/>
              </a:solidFill>
              <a:effectLst/>
              <a:uFillTx/>
              <a:latin typeface="Arial"/>
            </a:endParaRPr>
          </a:p>
        </p:txBody>
      </p:sp>
      <p:sp>
        <p:nvSpPr>
          <p:cNvPr id="494"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Superpowers — obra/superpowers</a:t>
            </a:r>
            <a:endParaRPr lang="en-US" sz="3000" b="0" u="none" strike="noStrike">
              <a:solidFill>
                <a:schemeClr val="dk1"/>
              </a:solidFill>
              <a:effectLst/>
              <a:uFillTx/>
              <a:latin typeface="IBM Plex Sans"/>
            </a:endParaRPr>
          </a:p>
        </p:txBody>
      </p:sp>
      <p:sp>
        <p:nvSpPr>
          <p:cNvPr id="495" name="Text 2"/>
          <p:cNvSpPr/>
          <p:nvPr/>
        </p:nvSpPr>
        <p:spPr>
          <a:xfrm>
            <a:off x="812880" y="1775520"/>
            <a:ext cx="10883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From Jesse Vincent: a complete development methodology. The skills activate on their own, in the right order.</a:t>
            </a:r>
            <a:endParaRPr lang="en-US" sz="1400" b="0" u="none" strike="noStrike">
              <a:solidFill>
                <a:srgbClr val="000000"/>
              </a:solidFill>
              <a:effectLst/>
              <a:uFillTx/>
              <a:latin typeface="Arial"/>
            </a:endParaRPr>
          </a:p>
        </p:txBody>
      </p:sp>
      <p:sp>
        <p:nvSpPr>
          <p:cNvPr id="496" name="Shape 3"/>
          <p:cNvSpPr/>
          <p:nvPr/>
        </p:nvSpPr>
        <p:spPr>
          <a:xfrm>
            <a:off x="816120" y="2281320"/>
            <a:ext cx="3261600" cy="94860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7" name="Text 4"/>
          <p:cNvSpPr/>
          <p:nvPr/>
        </p:nvSpPr>
        <p:spPr>
          <a:xfrm>
            <a:off x="945000" y="241056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brainstorming</a:t>
            </a:r>
            <a:endParaRPr lang="en-US" sz="1200" b="0" u="none" strike="noStrike">
              <a:solidFill>
                <a:srgbClr val="000000"/>
              </a:solidFill>
              <a:effectLst/>
              <a:uFillTx/>
              <a:latin typeface="Arial"/>
            </a:endParaRPr>
          </a:p>
        </p:txBody>
      </p:sp>
      <p:sp>
        <p:nvSpPr>
          <p:cNvPr id="498" name="Text 5"/>
          <p:cNvSpPr/>
          <p:nvPr/>
        </p:nvSpPr>
        <p:spPr>
          <a:xfrm>
            <a:off x="945000" y="26748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refines the design through questions, before code</a:t>
            </a:r>
            <a:endParaRPr lang="en-US" sz="1200" b="0" u="none" strike="noStrike">
              <a:solidFill>
                <a:srgbClr val="000000"/>
              </a:solidFill>
              <a:effectLst/>
              <a:uFillTx/>
              <a:latin typeface="Arial"/>
            </a:endParaRPr>
          </a:p>
        </p:txBody>
      </p:sp>
      <p:pic>
        <p:nvPicPr>
          <p:cNvPr id="499" name="Image 0" descr="arrow-right"/>
          <p:cNvPicPr/>
          <p:nvPr/>
        </p:nvPicPr>
        <p:blipFill>
          <a:blip r:embed="rId1"/>
          <a:stretch/>
        </p:blipFill>
        <p:spPr>
          <a:xfrm>
            <a:off x="4157280" y="2679840"/>
            <a:ext cx="228240" cy="151920"/>
          </a:xfrm>
          <a:prstGeom prst="rect">
            <a:avLst/>
          </a:prstGeom>
          <a:noFill/>
          <a:ln w="0">
            <a:noFill/>
          </a:ln>
        </p:spPr>
      </p:pic>
      <p:sp>
        <p:nvSpPr>
          <p:cNvPr id="500" name="Shape 6"/>
          <p:cNvSpPr/>
          <p:nvPr/>
        </p:nvSpPr>
        <p:spPr>
          <a:xfrm>
            <a:off x="4465080" y="2281320"/>
            <a:ext cx="3261600" cy="94860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1" name="Text 7"/>
          <p:cNvSpPr/>
          <p:nvPr/>
        </p:nvSpPr>
        <p:spPr>
          <a:xfrm>
            <a:off x="4594320" y="241056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writing-plans</a:t>
            </a:r>
            <a:endParaRPr lang="en-US" sz="1200" b="0" u="none" strike="noStrike">
              <a:solidFill>
                <a:srgbClr val="000000"/>
              </a:solidFill>
              <a:effectLst/>
              <a:uFillTx/>
              <a:latin typeface="Arial"/>
            </a:endParaRPr>
          </a:p>
        </p:txBody>
      </p:sp>
      <p:sp>
        <p:nvSpPr>
          <p:cNvPr id="502" name="Text 8"/>
          <p:cNvSpPr/>
          <p:nvPr/>
        </p:nvSpPr>
        <p:spPr>
          <a:xfrm>
            <a:off x="4594320" y="26748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 detailed implementation plan, after approval</a:t>
            </a:r>
            <a:endParaRPr lang="en-US" sz="1200" b="0" u="none" strike="noStrike">
              <a:solidFill>
                <a:srgbClr val="000000"/>
              </a:solidFill>
              <a:effectLst/>
              <a:uFillTx/>
              <a:latin typeface="Arial"/>
            </a:endParaRPr>
          </a:p>
        </p:txBody>
      </p:sp>
      <p:pic>
        <p:nvPicPr>
          <p:cNvPr id="503" name="Image 1" descr="arrow-right"/>
          <p:cNvPicPr/>
          <p:nvPr/>
        </p:nvPicPr>
        <p:blipFill>
          <a:blip r:embed="rId2"/>
          <a:stretch/>
        </p:blipFill>
        <p:spPr>
          <a:xfrm>
            <a:off x="7806240" y="2679840"/>
            <a:ext cx="228240" cy="151920"/>
          </a:xfrm>
          <a:prstGeom prst="rect">
            <a:avLst/>
          </a:prstGeom>
          <a:noFill/>
          <a:ln w="0">
            <a:noFill/>
          </a:ln>
        </p:spPr>
      </p:pic>
      <p:sp>
        <p:nvSpPr>
          <p:cNvPr id="504" name="Shape 9"/>
          <p:cNvSpPr/>
          <p:nvPr/>
        </p:nvSpPr>
        <p:spPr>
          <a:xfrm>
            <a:off x="8114400" y="2281320"/>
            <a:ext cx="3261600" cy="94860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5" name="Text 10"/>
          <p:cNvSpPr/>
          <p:nvPr/>
        </p:nvSpPr>
        <p:spPr>
          <a:xfrm>
            <a:off x="8243280" y="2410560"/>
            <a:ext cx="30934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2B5E96"/>
                </a:solidFill>
                <a:effectLst/>
                <a:uFillTx/>
                <a:latin typeface="JetBrains Mono"/>
                <a:ea typeface="JetBrains Mono"/>
              </a:rPr>
              <a:t>executing-plans</a:t>
            </a:r>
            <a:endParaRPr lang="en-US" sz="1200" b="0" u="none" strike="noStrike">
              <a:solidFill>
                <a:srgbClr val="000000"/>
              </a:solidFill>
              <a:effectLst/>
              <a:uFillTx/>
              <a:latin typeface="Arial"/>
            </a:endParaRPr>
          </a:p>
        </p:txBody>
      </p:sp>
      <p:sp>
        <p:nvSpPr>
          <p:cNvPr id="506" name="Text 11"/>
          <p:cNvSpPr/>
          <p:nvPr/>
        </p:nvSpPr>
        <p:spPr>
          <a:xfrm>
            <a:off x="8243280" y="267480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runs the plan in batches with checkpoints (or subagent-driven-development)</a:t>
            </a:r>
            <a:endParaRPr lang="en-US" sz="1200" b="0" u="none" strike="noStrike">
              <a:solidFill>
                <a:srgbClr val="000000"/>
              </a:solidFill>
              <a:effectLst/>
              <a:uFillTx/>
              <a:latin typeface="Arial"/>
            </a:endParaRPr>
          </a:p>
        </p:txBody>
      </p:sp>
      <p:sp>
        <p:nvSpPr>
          <p:cNvPr id="507" name="Text 12"/>
          <p:cNvSpPr/>
          <p:nvPr/>
        </p:nvSpPr>
        <p:spPr>
          <a:xfrm>
            <a:off x="812880" y="3487680"/>
            <a:ext cx="15807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5E6677"/>
                </a:solidFill>
                <a:effectLst/>
                <a:uFillTx/>
                <a:latin typeface="IBM Plex Sans"/>
                <a:ea typeface="IBM Plex Sans"/>
              </a:rPr>
              <a:t>Supporting skills:</a:t>
            </a:r>
            <a:endParaRPr lang="en-US" sz="1200" b="0" u="none" strike="noStrike">
              <a:solidFill>
                <a:srgbClr val="000000"/>
              </a:solidFill>
              <a:effectLst/>
              <a:uFillTx/>
              <a:latin typeface="Arial"/>
            </a:endParaRPr>
          </a:p>
        </p:txBody>
      </p:sp>
      <p:sp>
        <p:nvSpPr>
          <p:cNvPr id="508" name="Text 13"/>
          <p:cNvSpPr/>
          <p:nvPr/>
        </p:nvSpPr>
        <p:spPr>
          <a:xfrm>
            <a:off x="812880" y="3764520"/>
            <a:ext cx="197388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test-driven-development</a:t>
            </a:r>
            <a:endParaRPr lang="en-US" sz="1200" b="0" u="none" strike="noStrike">
              <a:solidFill>
                <a:srgbClr val="000000"/>
              </a:solidFill>
              <a:effectLst/>
              <a:uFillTx/>
              <a:latin typeface="Arial"/>
            </a:endParaRPr>
          </a:p>
        </p:txBody>
      </p:sp>
      <p:sp>
        <p:nvSpPr>
          <p:cNvPr id="509" name="Text 14"/>
          <p:cNvSpPr/>
          <p:nvPr/>
        </p:nvSpPr>
        <p:spPr>
          <a:xfrm>
            <a:off x="812880" y="4102200"/>
            <a:ext cx="177048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systematic-debugging</a:t>
            </a:r>
            <a:endParaRPr lang="en-US" sz="1200" b="0" u="none" strike="noStrike">
              <a:solidFill>
                <a:srgbClr val="000000"/>
              </a:solidFill>
              <a:effectLst/>
              <a:uFillTx/>
              <a:latin typeface="Arial"/>
            </a:endParaRPr>
          </a:p>
        </p:txBody>
      </p:sp>
      <p:sp>
        <p:nvSpPr>
          <p:cNvPr id="510" name="Text 15"/>
          <p:cNvSpPr/>
          <p:nvPr/>
        </p:nvSpPr>
        <p:spPr>
          <a:xfrm>
            <a:off x="812880" y="4439880"/>
            <a:ext cx="237888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verification-before-completion</a:t>
            </a:r>
            <a:endParaRPr lang="en-US" sz="1200" b="0" u="none" strike="noStrike">
              <a:solidFill>
                <a:srgbClr val="000000"/>
              </a:solidFill>
              <a:effectLst/>
              <a:uFillTx/>
              <a:latin typeface="Arial"/>
            </a:endParaRPr>
          </a:p>
        </p:txBody>
      </p:sp>
      <p:sp>
        <p:nvSpPr>
          <p:cNvPr id="511" name="Text 16"/>
          <p:cNvSpPr/>
          <p:nvPr/>
        </p:nvSpPr>
        <p:spPr>
          <a:xfrm>
            <a:off x="812880" y="4777560"/>
            <a:ext cx="160056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using-git-worktrees</a:t>
            </a:r>
            <a:endParaRPr lang="en-US" sz="1200" b="0" u="none" strike="noStrike">
              <a:solidFill>
                <a:srgbClr val="000000"/>
              </a:solidFill>
              <a:effectLst/>
              <a:uFillTx/>
              <a:latin typeface="Arial"/>
            </a:endParaRPr>
          </a:p>
        </p:txBody>
      </p:sp>
      <p:sp>
        <p:nvSpPr>
          <p:cNvPr id="512" name="Text 17"/>
          <p:cNvSpPr/>
          <p:nvPr/>
        </p:nvSpPr>
        <p:spPr>
          <a:xfrm>
            <a:off x="812880" y="5115240"/>
            <a:ext cx="1131120" cy="27396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normAutofit/>
          </a:bodyPr>
          <a:p>
            <a:pPr algn="ctr" defTabSz="914400">
              <a:lnSpc>
                <a:spcPts val="1559"/>
              </a:lnSpc>
              <a:tabLst>
                <a:tab pos="0" algn="l"/>
              </a:tabLst>
            </a:pPr>
            <a:r>
              <a:rPr lang="en-US" sz="1200" b="1" u="none" strike="noStrike">
                <a:solidFill>
                  <a:srgbClr val="131A2A"/>
                </a:solidFill>
                <a:effectLst/>
                <a:uFillTx/>
                <a:latin typeface="IBM Plex Sans"/>
                <a:ea typeface="IBM Plex Sans"/>
              </a:rPr>
              <a:t>writing-skills</a:t>
            </a:r>
            <a:endParaRPr lang="en-US" sz="1200" b="0" u="none" strike="noStrike">
              <a:solidFill>
                <a:srgbClr val="000000"/>
              </a:solidFill>
              <a:effectLst/>
              <a:uFillTx/>
              <a:latin typeface="Arial"/>
            </a:endParaRPr>
          </a:p>
        </p:txBody>
      </p:sp>
      <p:sp>
        <p:nvSpPr>
          <p:cNvPr id="513" name="Text 18"/>
          <p:cNvSpPr/>
          <p:nvPr/>
        </p:nvSpPr>
        <p:spPr>
          <a:xfrm>
            <a:off x="4267080" y="3487680"/>
            <a:ext cx="7111800" cy="1409040"/>
          </a:xfrm>
          <a:prstGeom prst="roundRect">
            <a:avLst>
              <a:gd name="adj" fmla="val 7209"/>
            </a:avLst>
          </a:prstGeom>
          <a:solidFill>
            <a:srgbClr val="131A2A"/>
          </a:solidFill>
          <a:ln w="0">
            <a:noFill/>
          </a:ln>
        </p:spPr>
        <p:style>
          <a:lnRef idx="0"/>
          <a:fillRef idx="0"/>
          <a:effectRef idx="0"/>
          <a:fontRef idx="minor"/>
        </p:style>
        <p:txBody>
          <a:bodyPr wrap="none" lIns="173520" tIns="122760" rIns="0" bIns="97200" anchor="t">
            <a:normAutofit/>
          </a:bodyPr>
          <a:p>
            <a:pPr defTabSz="914400">
              <a:lnSpc>
                <a:spcPts val="1740"/>
              </a:lnSpc>
              <a:tabLst>
                <a:tab pos="0" algn="l"/>
              </a:tabLst>
            </a:pPr>
            <a:r>
              <a:rPr lang="en-US" sz="1200" b="0" u="none" strike="noStrike">
                <a:solidFill>
                  <a:srgbClr val="8A93A6"/>
                </a:solidFill>
                <a:effectLst/>
                <a:uFillTx/>
                <a:latin typeface="JetBrains Mono"/>
                <a:ea typeface="JetBrains Mono"/>
              </a:rPr>
              <a:t># Copilot CLI</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copilot plugin marketplace add obra/superpowers-marketplace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copilot plugin install superpowers@superpowers-marketplace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8A93A6"/>
                </a:solidFill>
                <a:effectLst/>
                <a:uFillTx/>
                <a:latin typeface="JetBrains Mono"/>
                <a:ea typeface="JetBrains Mono"/>
              </a:rPr>
              <a:t># VS Code (skills in .agents/skills)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npx skills add obra/superpowers</a:t>
            </a:r>
            <a:endParaRPr lang="en-US" sz="1200" b="0" u="none" strike="noStrike">
              <a:solidFill>
                <a:srgbClr val="FFFFFF"/>
              </a:solidFill>
              <a:effectLst/>
              <a:uFillTx/>
              <a:latin typeface="Arial"/>
            </a:endParaRPr>
          </a:p>
        </p:txBody>
      </p:sp>
      <p:sp>
        <p:nvSpPr>
          <p:cNvPr id="514" name="Text 1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515" name="Text 2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13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22"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08 · CUSTOM SKILLS</a:t>
            </a:r>
            <a:endParaRPr lang="en-US" sz="1200" b="0" u="none" strike="noStrike">
              <a:solidFill>
                <a:srgbClr val="000000"/>
              </a:solidFill>
              <a:effectLst/>
              <a:uFillTx/>
              <a:latin typeface="Arial"/>
            </a:endParaRPr>
          </a:p>
        </p:txBody>
      </p:sp>
      <p:sp>
        <p:nvSpPr>
          <p:cNvPr id="523"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From a conversation to a skill</a:t>
            </a:r>
            <a:endParaRPr lang="en-US" sz="3000" b="0" u="none" strike="noStrike">
              <a:solidFill>
                <a:schemeClr val="dk1"/>
              </a:solidFill>
              <a:effectLst/>
              <a:uFillTx/>
              <a:latin typeface="IBM Plex Sans"/>
            </a:endParaRPr>
          </a:p>
        </p:txBody>
      </p:sp>
      <p:sp>
        <p:nvSpPr>
          <p:cNvPr id="524" name="Shape 2"/>
          <p:cNvSpPr/>
          <p:nvPr/>
        </p:nvSpPr>
        <p:spPr>
          <a:xfrm>
            <a:off x="81612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5" name="Text 3"/>
          <p:cNvSpPr/>
          <p:nvPr/>
        </p:nvSpPr>
        <p:spPr>
          <a:xfrm>
            <a:off x="102132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1</a:t>
            </a:r>
            <a:endParaRPr lang="en-US" sz="1600" b="0" u="none" strike="noStrike">
              <a:solidFill>
                <a:srgbClr val="000000"/>
              </a:solidFill>
              <a:effectLst/>
              <a:uFillTx/>
              <a:latin typeface="Arial"/>
            </a:endParaRPr>
          </a:p>
        </p:txBody>
      </p:sp>
      <p:sp>
        <p:nvSpPr>
          <p:cNvPr id="526" name="Text 4"/>
          <p:cNvSpPr/>
          <p:nvPr/>
        </p:nvSpPr>
        <p:spPr>
          <a:xfrm>
            <a:off x="1021320" y="2227680"/>
            <a:ext cx="191844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Do the task once with the agent. Correct, clarify, get to a good result.</a:t>
            </a:r>
            <a:endParaRPr lang="en-US" sz="1200" b="0" u="none" strike="noStrike">
              <a:solidFill>
                <a:srgbClr val="000000"/>
              </a:solidFill>
              <a:effectLst/>
              <a:uFillTx/>
              <a:latin typeface="Arial"/>
            </a:endParaRPr>
          </a:p>
        </p:txBody>
      </p:sp>
      <p:pic>
        <p:nvPicPr>
          <p:cNvPr id="527" name="Image 0" descr="arrow-right"/>
          <p:cNvPicPr/>
          <p:nvPr/>
        </p:nvPicPr>
        <p:blipFill>
          <a:blip r:embed="rId1"/>
          <a:stretch/>
        </p:blipFill>
        <p:spPr>
          <a:xfrm>
            <a:off x="3193920" y="2311560"/>
            <a:ext cx="279000" cy="177480"/>
          </a:xfrm>
          <a:prstGeom prst="rect">
            <a:avLst/>
          </a:prstGeom>
          <a:noFill/>
          <a:ln w="0">
            <a:noFill/>
          </a:ln>
        </p:spPr>
      </p:pic>
      <p:sp>
        <p:nvSpPr>
          <p:cNvPr id="528" name="Shape 5"/>
          <p:cNvSpPr/>
          <p:nvPr/>
        </p:nvSpPr>
        <p:spPr>
          <a:xfrm>
            <a:off x="357804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9" name="Text 6"/>
          <p:cNvSpPr/>
          <p:nvPr/>
        </p:nvSpPr>
        <p:spPr>
          <a:xfrm>
            <a:off x="378360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2</a:t>
            </a:r>
            <a:endParaRPr lang="en-US" sz="1600" b="0" u="none" strike="noStrike">
              <a:solidFill>
                <a:srgbClr val="000000"/>
              </a:solidFill>
              <a:effectLst/>
              <a:uFillTx/>
              <a:latin typeface="Arial"/>
            </a:endParaRPr>
          </a:p>
        </p:txBody>
      </p:sp>
      <p:sp>
        <p:nvSpPr>
          <p:cNvPr id="530" name="Text 7"/>
          <p:cNvSpPr/>
          <p:nvPr/>
        </p:nvSpPr>
        <p:spPr>
          <a:xfrm>
            <a:off x="3783600" y="2227680"/>
            <a:ext cx="1918440" cy="45180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Write “Make this a skill” or </a:t>
            </a:r>
            <a:r>
              <a:rPr lang="en-US" sz="1200" b="1" u="none" strike="noStrike">
                <a:solidFill>
                  <a:srgbClr val="444C5C"/>
                </a:solidFill>
                <a:effectLst/>
                <a:uFillTx/>
                <a:latin typeface="IBM Plex Sans"/>
                <a:ea typeface="IBM Plex Sans"/>
              </a:rPr>
              <a:t>/create-skill</a:t>
            </a:r>
            <a:r>
              <a:rPr lang="en-US" sz="1200" b="0" u="none" strike="noStrike">
                <a:solidFill>
                  <a:srgbClr val="444C5C"/>
                </a:solidFill>
                <a:effectLst/>
                <a:uFillTx/>
                <a:latin typeface="IBM Plex Sans"/>
                <a:ea typeface="IBM Plex Sans"/>
              </a:rPr>
              <a:t> in VS Code.</a:t>
            </a:r>
            <a:endParaRPr lang="en-US" sz="1200" b="0" u="none" strike="noStrike">
              <a:solidFill>
                <a:srgbClr val="000000"/>
              </a:solidFill>
              <a:effectLst/>
              <a:uFillTx/>
              <a:latin typeface="Arial"/>
            </a:endParaRPr>
          </a:p>
        </p:txBody>
      </p:sp>
      <p:pic>
        <p:nvPicPr>
          <p:cNvPr id="531" name="Image 1" descr="arrow-right"/>
          <p:cNvPicPr/>
          <p:nvPr/>
        </p:nvPicPr>
        <p:blipFill>
          <a:blip r:embed="rId2"/>
          <a:stretch/>
        </p:blipFill>
        <p:spPr>
          <a:xfrm>
            <a:off x="5956200" y="2311560"/>
            <a:ext cx="279000" cy="177480"/>
          </a:xfrm>
          <a:prstGeom prst="rect">
            <a:avLst/>
          </a:prstGeom>
          <a:noFill/>
          <a:ln w="0">
            <a:noFill/>
          </a:ln>
        </p:spPr>
      </p:pic>
      <p:sp>
        <p:nvSpPr>
          <p:cNvPr id="532" name="Shape 8"/>
          <p:cNvSpPr/>
          <p:nvPr/>
        </p:nvSpPr>
        <p:spPr>
          <a:xfrm>
            <a:off x="634032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3" name="Text 9"/>
          <p:cNvSpPr/>
          <p:nvPr/>
        </p:nvSpPr>
        <p:spPr>
          <a:xfrm>
            <a:off x="654588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3</a:t>
            </a:r>
            <a:endParaRPr lang="en-US" sz="1600" b="0" u="none" strike="noStrike">
              <a:solidFill>
                <a:srgbClr val="000000"/>
              </a:solidFill>
              <a:effectLst/>
              <a:uFillTx/>
              <a:latin typeface="Arial"/>
            </a:endParaRPr>
          </a:p>
        </p:txBody>
      </p:sp>
      <p:sp>
        <p:nvSpPr>
          <p:cNvPr id="534" name="Text 10"/>
          <p:cNvSpPr/>
          <p:nvPr/>
        </p:nvSpPr>
        <p:spPr>
          <a:xfrm>
            <a:off x="6545880" y="2227680"/>
            <a:ext cx="191844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agent extracts the steps, decisions and checks into SKILL.md.</a:t>
            </a:r>
            <a:endParaRPr lang="en-US" sz="1200" b="0" u="none" strike="noStrike">
              <a:solidFill>
                <a:srgbClr val="000000"/>
              </a:solidFill>
              <a:effectLst/>
              <a:uFillTx/>
              <a:latin typeface="Arial"/>
            </a:endParaRPr>
          </a:p>
        </p:txBody>
      </p:sp>
      <p:pic>
        <p:nvPicPr>
          <p:cNvPr id="535" name="Image 2" descr="arrow-right"/>
          <p:cNvPicPr/>
          <p:nvPr/>
        </p:nvPicPr>
        <p:blipFill>
          <a:blip r:embed="rId3"/>
          <a:stretch/>
        </p:blipFill>
        <p:spPr>
          <a:xfrm>
            <a:off x="8718480" y="2311560"/>
            <a:ext cx="279000" cy="177480"/>
          </a:xfrm>
          <a:prstGeom prst="rect">
            <a:avLst/>
          </a:prstGeom>
          <a:noFill/>
          <a:ln w="0">
            <a:noFill/>
          </a:ln>
        </p:spPr>
      </p:pic>
      <p:sp>
        <p:nvSpPr>
          <p:cNvPr id="536" name="Shape 11"/>
          <p:cNvSpPr/>
          <p:nvPr/>
        </p:nvSpPr>
        <p:spPr>
          <a:xfrm>
            <a:off x="9102600" y="1727640"/>
            <a:ext cx="2273040" cy="134496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7" name="Text 12"/>
          <p:cNvSpPr/>
          <p:nvPr/>
        </p:nvSpPr>
        <p:spPr>
          <a:xfrm>
            <a:off x="9308160" y="1933200"/>
            <a:ext cx="1918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4</a:t>
            </a:r>
            <a:endParaRPr lang="en-US" sz="1600" b="0" u="none" strike="noStrike">
              <a:solidFill>
                <a:srgbClr val="000000"/>
              </a:solidFill>
              <a:effectLst/>
              <a:uFillTx/>
              <a:latin typeface="Arial"/>
            </a:endParaRPr>
          </a:p>
        </p:txBody>
      </p:sp>
      <p:sp>
        <p:nvSpPr>
          <p:cNvPr id="538" name="Text 13"/>
          <p:cNvSpPr/>
          <p:nvPr/>
        </p:nvSpPr>
        <p:spPr>
          <a:xfrm>
            <a:off x="9308160" y="2227680"/>
            <a:ext cx="191844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Test it on a new task, adjust the description, commit to .github/skills.</a:t>
            </a:r>
            <a:endParaRPr lang="en-US" sz="1200" b="0" u="none" strike="noStrike">
              <a:solidFill>
                <a:srgbClr val="000000"/>
              </a:solidFill>
              <a:effectLst/>
              <a:uFillTx/>
              <a:latin typeface="Arial"/>
            </a:endParaRPr>
          </a:p>
        </p:txBody>
      </p:sp>
      <p:sp>
        <p:nvSpPr>
          <p:cNvPr id="539" name="Shape 14"/>
          <p:cNvSpPr/>
          <p:nvPr/>
        </p:nvSpPr>
        <p:spPr>
          <a:xfrm>
            <a:off x="812880" y="3279240"/>
            <a:ext cx="10566000" cy="1241280"/>
          </a:xfrm>
          <a:prstGeom prst="roundRect">
            <a:avLst>
              <a:gd name="adj" fmla="val 8182"/>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0" name="Text 15"/>
          <p:cNvSpPr/>
          <p:nvPr/>
        </p:nvSpPr>
        <p:spPr>
          <a:xfrm>
            <a:off x="1015920" y="3431520"/>
            <a:ext cx="1046448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The prompt</a:t>
            </a:r>
            <a:endParaRPr lang="en-US" sz="1200" b="0" u="none" strike="noStrike">
              <a:solidFill>
                <a:srgbClr val="000000"/>
              </a:solidFill>
              <a:effectLst/>
              <a:uFillTx/>
              <a:latin typeface="Arial"/>
            </a:endParaRPr>
          </a:p>
        </p:txBody>
      </p:sp>
      <p:sp>
        <p:nvSpPr>
          <p:cNvPr id="541" name="Text 16"/>
          <p:cNvSpPr/>
          <p:nvPr/>
        </p:nvSpPr>
        <p:spPr>
          <a:xfrm>
            <a:off x="1015920" y="3705840"/>
            <a:ext cx="10464480" cy="68796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Make this a skill: the steps we just did for a feature flag</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(config, code, test, docs). Save it in .github/skills/add-feature-flag,</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put the conventions in references/ and include my corrections along the way.</a:t>
            </a:r>
            <a:endParaRPr lang="en-US" sz="1200" b="0" u="none" strike="noStrike">
              <a:solidFill>
                <a:srgbClr val="000000"/>
              </a:solidFill>
              <a:effectLst/>
              <a:uFillTx/>
              <a:latin typeface="Arial"/>
            </a:endParaRPr>
          </a:p>
        </p:txBody>
      </p:sp>
      <p:sp>
        <p:nvSpPr>
          <p:cNvPr id="542" name="Text 17"/>
          <p:cNvSpPr/>
          <p:nvPr/>
        </p:nvSpPr>
        <p:spPr>
          <a:xfrm>
            <a:off x="812880" y="4724280"/>
            <a:ext cx="10883160" cy="27396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444C5C"/>
                </a:solidFill>
                <a:effectLst/>
                <a:uFillTx/>
                <a:latin typeface="IBM Plex Sans"/>
                <a:ea typeface="IBM Plex Sans"/>
              </a:rPr>
              <a:t>Signs you need a skill:</a:t>
            </a:r>
            <a:r>
              <a:rPr lang="en-US" sz="1400" b="0" u="none" strike="noStrike">
                <a:solidFill>
                  <a:srgbClr val="444C5C"/>
                </a:solidFill>
                <a:effectLst/>
                <a:uFillTx/>
                <a:latin typeface="IBM Plex Sans"/>
                <a:ea typeface="IBM Plex Sans"/>
              </a:rPr>
              <a:t> you've explained the same thing 3 times · a workflow with fixed steps · colleagues do the same task in different ways.</a:t>
            </a:r>
            <a:endParaRPr lang="en-US" sz="1400" b="0" u="none" strike="noStrike">
              <a:solidFill>
                <a:srgbClr val="000000"/>
              </a:solidFill>
              <a:effectLst/>
              <a:uFillTx/>
              <a:latin typeface="Arial"/>
            </a:endParaRPr>
          </a:p>
        </p:txBody>
      </p:sp>
      <p:sp>
        <p:nvSpPr>
          <p:cNvPr id="543" name="Text 18"/>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544" name="Text 19"/>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14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9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09 · HOOKS</a:t>
            </a:r>
            <a:endParaRPr lang="en-US" sz="1200" b="0" u="none" strike="noStrike">
              <a:solidFill>
                <a:srgbClr val="000000"/>
              </a:solidFill>
              <a:effectLst/>
              <a:uFillTx/>
              <a:latin typeface="Arial"/>
            </a:endParaRPr>
          </a:p>
        </p:txBody>
      </p:sp>
      <p:sp>
        <p:nvSpPr>
          <p:cNvPr id="59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What hooks are</a:t>
            </a:r>
            <a:endParaRPr lang="en-US" sz="3000" b="0" u="none" strike="noStrike">
              <a:solidFill>
                <a:schemeClr val="dk1"/>
              </a:solidFill>
              <a:effectLst/>
              <a:uFillTx/>
              <a:latin typeface="IBM Plex Sans"/>
            </a:endParaRPr>
          </a:p>
        </p:txBody>
      </p:sp>
      <p:sp>
        <p:nvSpPr>
          <p:cNvPr id="596" name="Text 2"/>
          <p:cNvSpPr/>
          <p:nvPr/>
        </p:nvSpPr>
        <p:spPr>
          <a:xfrm>
            <a:off x="812880" y="1775520"/>
            <a:ext cx="4054680" cy="77184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Scripts (or HTTP calls) the harness runs on events in the agent's lifecycle. They receive JSON on stdin and answer with JSON on stdout.</a:t>
            </a:r>
            <a:endParaRPr lang="en-US" sz="1400" b="0" u="none" strike="noStrike">
              <a:solidFill>
                <a:srgbClr val="000000"/>
              </a:solidFill>
              <a:effectLst/>
              <a:uFillTx/>
              <a:latin typeface="Arial"/>
            </a:endParaRPr>
          </a:p>
        </p:txBody>
      </p:sp>
      <p:sp>
        <p:nvSpPr>
          <p:cNvPr id="597" name="Text 3"/>
          <p:cNvSpPr/>
          <p:nvPr/>
        </p:nvSpPr>
        <p:spPr>
          <a:xfrm>
            <a:off x="812880" y="2649240"/>
            <a:ext cx="405468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444C5C"/>
                </a:solidFill>
                <a:effectLst/>
                <a:uFillTx/>
                <a:latin typeface="IBM Plex Sans"/>
                <a:ea typeface="IBM Plex Sans"/>
              </a:rPr>
              <a:t>Where:</a:t>
            </a:r>
            <a:r>
              <a:rPr lang="en-US" sz="1400" b="0" u="none" strike="noStrike">
                <a:solidFill>
                  <a:srgbClr val="444C5C"/>
                </a:solidFill>
                <a:effectLst/>
                <a:uFillTx/>
                <a:latin typeface="IBM Plex Sans"/>
                <a:ea typeface="IBM Plex Sans"/>
              </a:rPr>
              <a:t> </a:t>
            </a:r>
            <a:r>
              <a:rPr lang="en-US" sz="1400" b="0" u="none" strike="noStrike">
                <a:solidFill>
                  <a:srgbClr val="2B5E96"/>
                </a:solidFill>
                <a:effectLst/>
                <a:uFillTx/>
                <a:latin typeface="IBM Plex Sans"/>
                <a:ea typeface="IBM Plex Sans"/>
              </a:rPr>
              <a:t>.github/hooks/*.json</a:t>
            </a:r>
            <a:r>
              <a:rPr lang="en-US" sz="1400" b="0" u="none" strike="noStrike">
                <a:solidFill>
                  <a:srgbClr val="444C5C"/>
                </a:solidFill>
                <a:effectLst/>
                <a:uFillTx/>
                <a:latin typeface="IBM Plex Sans"/>
                <a:ea typeface="IBM Plex Sans"/>
              </a:rPr>
              <a:t> (repo) · </a:t>
            </a:r>
            <a:r>
              <a:rPr lang="en-US" sz="1400" b="0" u="none" strike="noStrike">
                <a:solidFill>
                  <a:srgbClr val="2B5E96"/>
                </a:solidFill>
                <a:effectLst/>
                <a:uFillTx/>
                <a:latin typeface="IBM Plex Sans"/>
                <a:ea typeface="IBM Plex Sans"/>
              </a:rPr>
              <a:t>~/.copilot/hooks/*.json</a:t>
            </a:r>
            <a:r>
              <a:rPr lang="en-US" sz="1400" b="0" u="none" strike="noStrike">
                <a:solidFill>
                  <a:srgbClr val="444C5C"/>
                </a:solidFill>
                <a:effectLst/>
                <a:uFillTx/>
                <a:latin typeface="IBM Plex Sans"/>
                <a:ea typeface="IBM Plex Sans"/>
              </a:rPr>
              <a:t> (personal, CLI).</a:t>
            </a:r>
            <a:endParaRPr lang="en-US" sz="1400" b="0" u="none" strike="noStrike">
              <a:solidFill>
                <a:srgbClr val="000000"/>
              </a:solidFill>
              <a:effectLst/>
              <a:uFillTx/>
              <a:latin typeface="Arial"/>
            </a:endParaRPr>
          </a:p>
        </p:txBody>
      </p:sp>
      <p:sp>
        <p:nvSpPr>
          <p:cNvPr id="598" name="Text 4"/>
          <p:cNvSpPr/>
          <p:nvPr/>
        </p:nvSpPr>
        <p:spPr>
          <a:xfrm>
            <a:off x="812880" y="3273840"/>
            <a:ext cx="405468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1" u="none" strike="noStrike">
                <a:solidFill>
                  <a:srgbClr val="444C5C"/>
                </a:solidFill>
                <a:effectLst/>
                <a:uFillTx/>
                <a:latin typeface="IBM Plex Sans"/>
                <a:ea typeface="IBM Plex Sans"/>
              </a:rPr>
              <a:t>Where they run:</a:t>
            </a:r>
            <a:r>
              <a:rPr lang="en-US" sz="1400" b="0" u="none" strike="noStrike">
                <a:solidFill>
                  <a:srgbClr val="444C5C"/>
                </a:solidFill>
                <a:effectLst/>
                <a:uFillTx/>
                <a:latin typeface="IBM Plex Sans"/>
                <a:ea typeface="IBM Plex Sans"/>
              </a:rPr>
              <a:t> Copilot CLI and the cloud agent; VS Code has a compatible format.</a:t>
            </a:r>
            <a:endParaRPr lang="en-US" sz="1400" b="0" u="none" strike="noStrike">
              <a:solidFill>
                <a:srgbClr val="000000"/>
              </a:solidFill>
              <a:effectLst/>
              <a:uFillTx/>
              <a:latin typeface="Arial"/>
            </a:endParaRPr>
          </a:p>
        </p:txBody>
      </p:sp>
      <p:sp>
        <p:nvSpPr>
          <p:cNvPr id="599" name="Text 5"/>
          <p:cNvSpPr/>
          <p:nvPr/>
        </p:nvSpPr>
        <p:spPr>
          <a:xfrm>
            <a:off x="812880" y="3898800"/>
            <a:ext cx="40546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Fast (a few seconds), no secrets </a:t>
            </a:r>
            <a:r>
              <a:rPr lang="en-US" sz="1200" b="0" u="none" strike="noStrike">
                <a:solidFill>
                  <a:srgbClr val="5E6677"/>
                </a:solidFill>
                <a:effectLst/>
                <a:uFillTx/>
                <a:latin typeface="IBM Plex Sans"/>
                <a:ea typeface="IBM Plex Sans"/>
              </a:rPr>
              <a:t>in the output.</a:t>
            </a:r>
            <a:endParaRPr lang="en-US" sz="1200" b="0" u="none" strike="noStrike">
              <a:solidFill>
                <a:srgbClr val="000000"/>
              </a:solidFill>
              <a:effectLst/>
              <a:uFillTx/>
              <a:latin typeface="Arial"/>
            </a:endParaRPr>
          </a:p>
        </p:txBody>
      </p:sp>
      <p:sp>
        <p:nvSpPr>
          <p:cNvPr id="600" name="Shape 6"/>
          <p:cNvSpPr/>
          <p:nvPr/>
        </p:nvSpPr>
        <p:spPr>
          <a:xfrm>
            <a:off x="11376000" y="1775160"/>
            <a:ext cx="360" cy="287388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601" name="Shape 7"/>
          <p:cNvSpPr/>
          <p:nvPr/>
        </p:nvSpPr>
        <p:spPr>
          <a:xfrm>
            <a:off x="5003640" y="4645800"/>
            <a:ext cx="63752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602" name="Table 0"/>
          <p:cNvGraphicFramePr/>
          <p:nvPr/>
        </p:nvGraphicFramePr>
        <p:xfrm>
          <a:off x="5014440" y="1785960"/>
          <a:ext cx="6359400" cy="2857320"/>
        </p:xfrm>
        <a:graphic>
          <a:graphicData uri="http://schemas.openxmlformats.org/drawingml/2006/table">
            <a:tbl>
              <a:tblPr/>
              <a:tblGrid>
                <a:gridCol w="2289240"/>
                <a:gridCol w="2162160"/>
                <a:gridCol w="190764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Event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When</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Effect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sessionStart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session starts / resumes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adds context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userPromptSubmitted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you send a prompt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log, audit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preToolUse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before any tool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allow / deny / ask</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postToolUse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after a successful tool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adds context, modifies the result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agentStop</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agent says “done”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block = one more turn</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preCompact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before compaction</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notification</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sessionEnd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the session closes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cleanup, report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603" name="Text 8"/>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604" name="Text 9"/>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15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05"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09 · HOOKS · EXAMPLE</a:t>
            </a:r>
            <a:endParaRPr lang="en-US" sz="1200" b="0" u="none" strike="noStrike">
              <a:solidFill>
                <a:srgbClr val="000000"/>
              </a:solidFill>
              <a:effectLst/>
              <a:uFillTx/>
              <a:latin typeface="Arial"/>
            </a:endParaRPr>
          </a:p>
        </p:txBody>
      </p:sp>
      <p:sp>
        <p:nvSpPr>
          <p:cNvPr id="606"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Block destructive commands (preToolUse)</a:t>
            </a:r>
            <a:endParaRPr lang="en-US" sz="3000" b="0" u="none" strike="noStrike">
              <a:solidFill>
                <a:schemeClr val="dk1"/>
              </a:solidFill>
              <a:effectLst/>
              <a:uFillTx/>
              <a:latin typeface="IBM Plex Sans"/>
            </a:endParaRPr>
          </a:p>
        </p:txBody>
      </p:sp>
      <p:sp>
        <p:nvSpPr>
          <p:cNvPr id="607" name="Shape 2"/>
          <p:cNvSpPr/>
          <p:nvPr/>
        </p:nvSpPr>
        <p:spPr>
          <a:xfrm>
            <a:off x="812880" y="1775520"/>
            <a:ext cx="5206680" cy="3008880"/>
          </a:xfrm>
          <a:prstGeom prst="roundRect">
            <a:avLst>
              <a:gd name="adj" fmla="val 3376"/>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8" name="Text 3"/>
          <p:cNvSpPr/>
          <p:nvPr/>
        </p:nvSpPr>
        <p:spPr>
          <a:xfrm>
            <a:off x="1015920" y="1927800"/>
            <a:ext cx="494424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.github/hooks/guardrails.json</a:t>
            </a:r>
            <a:endParaRPr lang="en-US" sz="1200" b="0" u="none" strike="noStrike">
              <a:solidFill>
                <a:srgbClr val="000000"/>
              </a:solidFill>
              <a:effectLst/>
              <a:uFillTx/>
              <a:latin typeface="Arial"/>
            </a:endParaRPr>
          </a:p>
        </p:txBody>
      </p:sp>
      <p:sp>
        <p:nvSpPr>
          <p:cNvPr id="609" name="Text 4"/>
          <p:cNvSpPr/>
          <p:nvPr/>
        </p:nvSpPr>
        <p:spPr>
          <a:xfrm>
            <a:off x="1015920" y="2202120"/>
            <a:ext cx="4944240" cy="245520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"version": 1,</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"hooks":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"preToolUse":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"type": "command",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"matcher": "bash|powershell",</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"bash": ".github/hooks/block.sh",</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"timeoutSec": 10</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a:t>
            </a:r>
            <a:endParaRPr lang="en-US" sz="1200" b="0" u="none" strike="noStrike">
              <a:solidFill>
                <a:srgbClr val="000000"/>
              </a:solidFill>
              <a:effectLst/>
              <a:uFillTx/>
              <a:latin typeface="Arial"/>
            </a:endParaRPr>
          </a:p>
        </p:txBody>
      </p:sp>
      <p:sp>
        <p:nvSpPr>
          <p:cNvPr id="610" name="Shape 5"/>
          <p:cNvSpPr/>
          <p:nvPr/>
        </p:nvSpPr>
        <p:spPr>
          <a:xfrm>
            <a:off x="6172200" y="1775520"/>
            <a:ext cx="5206680" cy="3008880"/>
          </a:xfrm>
          <a:prstGeom prst="roundRect">
            <a:avLst>
              <a:gd name="adj" fmla="val 3376"/>
            </a:avLst>
          </a:prstGeom>
          <a:solidFill>
            <a:srgbClr val="131A2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1" name="Text 6"/>
          <p:cNvSpPr/>
          <p:nvPr/>
        </p:nvSpPr>
        <p:spPr>
          <a:xfrm>
            <a:off x="6375240" y="1927800"/>
            <a:ext cx="4944240" cy="223200"/>
          </a:xfrm>
          <a:prstGeom prst="rect">
            <a:avLst/>
          </a:prstGeom>
          <a:noFill/>
          <a:ln w="0">
            <a:noFill/>
          </a:ln>
        </p:spPr>
        <p:style>
          <a:lnRef idx="0"/>
          <a:fillRef idx="0"/>
          <a:effectRef idx="0"/>
          <a:fontRef idx="minor"/>
        </p:style>
        <p:txBody>
          <a:bodyPr lIns="0" tIns="0" rIns="0" bIns="0" anchor="t">
            <a:normAutofit/>
          </a:bodyPr>
          <a:p>
            <a:pPr defTabSz="914400">
              <a:lnSpc>
                <a:spcPts val="1559"/>
              </a:lnSpc>
              <a:tabLst>
                <a:tab pos="0" algn="l"/>
              </a:tabLst>
            </a:pPr>
            <a:r>
              <a:rPr lang="en-US" sz="1200" b="0" u="none" strike="noStrike">
                <a:solidFill>
                  <a:srgbClr val="F2A66B"/>
                </a:solidFill>
                <a:effectLst/>
                <a:uFillTx/>
                <a:latin typeface="JetBrains Mono"/>
                <a:ea typeface="JetBrains Mono"/>
              </a:rPr>
              <a:t>.github/hooks/block.sh</a:t>
            </a:r>
            <a:endParaRPr lang="en-US" sz="1200" b="0" u="none" strike="noStrike">
              <a:solidFill>
                <a:srgbClr val="000000"/>
              </a:solidFill>
              <a:effectLst/>
              <a:uFillTx/>
              <a:latin typeface="Arial"/>
            </a:endParaRPr>
          </a:p>
        </p:txBody>
      </p:sp>
      <p:sp>
        <p:nvSpPr>
          <p:cNvPr id="612" name="Text 7"/>
          <p:cNvSpPr/>
          <p:nvPr/>
        </p:nvSpPr>
        <p:spPr>
          <a:xfrm>
            <a:off x="6375240" y="2202120"/>
            <a:ext cx="4944240" cy="2013480"/>
          </a:xfrm>
          <a:prstGeom prst="rect">
            <a:avLst/>
          </a:prstGeom>
          <a:noFill/>
          <a:ln w="0">
            <a:noFill/>
          </a:ln>
        </p:spPr>
        <p:style>
          <a:lnRef idx="0"/>
          <a:fillRef idx="0"/>
          <a:effectRef idx="0"/>
          <a:fontRef idx="minor"/>
        </p:style>
        <p:txBody>
          <a:bodyPr wrap="none" lIns="0" tIns="0" rIns="0" bIns="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#!/usr/bin/env bash</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payload=$(cat)</a:t>
            </a:r>
            <a:r>
              <a:rPr lang="en-US" sz="1200" b="0" u="none" strike="noStrike">
                <a:solidFill>
                  <a:srgbClr val="8A93A6"/>
                </a:solidFill>
                <a:effectLst/>
                <a:uFillTx/>
                <a:latin typeface="JetBrains Mono"/>
                <a:ea typeface="JetBrains Mono"/>
              </a:rPr>
              <a:t>  # the event, JSON on stdin</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danger='rm -rf|push (-f|--force)|DROP TABLE'</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if grep -Eq "$danger" &lt;&lt;&lt; "$payload"; then</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echo '{"permissionDecision":"deny",</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"permissionDecisionReason":"Blocked by hook"}'</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else</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echo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fi</a:t>
            </a:r>
            <a:endParaRPr lang="en-US" sz="1200" b="0" u="none" strike="noStrike">
              <a:solidFill>
                <a:srgbClr val="000000"/>
              </a:solidFill>
              <a:effectLst/>
              <a:uFillTx/>
              <a:latin typeface="Arial"/>
            </a:endParaRPr>
          </a:p>
        </p:txBody>
      </p:sp>
      <p:sp>
        <p:nvSpPr>
          <p:cNvPr id="613" name="Text 8"/>
          <p:cNvSpPr/>
          <p:nvPr/>
        </p:nvSpPr>
        <p:spPr>
          <a:xfrm>
            <a:off x="812880" y="5038560"/>
            <a:ext cx="10883160" cy="522720"/>
          </a:xfrm>
          <a:prstGeom prst="rect">
            <a:avLst/>
          </a:prstGeom>
          <a:noFill/>
          <a:ln w="0">
            <a:noFill/>
          </a:ln>
        </p:spPr>
        <p:style>
          <a:lnRef idx="0"/>
          <a:fillRef idx="0"/>
          <a:effectRef idx="0"/>
          <a:fontRef idx="minor"/>
        </p:style>
        <p:txBody>
          <a:bodyPr lIns="0" tIns="0" rIns="0" bIns="0" anchor="t">
            <a:normAutofit/>
          </a:bodyPr>
          <a:p>
            <a:pPr defTabSz="914400">
              <a:lnSpc>
                <a:spcPts val="1959"/>
              </a:lnSpc>
              <a:tabLst>
                <a:tab pos="0" algn="l"/>
              </a:tabLst>
            </a:pPr>
            <a:r>
              <a:rPr lang="en-US" sz="1400" b="0" u="none" strike="noStrike">
                <a:solidFill>
                  <a:srgbClr val="444C5C"/>
                </a:solidFill>
                <a:effectLst/>
                <a:uFillTx/>
                <a:latin typeface="IBM Plex Sans"/>
                <a:ea typeface="IBM Plex Sans"/>
              </a:rPr>
              <a:t>Runs before every shell command. On </a:t>
            </a:r>
            <a:r>
              <a:rPr lang="en-US" sz="1400" b="1" u="none" strike="noStrike">
                <a:solidFill>
                  <a:srgbClr val="444C5C"/>
                </a:solidFill>
                <a:effectLst/>
                <a:uFillTx/>
                <a:latin typeface="IBM Plex Sans"/>
                <a:ea typeface="IBM Plex Sans"/>
              </a:rPr>
              <a:t>deny</a:t>
            </a:r>
            <a:r>
              <a:rPr lang="en-US" sz="1400" b="0" u="none" strike="noStrike">
                <a:solidFill>
                  <a:srgbClr val="444C5C"/>
                </a:solidFill>
                <a:effectLst/>
                <a:uFillTx/>
                <a:latin typeface="IBM Plex Sans"/>
                <a:ea typeface="IBM Plex Sans"/>
              </a:rPr>
              <a:t>, the command does not run and the agent </a:t>
            </a:r>
            <a:r>
              <a:rPr lang="en-US" sz="1400" b="0" u="none" strike="noStrike">
                <a:solidFill>
                  <a:srgbClr val="444C5C"/>
                </a:solidFill>
                <a:effectLst/>
                <a:uFillTx/>
                <a:latin typeface="IBM Plex Sans"/>
                <a:ea typeface="IBM Plex Sans"/>
              </a:rPr>
              <a:t>gets the reason. A hook crash blocks the command (fail-closed); a timeout lets it </a:t>
            </a:r>
            <a:r>
              <a:rPr lang="en-US" sz="1400" b="0" u="none" strike="noStrike">
                <a:solidFill>
                  <a:srgbClr val="444C5C"/>
                </a:solidFill>
                <a:effectLst/>
                <a:uFillTx/>
                <a:latin typeface="IBM Plex Sans"/>
                <a:ea typeface="IBM Plex Sans"/>
              </a:rPr>
              <a:t>through.</a:t>
            </a:r>
            <a:endParaRPr lang="en-US" sz="1400" b="0" u="none" strike="noStrike">
              <a:solidFill>
                <a:srgbClr val="000000"/>
              </a:solidFill>
              <a:effectLst/>
              <a:uFillTx/>
              <a:latin typeface="Arial"/>
            </a:endParaRPr>
          </a:p>
        </p:txBody>
      </p:sp>
      <p:sp>
        <p:nvSpPr>
          <p:cNvPr id="614" name="Text 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615" name="Text 1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16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59"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10 · OTHER TOOLS</a:t>
            </a:r>
            <a:endParaRPr lang="en-US" sz="1200" b="0" u="none" strike="noStrike">
              <a:solidFill>
                <a:srgbClr val="000000"/>
              </a:solidFill>
              <a:effectLst/>
              <a:uFillTx/>
              <a:latin typeface="Arial"/>
            </a:endParaRPr>
          </a:p>
        </p:txBody>
      </p:sp>
      <p:sp>
        <p:nvSpPr>
          <p:cNvPr id="660"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Worth knowing</a:t>
            </a:r>
            <a:r>
              <a:rPr lang="en-US" sz="3000" b="1" u="none" strike="noStrike">
                <a:solidFill>
                  <a:srgbClr val="131A2A"/>
                </a:solidFill>
                <a:effectLst/>
                <a:uFillTx/>
                <a:latin typeface="Space Grotesk"/>
                <a:ea typeface="Space Grotesk"/>
              </a:rPr>
              <a:t/>
            </a:r>
            <a:endParaRPr lang="en-US" sz="3000" b="0" u="none" strike="noStrike">
              <a:solidFill>
                <a:schemeClr val="dk1"/>
              </a:solidFill>
              <a:effectLst/>
              <a:uFillTx/>
              <a:latin typeface="IBM Plex Sans"/>
            </a:endParaRPr>
          </a:p>
        </p:txBody>
      </p:sp>
      <p:sp>
        <p:nvSpPr>
          <p:cNvPr id="661" name="Shape 2"/>
          <p:cNvSpPr/>
          <p:nvPr/>
        </p:nvSpPr>
        <p:spPr>
          <a:xfrm>
            <a:off x="81612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2" name="Image 0" descr="Link"/>
          <p:cNvPicPr/>
          <p:nvPr/>
        </p:nvPicPr>
        <p:blipFill>
          <a:blip r:embed="rId1"/>
          <a:stretch/>
        </p:blipFill>
        <p:spPr>
          <a:xfrm>
            <a:off x="1021320" y="1983960"/>
            <a:ext cx="228240" cy="228240"/>
          </a:xfrm>
          <a:prstGeom prst="rect">
            <a:avLst/>
          </a:prstGeom>
          <a:noFill/>
          <a:ln w="0">
            <a:noFill/>
          </a:ln>
        </p:spPr>
      </p:pic>
      <p:sp>
        <p:nvSpPr>
          <p:cNvPr id="663" name="Text 3"/>
          <p:cNvSpPr/>
          <p:nvPr/>
        </p:nvSpPr>
        <p:spPr>
          <a:xfrm>
            <a:off x="1351440" y="1991520"/>
            <a:ext cx="12567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MCP servers</a:t>
            </a:r>
            <a:endParaRPr lang="en-US" sz="1400" b="0" u="none" strike="noStrike">
              <a:solidFill>
                <a:srgbClr val="000000"/>
              </a:solidFill>
              <a:effectLst/>
              <a:uFillTx/>
              <a:latin typeface="Arial"/>
            </a:endParaRPr>
          </a:p>
        </p:txBody>
      </p:sp>
      <p:sp>
        <p:nvSpPr>
          <p:cNvPr id="664" name="Text 4"/>
          <p:cNvSpPr/>
          <p:nvPr/>
        </p:nvSpPr>
        <p:spPr>
          <a:xfrm>
            <a:off x="1021320" y="228852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Connect the agent to GitHub, Jira, databases, Playwright, internal docs. Every server costs context.</a:t>
            </a:r>
            <a:endParaRPr lang="en-US" sz="1200" b="0" u="none" strike="noStrike">
              <a:solidFill>
                <a:srgbClr val="000000"/>
              </a:solidFill>
              <a:effectLst/>
              <a:uFillTx/>
              <a:latin typeface="Arial"/>
            </a:endParaRPr>
          </a:p>
        </p:txBody>
      </p:sp>
      <p:sp>
        <p:nvSpPr>
          <p:cNvPr id="665" name="Shape 5"/>
          <p:cNvSpPr/>
          <p:nvPr/>
        </p:nvSpPr>
        <p:spPr>
          <a:xfrm>
            <a:off x="4388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6" name="Image 1" descr="Book"/>
          <p:cNvPicPr/>
          <p:nvPr/>
        </p:nvPicPr>
        <p:blipFill>
          <a:blip r:embed="rId2"/>
          <a:stretch/>
        </p:blipFill>
        <p:spPr>
          <a:xfrm>
            <a:off x="4594320" y="1983960"/>
            <a:ext cx="228240" cy="228240"/>
          </a:xfrm>
          <a:prstGeom prst="rect">
            <a:avLst/>
          </a:prstGeom>
          <a:noFill/>
          <a:ln w="0">
            <a:noFill/>
          </a:ln>
        </p:spPr>
      </p:pic>
      <p:sp>
        <p:nvSpPr>
          <p:cNvPr id="667" name="Text 6"/>
          <p:cNvSpPr/>
          <p:nvPr/>
        </p:nvSpPr>
        <p:spPr>
          <a:xfrm>
            <a:off x="4924440" y="1991520"/>
            <a:ext cx="1240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Prompt files</a:t>
            </a:r>
            <a:endParaRPr lang="en-US" sz="1400" b="0" u="none" strike="noStrike">
              <a:solidFill>
                <a:srgbClr val="000000"/>
              </a:solidFill>
              <a:effectLst/>
              <a:uFillTx/>
              <a:latin typeface="Arial"/>
            </a:endParaRPr>
          </a:p>
        </p:txBody>
      </p:sp>
      <p:sp>
        <p:nvSpPr>
          <p:cNvPr id="668" name="Text 7"/>
          <p:cNvSpPr/>
          <p:nvPr/>
        </p:nvSpPr>
        <p:spPr>
          <a:xfrm>
            <a:off x="4594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Reusable prompts (.prompt.md) run with /name in VS Code.</a:t>
            </a:r>
            <a:endParaRPr lang="en-US" sz="1200" b="0" u="none" strike="noStrike">
              <a:solidFill>
                <a:srgbClr val="000000"/>
              </a:solidFill>
              <a:effectLst/>
              <a:uFillTx/>
              <a:latin typeface="Arial"/>
            </a:endParaRPr>
          </a:p>
        </p:txBody>
      </p:sp>
      <p:sp>
        <p:nvSpPr>
          <p:cNvPr id="669" name="Shape 8"/>
          <p:cNvSpPr/>
          <p:nvPr/>
        </p:nvSpPr>
        <p:spPr>
          <a:xfrm>
            <a:off x="7961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70" name="Image 2" descr="Verified"/>
          <p:cNvPicPr/>
          <p:nvPr/>
        </p:nvPicPr>
        <p:blipFill>
          <a:blip r:embed="rId3"/>
          <a:stretch/>
        </p:blipFill>
        <p:spPr>
          <a:xfrm>
            <a:off x="8167320" y="1983960"/>
            <a:ext cx="228240" cy="228240"/>
          </a:xfrm>
          <a:prstGeom prst="rect">
            <a:avLst/>
          </a:prstGeom>
          <a:noFill/>
          <a:ln w="0">
            <a:noFill/>
          </a:ln>
        </p:spPr>
      </p:pic>
      <p:sp>
        <p:nvSpPr>
          <p:cNvPr id="671" name="Text 9"/>
          <p:cNvSpPr/>
          <p:nvPr/>
        </p:nvSpPr>
        <p:spPr>
          <a:xfrm>
            <a:off x="8497440" y="1991520"/>
            <a:ext cx="20293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Copilot code review</a:t>
            </a:r>
            <a:endParaRPr lang="en-US" sz="1400" b="0" u="none" strike="noStrike">
              <a:solidFill>
                <a:srgbClr val="000000"/>
              </a:solidFill>
              <a:effectLst/>
              <a:uFillTx/>
              <a:latin typeface="Arial"/>
            </a:endParaRPr>
          </a:p>
        </p:txBody>
      </p:sp>
      <p:sp>
        <p:nvSpPr>
          <p:cNvPr id="672" name="Text 10"/>
          <p:cNvSpPr/>
          <p:nvPr/>
        </p:nvSpPr>
        <p:spPr>
          <a:xfrm>
            <a:off x="8167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Automatic review on PRs that follows the repo's instructions.</a:t>
            </a:r>
            <a:endParaRPr lang="en-US" sz="1200" b="0" u="none" strike="noStrike">
              <a:solidFill>
                <a:srgbClr val="000000"/>
              </a:solidFill>
              <a:effectLst/>
              <a:uFillTx/>
              <a:latin typeface="Arial"/>
            </a:endParaRPr>
          </a:p>
        </p:txBody>
      </p:sp>
      <p:sp>
        <p:nvSpPr>
          <p:cNvPr id="673" name="Shape 11"/>
          <p:cNvSpPr/>
          <p:nvPr/>
        </p:nvSpPr>
        <p:spPr>
          <a:xfrm>
            <a:off x="81612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74" name="Image 3" descr="Database"/>
          <p:cNvPicPr/>
          <p:nvPr/>
        </p:nvPicPr>
        <p:blipFill>
          <a:blip r:embed="rId4"/>
          <a:stretch/>
        </p:blipFill>
        <p:spPr>
          <a:xfrm>
            <a:off x="1021320" y="3497760"/>
            <a:ext cx="228240" cy="228240"/>
          </a:xfrm>
          <a:prstGeom prst="rect">
            <a:avLst/>
          </a:prstGeom>
          <a:noFill/>
          <a:ln w="0">
            <a:noFill/>
          </a:ln>
        </p:spPr>
      </p:pic>
      <p:sp>
        <p:nvSpPr>
          <p:cNvPr id="675" name="Text 12"/>
          <p:cNvSpPr/>
          <p:nvPr/>
        </p:nvSpPr>
        <p:spPr>
          <a:xfrm>
            <a:off x="1351440" y="3505680"/>
            <a:ext cx="16340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Copilot Memory</a:t>
            </a:r>
            <a:endParaRPr lang="en-US" sz="1400" b="0" u="none" strike="noStrike">
              <a:solidFill>
                <a:srgbClr val="000000"/>
              </a:solidFill>
              <a:effectLst/>
              <a:uFillTx/>
              <a:latin typeface="Arial"/>
            </a:endParaRPr>
          </a:p>
        </p:txBody>
      </p:sp>
      <p:sp>
        <p:nvSpPr>
          <p:cNvPr id="676" name="Text 13"/>
          <p:cNvSpPr/>
          <p:nvPr/>
        </p:nvSpPr>
        <p:spPr>
          <a:xfrm>
            <a:off x="1021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Repository-level memory that </a:t>
            </a:r>
            <a:r>
              <a:rPr lang="en-US" sz="1200" b="0" u="none" strike="noStrike">
                <a:solidFill>
                  <a:srgbClr val="444C5C"/>
                </a:solidFill>
                <a:effectLst/>
                <a:uFillTx/>
                <a:latin typeface="IBM Plex Sans"/>
                <a:ea typeface="IBM Plex Sans"/>
              </a:rPr>
              <a:t>agents use across sessions.</a:t>
            </a:r>
            <a:endParaRPr lang="en-US" sz="1200" b="0" u="none" strike="noStrike">
              <a:solidFill>
                <a:srgbClr val="000000"/>
              </a:solidFill>
              <a:effectLst/>
              <a:uFillTx/>
              <a:latin typeface="Arial"/>
            </a:endParaRPr>
          </a:p>
        </p:txBody>
      </p:sp>
      <p:sp>
        <p:nvSpPr>
          <p:cNvPr id="677" name="Shape 14"/>
          <p:cNvSpPr/>
          <p:nvPr/>
        </p:nvSpPr>
        <p:spPr>
          <a:xfrm>
            <a:off x="4388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78" name="Image 4" descr="Tool"/>
          <p:cNvPicPr/>
          <p:nvPr/>
        </p:nvPicPr>
        <p:blipFill>
          <a:blip r:embed="rId5"/>
          <a:stretch/>
        </p:blipFill>
        <p:spPr>
          <a:xfrm>
            <a:off x="4594320" y="3497760"/>
            <a:ext cx="228240" cy="228240"/>
          </a:xfrm>
          <a:prstGeom prst="rect">
            <a:avLst/>
          </a:prstGeom>
          <a:noFill/>
          <a:ln w="0">
            <a:noFill/>
          </a:ln>
        </p:spPr>
      </p:pic>
      <p:sp>
        <p:nvSpPr>
          <p:cNvPr id="679" name="Text 15"/>
          <p:cNvSpPr/>
          <p:nvPr/>
        </p:nvSpPr>
        <p:spPr>
          <a:xfrm>
            <a:off x="4924440" y="3505680"/>
            <a:ext cx="7506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Plugins</a:t>
            </a:r>
            <a:endParaRPr lang="en-US" sz="1400" b="0" u="none" strike="noStrike">
              <a:solidFill>
                <a:srgbClr val="000000"/>
              </a:solidFill>
              <a:effectLst/>
              <a:uFillTx/>
              <a:latin typeface="Arial"/>
            </a:endParaRPr>
          </a:p>
        </p:txBody>
      </p:sp>
      <p:sp>
        <p:nvSpPr>
          <p:cNvPr id="680" name="Text 16"/>
          <p:cNvSpPr/>
          <p:nvPr/>
        </p:nvSpPr>
        <p:spPr>
          <a:xfrm>
            <a:off x="4594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Packs of skills, agents, hooks and MCP installed with one command.</a:t>
            </a:r>
            <a:endParaRPr lang="en-US" sz="1200" b="0" u="none" strike="noStrike">
              <a:solidFill>
                <a:srgbClr val="000000"/>
              </a:solidFill>
              <a:effectLst/>
              <a:uFillTx/>
              <a:latin typeface="Arial"/>
            </a:endParaRPr>
          </a:p>
        </p:txBody>
      </p:sp>
      <p:sp>
        <p:nvSpPr>
          <p:cNvPr id="681" name="Shape 17"/>
          <p:cNvSpPr/>
          <p:nvPr/>
        </p:nvSpPr>
        <p:spPr>
          <a:xfrm>
            <a:off x="7961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82" name="Image 5" descr="Cloud"/>
          <p:cNvPicPr/>
          <p:nvPr/>
        </p:nvPicPr>
        <p:blipFill>
          <a:blip r:embed="rId6"/>
          <a:stretch/>
        </p:blipFill>
        <p:spPr>
          <a:xfrm>
            <a:off x="8167320" y="3497760"/>
            <a:ext cx="228240" cy="228240"/>
          </a:xfrm>
          <a:prstGeom prst="rect">
            <a:avLst/>
          </a:prstGeom>
          <a:noFill/>
          <a:ln w="0">
            <a:noFill/>
          </a:ln>
        </p:spPr>
      </p:pic>
      <p:sp>
        <p:nvSpPr>
          <p:cNvPr id="683" name="Text 18"/>
          <p:cNvSpPr/>
          <p:nvPr/>
        </p:nvSpPr>
        <p:spPr>
          <a:xfrm>
            <a:off x="8497440" y="3505680"/>
            <a:ext cx="15429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Copilot Spaces</a:t>
            </a:r>
            <a:endParaRPr lang="en-US" sz="1400" b="0" u="none" strike="noStrike">
              <a:solidFill>
                <a:srgbClr val="000000"/>
              </a:solidFill>
              <a:effectLst/>
              <a:uFillTx/>
              <a:latin typeface="Arial"/>
            </a:endParaRPr>
          </a:p>
        </p:txBody>
      </p:sp>
      <p:sp>
        <p:nvSpPr>
          <p:cNvPr id="684" name="Text 19"/>
          <p:cNvSpPr/>
          <p:nvPr/>
        </p:nvSpPr>
        <p:spPr>
          <a:xfrm>
            <a:off x="8167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Collections of context (files, docs) shared with the team.</a:t>
            </a:r>
            <a:endParaRPr lang="en-US" sz="1200" b="0" u="none" strike="noStrike">
              <a:solidFill>
                <a:srgbClr val="000000"/>
              </a:solidFill>
              <a:effectLst/>
              <a:uFillTx/>
              <a:latin typeface="Arial"/>
            </a:endParaRPr>
          </a:p>
        </p:txBody>
      </p:sp>
      <p:sp>
        <p:nvSpPr>
          <p:cNvPr id="685" name="Text 2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a:t>
            </a:r>
            <a:r>
              <a:rPr lang="en-US" sz="1200" b="0" u="none" strike="noStrike">
                <a:solidFill>
                  <a:srgbClr val="5E6677"/>
                </a:solidFill>
                <a:effectLst/>
                <a:uFillTx/>
                <a:latin typeface="IBM Plex Sans"/>
                <a:ea typeface="IBM Plex Sans"/>
              </a:rPr>
              <a:t>Copilot</a:t>
            </a:r>
            <a:endParaRPr lang="en-US" sz="1200" b="0" u="none" strike="noStrike">
              <a:solidFill>
                <a:srgbClr val="000000"/>
              </a:solidFill>
              <a:effectLst/>
              <a:uFillTx/>
              <a:latin typeface="Arial"/>
            </a:endParaRPr>
          </a:p>
        </p:txBody>
      </p:sp>
      <p:sp>
        <p:nvSpPr>
          <p:cNvPr id="686" name="Text 2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17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0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11 · TOKENS</a:t>
            </a:r>
            <a:endParaRPr lang="en-US" sz="1200" b="0" u="none" strike="noStrike">
              <a:solidFill>
                <a:srgbClr val="000000"/>
              </a:solidFill>
              <a:effectLst/>
              <a:uFillTx/>
              <a:latin typeface="Arial"/>
            </a:endParaRPr>
          </a:p>
        </p:txBody>
      </p:sp>
      <p:sp>
        <p:nvSpPr>
          <p:cNvPr id="70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Same session, eight models</a:t>
            </a:r>
            <a:endParaRPr lang="en-US" sz="3000" b="0" u="none" strike="noStrike">
              <a:solidFill>
                <a:schemeClr val="dk1"/>
              </a:solidFill>
              <a:effectLst/>
              <a:uFillTx/>
              <a:latin typeface="IBM Plex Sans"/>
            </a:endParaRPr>
          </a:p>
        </p:txBody>
      </p:sp>
      <p:sp>
        <p:nvSpPr>
          <p:cNvPr id="710" name="Shape 2"/>
          <p:cNvSpPr/>
          <p:nvPr/>
        </p:nvSpPr>
        <p:spPr>
          <a:xfrm>
            <a:off x="11376000" y="1775160"/>
            <a:ext cx="360" cy="2990880"/>
          </a:xfrm>
          <a:prstGeom prst="line">
            <a:avLst/>
          </a:prstGeom>
          <a:ln w="6350">
            <a:solidFill>
              <a:srgbClr val="E0DAC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11" name="Shape 3"/>
          <p:cNvSpPr/>
          <p:nvPr/>
        </p:nvSpPr>
        <p:spPr>
          <a:xfrm>
            <a:off x="812520" y="476280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graphicFrame>
        <p:nvGraphicFramePr>
          <p:cNvPr id="712" name="Table 0"/>
          <p:cNvGraphicFramePr/>
          <p:nvPr/>
        </p:nvGraphicFramePr>
        <p:xfrm>
          <a:off x="823320" y="1785960"/>
          <a:ext cx="10550160" cy="2974680"/>
        </p:xfrm>
        <a:graphic>
          <a:graphicData uri="http://schemas.openxmlformats.org/drawingml/2006/table">
            <a:tbl>
              <a:tblPr/>
              <a:tblGrid>
                <a:gridCol w="2742840"/>
                <a:gridCol w="1793520"/>
                <a:gridCol w="1793520"/>
                <a:gridCol w="1688040"/>
                <a:gridCol w="253188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Model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80K new input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320K from cache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40K output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Total</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Haiku 4.5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$0.080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$0.032</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$0.200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$0.31 ≈ 31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Sonnet 5.5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$0.400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$0.62 ≈ 62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Opus 5.5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$0.320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$1.18 ≈ 118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Luna</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$0.016</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$0.006</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$0.048</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$0.07 ≈ 7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Terra</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$0.480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$0.70 ≈ 70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Sol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$0.320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$0.128</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$1.25 ≈ 125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Grok 4.7</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$0.240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$0.56 ≈ 56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Fable 5.1</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$0.080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$2.000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$2.88 ≈ 288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bl>
          </a:graphicData>
        </a:graphic>
      </p:graphicFrame>
      <p:sp>
        <p:nvSpPr>
          <p:cNvPr id="713" name="Text 4"/>
          <p:cNvSpPr/>
          <p:nvPr/>
        </p:nvSpPr>
        <p:spPr>
          <a:xfrm>
            <a:off x="812880" y="5020200"/>
            <a:ext cx="108831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Illustrative example: an agent session with 400K input tokens (80% from cache) and 40K output, at Copilot prices per 1M tokens, excluding the cache write cost. The gap between the extremes: ~40×.</a:t>
            </a:r>
            <a:endParaRPr lang="en-US" sz="1200" b="0" u="none" strike="noStrike">
              <a:solidFill>
                <a:srgbClr val="000000"/>
              </a:solidFill>
              <a:effectLst/>
              <a:uFillTx/>
              <a:latin typeface="Arial"/>
            </a:endParaRPr>
          </a:p>
        </p:txBody>
      </p:sp>
      <p:sp>
        <p:nvSpPr>
          <p:cNvPr id="714" name="Text 5"/>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715" name="Text 6"/>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18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53"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12 · CONTEXT</a:t>
            </a:r>
            <a:endParaRPr lang="en-US" sz="1200" b="0" u="none" strike="noStrike">
              <a:solidFill>
                <a:srgbClr val="000000"/>
              </a:solidFill>
              <a:effectLst/>
              <a:uFillTx/>
              <a:latin typeface="Arial"/>
            </a:endParaRPr>
          </a:p>
        </p:txBody>
      </p:sp>
      <p:sp>
        <p:nvSpPr>
          <p:cNvPr id="754"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Smart zone vs dumb zone</a:t>
            </a:r>
            <a:endParaRPr lang="en-US" sz="3000" b="0" u="none" strike="noStrike">
              <a:solidFill>
                <a:schemeClr val="dk1"/>
              </a:solidFill>
              <a:effectLst/>
              <a:uFillTx/>
              <a:latin typeface="IBM Plex Sans"/>
            </a:endParaRPr>
          </a:p>
        </p:txBody>
      </p:sp>
      <p:sp>
        <p:nvSpPr>
          <p:cNvPr id="755" name="Text 2"/>
          <p:cNvSpPr/>
          <p:nvPr/>
        </p:nvSpPr>
        <p:spPr>
          <a:xfrm>
            <a:off x="812880" y="1775520"/>
            <a:ext cx="4228560" cy="609120"/>
          </a:xfrm>
          <a:custGeom>
            <a:avLst/>
            <a:gdLst>
              <a:gd name="textAreaLeft" fmla="*/ 0 w 4228560"/>
              <a:gd name="textAreaRight" fmla="*/ 4228920 w 4228560"/>
              <a:gd name="textAreaTop" fmla="*/ 0 h 609120"/>
              <a:gd name="textAreaBottom" fmla="*/ 609480 h 609120"/>
            </a:gdLst>
            <a:ahLst/>
            <a:cxnLst/>
            <a:rect l="textAreaLeft" t="textAreaTop" r="textAreaRight" b="textAreaBottom"/>
            <a:pathLst>
              <a:path w="4229075" h="609575">
                <a:moveTo>
                  <a:pt x="0" y="101600"/>
                </a:moveTo>
                <a:arcTo wR="101600" hR="101600" stAng="10800000" swAng="5400000"/>
                <a:lnTo>
                  <a:pt x="4229075" y="0"/>
                </a:lnTo>
                <a:lnTo>
                  <a:pt x="4229075" y="609575"/>
                </a:lnTo>
                <a:lnTo>
                  <a:pt x="101600" y="609575"/>
                </a:lnTo>
                <a:arcTo wR="101600" hR="101600" stAng="5400000" swAng="5400000"/>
                <a:close/>
              </a:path>
            </a:pathLst>
          </a:custGeom>
          <a:solidFill>
            <a:srgbClr val="9CC3EA"/>
          </a:solidFill>
          <a:ln w="0">
            <a:noFill/>
          </a:ln>
        </p:spPr>
        <p:style>
          <a:lnRef idx="0"/>
          <a:fillRef idx="0"/>
          <a:effectRef idx="0"/>
          <a:fontRef idx="minor"/>
        </p:style>
        <p:txBody>
          <a:bodyPr lIns="0" tIns="0" rIns="0" bIns="0" anchor="ctr">
            <a:normAutofit/>
          </a:bodyPr>
          <a:p>
            <a:pPr algn="ctr" defTabSz="914400">
              <a:lnSpc>
                <a:spcPts val="1959"/>
              </a:lnSpc>
              <a:tabLst>
                <a:tab pos="0" algn="l"/>
              </a:tabLst>
            </a:pPr>
            <a:r>
              <a:rPr lang="en-US" sz="1400" b="1" u="none" strike="noStrike">
                <a:solidFill>
                  <a:srgbClr val="131A2A"/>
                </a:solidFill>
                <a:effectLst/>
                <a:uFillTx/>
                <a:latin typeface="Space Grotesk"/>
                <a:ea typeface="Space Grotesk"/>
              </a:rPr>
              <a:t>smart zone</a:t>
            </a:r>
            <a:endParaRPr lang="en-US" sz="1400" b="0" u="none" strike="noStrike">
              <a:solidFill>
                <a:srgbClr val="000000"/>
              </a:solidFill>
              <a:effectLst/>
              <a:uFillTx/>
              <a:latin typeface="Arial"/>
            </a:endParaRPr>
          </a:p>
        </p:txBody>
      </p:sp>
      <p:sp>
        <p:nvSpPr>
          <p:cNvPr id="756" name="Text 3"/>
          <p:cNvSpPr/>
          <p:nvPr/>
        </p:nvSpPr>
        <p:spPr>
          <a:xfrm>
            <a:off x="5041800" y="1775520"/>
            <a:ext cx="3168360" cy="609120"/>
          </a:xfrm>
          <a:prstGeom prst="rect">
            <a:avLst/>
          </a:prstGeom>
          <a:solidFill>
            <a:srgbClr val="EAC79B"/>
          </a:solidFill>
          <a:ln w="0">
            <a:noFill/>
          </a:ln>
        </p:spPr>
        <p:style>
          <a:lnRef idx="0"/>
          <a:fillRef idx="0"/>
          <a:effectRef idx="0"/>
          <a:fontRef idx="minor"/>
        </p:style>
        <p:txBody>
          <a:bodyPr lIns="0" tIns="0" rIns="0" bIns="0" anchor="ctr">
            <a:normAutofit/>
          </a:bodyPr>
          <a:p>
            <a:pPr algn="ctr" defTabSz="914400">
              <a:lnSpc>
                <a:spcPts val="1959"/>
              </a:lnSpc>
              <a:tabLst>
                <a:tab pos="0" algn="l"/>
              </a:tabLst>
            </a:pPr>
            <a:r>
              <a:rPr lang="en-US" sz="1400" b="1" u="none" strike="noStrike">
                <a:solidFill>
                  <a:srgbClr val="131A2A"/>
                </a:solidFill>
                <a:effectLst/>
                <a:uFillTx/>
                <a:latin typeface="Space Grotesk"/>
                <a:ea typeface="Space Grotesk"/>
              </a:rPr>
              <a:t>warm zone</a:t>
            </a:r>
            <a:endParaRPr lang="en-US" sz="1400" b="0" u="none" strike="noStrike">
              <a:solidFill>
                <a:srgbClr val="000000"/>
              </a:solidFill>
              <a:effectLst/>
              <a:uFillTx/>
              <a:latin typeface="Arial"/>
            </a:endParaRPr>
          </a:p>
        </p:txBody>
      </p:sp>
      <p:sp>
        <p:nvSpPr>
          <p:cNvPr id="757" name="Text 4"/>
          <p:cNvSpPr/>
          <p:nvPr/>
        </p:nvSpPr>
        <p:spPr>
          <a:xfrm>
            <a:off x="8210520" y="1775520"/>
            <a:ext cx="3168360" cy="609120"/>
          </a:xfrm>
          <a:custGeom>
            <a:avLst/>
            <a:gdLst>
              <a:gd name="textAreaLeft" fmla="*/ 0 w 3168360"/>
              <a:gd name="textAreaRight" fmla="*/ 3168720 w 3168360"/>
              <a:gd name="textAreaTop" fmla="*/ 0 h 609120"/>
              <a:gd name="textAreaBottom" fmla="*/ 609480 h 609120"/>
            </a:gdLst>
            <a:ahLst/>
            <a:cxnLst/>
            <a:rect l="textAreaLeft" t="textAreaTop" r="textAreaRight" b="textAreaBottom"/>
            <a:pathLst>
              <a:path w="3168633" h="609575">
                <a:moveTo>
                  <a:pt x="3067033" y="0"/>
                </a:moveTo>
                <a:arcTo wR="101600" hR="101600" stAng="16200000" swAng="5400000"/>
                <a:lnTo>
                  <a:pt x="3168633" y="507975"/>
                </a:lnTo>
                <a:arcTo wR="101600" hR="101600" stAng="0" swAng="5400000"/>
                <a:lnTo>
                  <a:pt x="0" y="609575"/>
                </a:lnTo>
                <a:lnTo>
                  <a:pt x="0" y="0"/>
                </a:lnTo>
                <a:close/>
              </a:path>
            </a:pathLst>
          </a:custGeom>
          <a:solidFill>
            <a:srgbClr val="E8823A"/>
          </a:solidFill>
          <a:ln w="0">
            <a:noFill/>
          </a:ln>
        </p:spPr>
        <p:style>
          <a:lnRef idx="0"/>
          <a:fillRef idx="0"/>
          <a:effectRef idx="0"/>
          <a:fontRef idx="minor"/>
        </p:style>
        <p:txBody>
          <a:bodyPr lIns="0" tIns="0" rIns="0" bIns="0" anchor="ctr">
            <a:normAutofit/>
          </a:bodyPr>
          <a:p>
            <a:pPr algn="ctr" defTabSz="914400">
              <a:lnSpc>
                <a:spcPts val="1959"/>
              </a:lnSpc>
              <a:tabLst>
                <a:tab pos="0" algn="l"/>
              </a:tabLst>
            </a:pPr>
            <a:r>
              <a:rPr lang="en-US" sz="1400" b="1" u="none" strike="noStrike">
                <a:solidFill>
                  <a:srgbClr val="131A2A"/>
                </a:solidFill>
                <a:effectLst/>
                <a:uFillTx/>
                <a:latin typeface="Space Grotesk"/>
                <a:ea typeface="Space Grotesk"/>
              </a:rPr>
              <a:t>dumb zone</a:t>
            </a:r>
            <a:endParaRPr lang="en-US" sz="1400" b="0" u="none" strike="noStrike">
              <a:solidFill>
                <a:srgbClr val="FFFFFF"/>
              </a:solidFill>
              <a:effectLst/>
              <a:uFillTx/>
              <a:latin typeface="Arial"/>
            </a:endParaRPr>
          </a:p>
        </p:txBody>
      </p:sp>
      <p:sp>
        <p:nvSpPr>
          <p:cNvPr id="758" name="Text 5"/>
          <p:cNvSpPr/>
          <p:nvPr/>
        </p:nvSpPr>
        <p:spPr>
          <a:xfrm>
            <a:off x="812880" y="2435760"/>
            <a:ext cx="43556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0%</a:t>
            </a:r>
            <a:endParaRPr lang="en-US" sz="1200" b="0" u="none" strike="noStrike">
              <a:solidFill>
                <a:srgbClr val="000000"/>
              </a:solidFill>
              <a:effectLst/>
              <a:uFillTx/>
              <a:latin typeface="Arial"/>
            </a:endParaRPr>
          </a:p>
        </p:txBody>
      </p:sp>
      <p:sp>
        <p:nvSpPr>
          <p:cNvPr id="759" name="Text 6"/>
          <p:cNvSpPr/>
          <p:nvPr/>
        </p:nvSpPr>
        <p:spPr>
          <a:xfrm>
            <a:off x="5041800" y="2435760"/>
            <a:ext cx="32634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~40%</a:t>
            </a:r>
            <a:endParaRPr lang="en-US" sz="1200" b="0" u="none" strike="noStrike">
              <a:solidFill>
                <a:srgbClr val="000000"/>
              </a:solidFill>
              <a:effectLst/>
              <a:uFillTx/>
              <a:latin typeface="Arial"/>
            </a:endParaRPr>
          </a:p>
        </p:txBody>
      </p:sp>
      <p:sp>
        <p:nvSpPr>
          <p:cNvPr id="760" name="Text 7"/>
          <p:cNvSpPr/>
          <p:nvPr/>
        </p:nvSpPr>
        <p:spPr>
          <a:xfrm>
            <a:off x="8210520" y="2435760"/>
            <a:ext cx="2609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~70%</a:t>
            </a:r>
            <a:endParaRPr lang="en-US" sz="1200" b="0" u="none" strike="noStrike">
              <a:solidFill>
                <a:srgbClr val="000000"/>
              </a:solidFill>
              <a:effectLst/>
              <a:uFillTx/>
              <a:latin typeface="Arial"/>
            </a:endParaRPr>
          </a:p>
        </p:txBody>
      </p:sp>
      <p:sp>
        <p:nvSpPr>
          <p:cNvPr id="761" name="Text 8"/>
          <p:cNvSpPr/>
          <p:nvPr/>
        </p:nvSpPr>
        <p:spPr>
          <a:xfrm>
            <a:off x="10693440" y="2435760"/>
            <a:ext cx="68544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100%</a:t>
            </a:r>
            <a:endParaRPr lang="en-US" sz="1200" b="0" u="none" strike="noStrike">
              <a:solidFill>
                <a:srgbClr val="000000"/>
              </a:solidFill>
              <a:effectLst/>
              <a:uFillTx/>
              <a:latin typeface="Arial"/>
            </a:endParaRPr>
          </a:p>
        </p:txBody>
      </p:sp>
      <p:sp>
        <p:nvSpPr>
          <p:cNvPr id="762" name="Shape 9"/>
          <p:cNvSpPr/>
          <p:nvPr/>
        </p:nvSpPr>
        <p:spPr>
          <a:xfrm>
            <a:off x="812880" y="2903040"/>
            <a:ext cx="3420360" cy="1096920"/>
          </a:xfrm>
          <a:prstGeom prst="roundRect">
            <a:avLst>
              <a:gd name="adj" fmla="val 9260"/>
            </a:avLst>
          </a:prstGeom>
          <a:solidFill>
            <a:srgbClr val="DCE8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3" name="Text 10"/>
          <p:cNvSpPr/>
          <p:nvPr/>
        </p:nvSpPr>
        <p:spPr>
          <a:xfrm>
            <a:off x="1015920" y="3106080"/>
            <a:ext cx="3104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Smart zone</a:t>
            </a:r>
            <a:endParaRPr lang="en-US" sz="1400" b="0" u="none" strike="noStrike">
              <a:solidFill>
                <a:srgbClr val="000000"/>
              </a:solidFill>
              <a:effectLst/>
              <a:uFillTx/>
              <a:latin typeface="Arial"/>
            </a:endParaRPr>
          </a:p>
        </p:txBody>
      </p:sp>
      <p:sp>
        <p:nvSpPr>
          <p:cNvPr id="764" name="Text 11"/>
          <p:cNvSpPr/>
          <p:nvPr/>
        </p:nvSpPr>
        <p:spPr>
          <a:xfrm>
            <a:off x="1015920" y="3370320"/>
            <a:ext cx="31042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Follows instructions, remembers decisions, takes small, correct steps.</a:t>
            </a:r>
            <a:endParaRPr lang="en-US" sz="1200" b="0" u="none" strike="noStrike">
              <a:solidFill>
                <a:srgbClr val="000000"/>
              </a:solidFill>
              <a:effectLst/>
              <a:uFillTx/>
              <a:latin typeface="Arial"/>
            </a:endParaRPr>
          </a:p>
        </p:txBody>
      </p:sp>
      <p:sp>
        <p:nvSpPr>
          <p:cNvPr id="765" name="Shape 12"/>
          <p:cNvSpPr/>
          <p:nvPr/>
        </p:nvSpPr>
        <p:spPr>
          <a:xfrm>
            <a:off x="4385880" y="2903040"/>
            <a:ext cx="3420360" cy="1096920"/>
          </a:xfrm>
          <a:prstGeom prst="roundRect">
            <a:avLst>
              <a:gd name="adj" fmla="val 9260"/>
            </a:avLst>
          </a:prstGeom>
          <a:solidFill>
            <a:srgbClr val="FBF9F4"/>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6" name="Text 13"/>
          <p:cNvSpPr/>
          <p:nvPr/>
        </p:nvSpPr>
        <p:spPr>
          <a:xfrm>
            <a:off x="4588920" y="3106080"/>
            <a:ext cx="3104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Warm zone</a:t>
            </a:r>
            <a:endParaRPr lang="en-US" sz="1400" b="0" u="none" strike="noStrike">
              <a:solidFill>
                <a:srgbClr val="000000"/>
              </a:solidFill>
              <a:effectLst/>
              <a:uFillTx/>
              <a:latin typeface="Arial"/>
            </a:endParaRPr>
          </a:p>
        </p:txBody>
      </p:sp>
      <p:sp>
        <p:nvSpPr>
          <p:cNvPr id="767" name="Text 14"/>
          <p:cNvSpPr/>
          <p:nvPr/>
        </p:nvSpPr>
        <p:spPr>
          <a:xfrm>
            <a:off x="4588920" y="3370320"/>
            <a:ext cx="31042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Starts forgetting early details, repeats corrected mistakes.</a:t>
            </a:r>
            <a:endParaRPr lang="en-US" sz="1200" b="0" u="none" strike="noStrike">
              <a:solidFill>
                <a:srgbClr val="000000"/>
              </a:solidFill>
              <a:effectLst/>
              <a:uFillTx/>
              <a:latin typeface="Arial"/>
            </a:endParaRPr>
          </a:p>
        </p:txBody>
      </p:sp>
      <p:sp>
        <p:nvSpPr>
          <p:cNvPr id="768" name="Shape 15"/>
          <p:cNvSpPr/>
          <p:nvPr/>
        </p:nvSpPr>
        <p:spPr>
          <a:xfrm>
            <a:off x="7958520" y="2903040"/>
            <a:ext cx="3420360" cy="1096920"/>
          </a:xfrm>
          <a:prstGeom prst="roundRect">
            <a:avLst>
              <a:gd name="adj" fmla="val 9260"/>
            </a:avLst>
          </a:prstGeom>
          <a:solidFill>
            <a:srgbClr val="F6E3D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9" name="Text 16"/>
          <p:cNvSpPr/>
          <p:nvPr/>
        </p:nvSpPr>
        <p:spPr>
          <a:xfrm>
            <a:off x="8161920" y="3106080"/>
            <a:ext cx="3104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Dumb zone</a:t>
            </a:r>
            <a:endParaRPr lang="en-US" sz="1400" b="0" u="none" strike="noStrike">
              <a:solidFill>
                <a:srgbClr val="000000"/>
              </a:solidFill>
              <a:effectLst/>
              <a:uFillTx/>
              <a:latin typeface="Arial"/>
            </a:endParaRPr>
          </a:p>
        </p:txBody>
      </p:sp>
      <p:sp>
        <p:nvSpPr>
          <p:cNvPr id="770" name="Text 17"/>
          <p:cNvSpPr/>
          <p:nvPr/>
        </p:nvSpPr>
        <p:spPr>
          <a:xfrm>
            <a:off x="8161920" y="3370320"/>
            <a:ext cx="31042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Ignores rules, contradicts itself, invents APIs, mixes up old tasks.</a:t>
            </a:r>
            <a:endParaRPr lang="en-US" sz="1200" b="0" u="none" strike="noStrike">
              <a:solidFill>
                <a:srgbClr val="000000"/>
              </a:solidFill>
              <a:effectLst/>
              <a:uFillTx/>
              <a:latin typeface="Arial"/>
            </a:endParaRPr>
          </a:p>
        </p:txBody>
      </p:sp>
      <p:sp>
        <p:nvSpPr>
          <p:cNvPr id="771" name="Text 18"/>
          <p:cNvSpPr/>
          <p:nvPr/>
        </p:nvSpPr>
        <p:spPr>
          <a:xfrm>
            <a:off x="812880" y="4254120"/>
            <a:ext cx="108831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 heuristic (Dex Horthy / HumanLayer, Matt Pocock / AI Hero), not a law: the threshold depends on the model and the task. The zone doesn't follow the window limit — quality drops well before 100%, even with a 1M context window.</a:t>
            </a:r>
            <a:endParaRPr lang="en-US" sz="1200" b="0" u="none" strike="noStrike">
              <a:solidFill>
                <a:srgbClr val="000000"/>
              </a:solidFill>
              <a:effectLst/>
              <a:uFillTx/>
              <a:latin typeface="Arial"/>
            </a:endParaRPr>
          </a:p>
        </p:txBody>
      </p:sp>
      <p:sp>
        <p:nvSpPr>
          <p:cNvPr id="772" name="Text 19"/>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773" name="Text 20"/>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19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8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13 · SAVING</a:t>
            </a:r>
            <a:endParaRPr lang="en-US" sz="1200" b="0" u="none" strike="noStrike">
              <a:solidFill>
                <a:srgbClr val="000000"/>
              </a:solidFill>
              <a:effectLst/>
              <a:uFillTx/>
              <a:latin typeface="Arial"/>
            </a:endParaRPr>
          </a:p>
        </p:txBody>
      </p:sp>
      <p:sp>
        <p:nvSpPr>
          <p:cNvPr id="78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Eight habits that keep the context clean</a:t>
            </a:r>
            <a:endParaRPr lang="en-US" sz="3000" b="0" u="none" strike="noStrike">
              <a:solidFill>
                <a:schemeClr val="dk1"/>
              </a:solidFill>
              <a:effectLst/>
              <a:uFillTx/>
              <a:latin typeface="IBM Plex Sans"/>
            </a:endParaRPr>
          </a:p>
        </p:txBody>
      </p:sp>
      <p:sp>
        <p:nvSpPr>
          <p:cNvPr id="786" name="Shape 2"/>
          <p:cNvSpPr/>
          <p:nvPr/>
        </p:nvSpPr>
        <p:spPr>
          <a:xfrm>
            <a:off x="81612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87" name="Image 0" descr="Play"/>
          <p:cNvPicPr/>
          <p:nvPr/>
        </p:nvPicPr>
        <p:blipFill>
          <a:blip r:embed="rId1"/>
          <a:stretch/>
        </p:blipFill>
        <p:spPr>
          <a:xfrm>
            <a:off x="970560" y="1933200"/>
            <a:ext cx="228240" cy="228240"/>
          </a:xfrm>
          <a:prstGeom prst="rect">
            <a:avLst/>
          </a:prstGeom>
          <a:noFill/>
          <a:ln w="0">
            <a:noFill/>
          </a:ln>
        </p:spPr>
      </p:pic>
      <p:sp>
        <p:nvSpPr>
          <p:cNvPr id="788" name="Text 3"/>
          <p:cNvSpPr/>
          <p:nvPr/>
        </p:nvSpPr>
        <p:spPr>
          <a:xfrm>
            <a:off x="1300680" y="1940760"/>
            <a:ext cx="19962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1 session = 1 task</a:t>
            </a:r>
            <a:endParaRPr lang="en-US" sz="1400" b="0" u="none" strike="noStrike">
              <a:solidFill>
                <a:srgbClr val="000000"/>
              </a:solidFill>
              <a:effectLst/>
              <a:uFillTx/>
              <a:latin typeface="Arial"/>
            </a:endParaRPr>
          </a:p>
        </p:txBody>
      </p:sp>
      <p:sp>
        <p:nvSpPr>
          <p:cNvPr id="789" name="Text 4"/>
          <p:cNvSpPr/>
          <p:nvPr/>
        </p:nvSpPr>
        <p:spPr>
          <a:xfrm>
            <a:off x="97056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New task → new chat. Don't carry old history.</a:t>
            </a:r>
            <a:endParaRPr lang="en-US" sz="1200" b="0" u="none" strike="noStrike">
              <a:solidFill>
                <a:srgbClr val="000000"/>
              </a:solidFill>
              <a:effectLst/>
              <a:uFillTx/>
              <a:latin typeface="Arial"/>
            </a:endParaRPr>
          </a:p>
        </p:txBody>
      </p:sp>
      <p:sp>
        <p:nvSpPr>
          <p:cNvPr id="790" name="Shape 5"/>
          <p:cNvSpPr/>
          <p:nvPr/>
        </p:nvSpPr>
        <p:spPr>
          <a:xfrm>
            <a:off x="348948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1" name="Image 1" descr="Book"/>
          <p:cNvPicPr/>
          <p:nvPr/>
        </p:nvPicPr>
        <p:blipFill>
          <a:blip r:embed="rId2"/>
          <a:stretch/>
        </p:blipFill>
        <p:spPr>
          <a:xfrm>
            <a:off x="3643920" y="1933200"/>
            <a:ext cx="228240" cy="228240"/>
          </a:xfrm>
          <a:prstGeom prst="rect">
            <a:avLst/>
          </a:prstGeom>
          <a:noFill/>
          <a:ln w="0">
            <a:noFill/>
          </a:ln>
        </p:spPr>
      </p:pic>
      <p:sp>
        <p:nvSpPr>
          <p:cNvPr id="792" name="Text 6"/>
          <p:cNvSpPr/>
          <p:nvPr/>
        </p:nvSpPr>
        <p:spPr>
          <a:xfrm>
            <a:off x="3974040" y="1940760"/>
            <a:ext cx="12520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Plan in a file</a:t>
            </a:r>
            <a:endParaRPr lang="en-US" sz="1400" b="0" u="none" strike="noStrike">
              <a:solidFill>
                <a:srgbClr val="000000"/>
              </a:solidFill>
              <a:effectLst/>
              <a:uFillTx/>
              <a:latin typeface="Arial"/>
            </a:endParaRPr>
          </a:p>
        </p:txBody>
      </p:sp>
      <p:sp>
        <p:nvSpPr>
          <p:cNvPr id="793" name="Text 7"/>
          <p:cNvSpPr/>
          <p:nvPr/>
        </p:nvSpPr>
        <p:spPr>
          <a:xfrm>
            <a:off x="364392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Write plan.md, then a new session that reads it.</a:t>
            </a:r>
            <a:endParaRPr lang="en-US" sz="1200" b="0" u="none" strike="noStrike">
              <a:solidFill>
                <a:srgbClr val="000000"/>
              </a:solidFill>
              <a:effectLst/>
              <a:uFillTx/>
              <a:latin typeface="Arial"/>
            </a:endParaRPr>
          </a:p>
        </p:txBody>
      </p:sp>
      <p:sp>
        <p:nvSpPr>
          <p:cNvPr id="794" name="Shape 8"/>
          <p:cNvSpPr/>
          <p:nvPr/>
        </p:nvSpPr>
        <p:spPr>
          <a:xfrm>
            <a:off x="616284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5" name="Image 2" descr="Users"/>
          <p:cNvPicPr/>
          <p:nvPr/>
        </p:nvPicPr>
        <p:blipFill>
          <a:blip r:embed="rId3"/>
          <a:stretch/>
        </p:blipFill>
        <p:spPr>
          <a:xfrm>
            <a:off x="6317280" y="1933200"/>
            <a:ext cx="228240" cy="228240"/>
          </a:xfrm>
          <a:prstGeom prst="rect">
            <a:avLst/>
          </a:prstGeom>
          <a:noFill/>
          <a:ln w="0">
            <a:noFill/>
          </a:ln>
        </p:spPr>
      </p:pic>
      <p:sp>
        <p:nvSpPr>
          <p:cNvPr id="796" name="Text 9"/>
          <p:cNvSpPr/>
          <p:nvPr/>
        </p:nvSpPr>
        <p:spPr>
          <a:xfrm>
            <a:off x="6647400" y="1940760"/>
            <a:ext cx="1062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Subagents</a:t>
            </a:r>
            <a:endParaRPr lang="en-US" sz="1400" b="0" u="none" strike="noStrike">
              <a:solidFill>
                <a:srgbClr val="000000"/>
              </a:solidFill>
              <a:effectLst/>
              <a:uFillTx/>
              <a:latin typeface="Arial"/>
            </a:endParaRPr>
          </a:p>
        </p:txBody>
      </p:sp>
      <p:sp>
        <p:nvSpPr>
          <p:cNvPr id="797" name="Text 10"/>
          <p:cNvSpPr/>
          <p:nvPr/>
        </p:nvSpPr>
        <p:spPr>
          <a:xfrm>
            <a:off x="631728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Explore in their own context, return only a summary.</a:t>
            </a:r>
            <a:endParaRPr lang="en-US" sz="1200" b="0" u="none" strike="noStrike">
              <a:solidFill>
                <a:srgbClr val="000000"/>
              </a:solidFill>
              <a:effectLst/>
              <a:uFillTx/>
              <a:latin typeface="Arial"/>
            </a:endParaRPr>
          </a:p>
        </p:txBody>
      </p:sp>
      <p:sp>
        <p:nvSpPr>
          <p:cNvPr id="798" name="Shape 11"/>
          <p:cNvSpPr/>
          <p:nvPr/>
        </p:nvSpPr>
        <p:spPr>
          <a:xfrm>
            <a:off x="8836200" y="1778400"/>
            <a:ext cx="2539800" cy="102744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9" name="Image 3" descr="Search"/>
          <p:cNvPicPr/>
          <p:nvPr/>
        </p:nvPicPr>
        <p:blipFill>
          <a:blip r:embed="rId4"/>
          <a:stretch/>
        </p:blipFill>
        <p:spPr>
          <a:xfrm>
            <a:off x="8990640" y="1933200"/>
            <a:ext cx="228240" cy="228240"/>
          </a:xfrm>
          <a:prstGeom prst="rect">
            <a:avLst/>
          </a:prstGeom>
          <a:noFill/>
          <a:ln w="0">
            <a:noFill/>
          </a:ln>
        </p:spPr>
      </p:pic>
      <p:sp>
        <p:nvSpPr>
          <p:cNvPr id="800" name="Text 12"/>
          <p:cNvSpPr/>
          <p:nvPr/>
        </p:nvSpPr>
        <p:spPr>
          <a:xfrm>
            <a:off x="9320760" y="1940760"/>
            <a:ext cx="1666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Exact references</a:t>
            </a:r>
            <a:endParaRPr lang="en-US" sz="1400" b="0" u="none" strike="noStrike">
              <a:solidFill>
                <a:srgbClr val="000000"/>
              </a:solidFill>
              <a:effectLst/>
              <a:uFillTx/>
              <a:latin typeface="Arial"/>
            </a:endParaRPr>
          </a:p>
        </p:txBody>
      </p:sp>
      <p:sp>
        <p:nvSpPr>
          <p:cNvPr id="801" name="Text 13"/>
          <p:cNvSpPr/>
          <p:nvPr/>
        </p:nvSpPr>
        <p:spPr>
          <a:xfrm>
            <a:off x="8990640" y="2225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#file and the exact function, not “look around the repo”.</a:t>
            </a:r>
            <a:endParaRPr lang="en-US" sz="1200" b="0" u="none" strike="noStrike">
              <a:solidFill>
                <a:srgbClr val="000000"/>
              </a:solidFill>
              <a:effectLst/>
              <a:uFillTx/>
              <a:latin typeface="Arial"/>
            </a:endParaRPr>
          </a:p>
        </p:txBody>
      </p:sp>
      <p:sp>
        <p:nvSpPr>
          <p:cNvPr id="802" name="Shape 14"/>
          <p:cNvSpPr/>
          <p:nvPr/>
        </p:nvSpPr>
        <p:spPr>
          <a:xfrm>
            <a:off x="81612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03" name="Image 4" descr="Code"/>
          <p:cNvPicPr/>
          <p:nvPr/>
        </p:nvPicPr>
        <p:blipFill>
          <a:blip r:embed="rId5"/>
          <a:stretch/>
        </p:blipFill>
        <p:spPr>
          <a:xfrm>
            <a:off x="970560" y="3094200"/>
            <a:ext cx="228240" cy="228240"/>
          </a:xfrm>
          <a:prstGeom prst="rect">
            <a:avLst/>
          </a:prstGeom>
          <a:noFill/>
          <a:ln w="0">
            <a:noFill/>
          </a:ln>
        </p:spPr>
      </p:pic>
      <p:sp>
        <p:nvSpPr>
          <p:cNvPr id="804" name="Text 15"/>
          <p:cNvSpPr/>
          <p:nvPr/>
        </p:nvSpPr>
        <p:spPr>
          <a:xfrm>
            <a:off x="1300680" y="3101760"/>
            <a:ext cx="193860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Filter the output</a:t>
            </a:r>
            <a:endParaRPr lang="en-US" sz="1400" b="0" u="none" strike="noStrike">
              <a:solidFill>
                <a:srgbClr val="000000"/>
              </a:solidFill>
              <a:effectLst/>
              <a:uFillTx/>
              <a:latin typeface="Arial"/>
            </a:endParaRPr>
          </a:p>
        </p:txBody>
      </p:sp>
      <p:sp>
        <p:nvSpPr>
          <p:cNvPr id="805" name="Text 16"/>
          <p:cNvSpPr/>
          <p:nvPr/>
        </p:nvSpPr>
        <p:spPr>
          <a:xfrm>
            <a:off x="970560" y="3386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tail, grep, tests --silent; don't paste 3,000 lines.</a:t>
            </a:r>
            <a:endParaRPr lang="en-US" sz="1200" b="0" u="none" strike="noStrike">
              <a:solidFill>
                <a:srgbClr val="000000"/>
              </a:solidFill>
              <a:effectLst/>
              <a:uFillTx/>
              <a:latin typeface="Arial"/>
            </a:endParaRPr>
          </a:p>
        </p:txBody>
      </p:sp>
      <p:sp>
        <p:nvSpPr>
          <p:cNvPr id="806" name="Shape 17"/>
          <p:cNvSpPr/>
          <p:nvPr/>
        </p:nvSpPr>
        <p:spPr>
          <a:xfrm>
            <a:off x="348948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07" name="Image 5" descr="Link"/>
          <p:cNvPicPr/>
          <p:nvPr/>
        </p:nvPicPr>
        <p:blipFill>
          <a:blip r:embed="rId6"/>
          <a:stretch/>
        </p:blipFill>
        <p:spPr>
          <a:xfrm>
            <a:off x="3643920" y="3094200"/>
            <a:ext cx="228240" cy="228240"/>
          </a:xfrm>
          <a:prstGeom prst="rect">
            <a:avLst/>
          </a:prstGeom>
          <a:noFill/>
          <a:ln w="0">
            <a:noFill/>
          </a:ln>
        </p:spPr>
      </p:pic>
      <p:sp>
        <p:nvSpPr>
          <p:cNvPr id="808" name="Text 18"/>
          <p:cNvSpPr/>
          <p:nvPr/>
        </p:nvSpPr>
        <p:spPr>
          <a:xfrm>
            <a:off x="3974040" y="3101760"/>
            <a:ext cx="1960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Fewer MCPs</a:t>
            </a:r>
            <a:endParaRPr lang="en-US" sz="1400" b="0" u="none" strike="noStrike">
              <a:solidFill>
                <a:srgbClr val="000000"/>
              </a:solidFill>
              <a:effectLst/>
              <a:uFillTx/>
              <a:latin typeface="Arial"/>
            </a:endParaRPr>
          </a:p>
        </p:txBody>
      </p:sp>
      <p:sp>
        <p:nvSpPr>
          <p:cNvPr id="809" name="Text 19"/>
          <p:cNvSpPr/>
          <p:nvPr/>
        </p:nvSpPr>
        <p:spPr>
          <a:xfrm>
            <a:off x="3643920" y="3386160"/>
            <a:ext cx="229752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Turn off unused servers; the </a:t>
            </a:r>
            <a:r>
              <a:rPr lang="en-US" sz="1200" b="0" u="none" strike="noStrike">
                <a:solidFill>
                  <a:srgbClr val="444C5C"/>
                </a:solidFill>
                <a:effectLst/>
                <a:uFillTx/>
                <a:latin typeface="IBM Plex Sans"/>
                <a:ea typeface="IBM Plex Sans"/>
              </a:rPr>
              <a:t>CLI has tool search.</a:t>
            </a:r>
            <a:endParaRPr lang="en-US" sz="1200" b="0" u="none" strike="noStrike">
              <a:solidFill>
                <a:srgbClr val="000000"/>
              </a:solidFill>
              <a:effectLst/>
              <a:uFillTx/>
              <a:latin typeface="Arial"/>
            </a:endParaRPr>
          </a:p>
        </p:txBody>
      </p:sp>
      <p:sp>
        <p:nvSpPr>
          <p:cNvPr id="810" name="Shape 20"/>
          <p:cNvSpPr/>
          <p:nvPr/>
        </p:nvSpPr>
        <p:spPr>
          <a:xfrm>
            <a:off x="616284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11" name="Image 6" descr="Settings"/>
          <p:cNvPicPr/>
          <p:nvPr/>
        </p:nvPicPr>
        <p:blipFill>
          <a:blip r:embed="rId7"/>
          <a:stretch/>
        </p:blipFill>
        <p:spPr>
          <a:xfrm>
            <a:off x="6317280" y="3094200"/>
            <a:ext cx="228240" cy="228240"/>
          </a:xfrm>
          <a:prstGeom prst="rect">
            <a:avLst/>
          </a:prstGeom>
          <a:noFill/>
          <a:ln w="0">
            <a:noFill/>
          </a:ln>
        </p:spPr>
      </p:pic>
      <p:sp>
        <p:nvSpPr>
          <p:cNvPr id="812" name="Text 21"/>
          <p:cNvSpPr/>
          <p:nvPr/>
        </p:nvSpPr>
        <p:spPr>
          <a:xfrm>
            <a:off x="6647400" y="3101760"/>
            <a:ext cx="177228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Short AGENTS.md</a:t>
            </a:r>
            <a:endParaRPr lang="en-US" sz="1400" b="0" u="none" strike="noStrike">
              <a:solidFill>
                <a:srgbClr val="000000"/>
              </a:solidFill>
              <a:effectLst/>
              <a:uFillTx/>
              <a:latin typeface="Arial"/>
            </a:endParaRPr>
          </a:p>
        </p:txBody>
      </p:sp>
      <p:sp>
        <p:nvSpPr>
          <p:cNvPr id="813" name="Text 22"/>
          <p:cNvSpPr/>
          <p:nvPr/>
        </p:nvSpPr>
        <p:spPr>
          <a:xfrm>
            <a:off x="6317280" y="3386160"/>
            <a:ext cx="22975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Long procedures → skills, loaded only when needed.</a:t>
            </a:r>
            <a:endParaRPr lang="en-US" sz="1200" b="0" u="none" strike="noStrike">
              <a:solidFill>
                <a:srgbClr val="000000"/>
              </a:solidFill>
              <a:effectLst/>
              <a:uFillTx/>
              <a:latin typeface="Arial"/>
            </a:endParaRPr>
          </a:p>
        </p:txBody>
      </p:sp>
      <p:sp>
        <p:nvSpPr>
          <p:cNvPr id="814" name="Shape 23"/>
          <p:cNvSpPr/>
          <p:nvPr/>
        </p:nvSpPr>
        <p:spPr>
          <a:xfrm>
            <a:off x="8836200" y="2939400"/>
            <a:ext cx="2539800" cy="124056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15" name="Image 7" descr="Clock"/>
          <p:cNvPicPr/>
          <p:nvPr/>
        </p:nvPicPr>
        <p:blipFill>
          <a:blip r:embed="rId8"/>
          <a:stretch/>
        </p:blipFill>
        <p:spPr>
          <a:xfrm>
            <a:off x="8990640" y="3094200"/>
            <a:ext cx="228240" cy="228240"/>
          </a:xfrm>
          <a:prstGeom prst="rect">
            <a:avLst/>
          </a:prstGeom>
          <a:noFill/>
          <a:ln w="0">
            <a:noFill/>
          </a:ln>
        </p:spPr>
      </p:pic>
      <p:sp>
        <p:nvSpPr>
          <p:cNvPr id="816" name="Text 24"/>
          <p:cNvSpPr/>
          <p:nvPr/>
        </p:nvSpPr>
        <p:spPr>
          <a:xfrm>
            <a:off x="9320760" y="3101760"/>
            <a:ext cx="1753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/compact in time</a:t>
            </a:r>
            <a:endParaRPr lang="en-US" sz="1400" b="0" u="none" strike="noStrike">
              <a:solidFill>
                <a:srgbClr val="000000"/>
              </a:solidFill>
              <a:effectLst/>
              <a:uFillTx/>
              <a:latin typeface="Arial"/>
            </a:endParaRPr>
          </a:p>
        </p:txBody>
      </p:sp>
      <p:sp>
        <p:nvSpPr>
          <p:cNvPr id="817" name="Text 25"/>
          <p:cNvSpPr/>
          <p:nvPr/>
        </p:nvSpPr>
        <p:spPr>
          <a:xfrm>
            <a:off x="8990640" y="3386160"/>
            <a:ext cx="229752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At a natural boundary, with “keep X”; /clear when you change topic.</a:t>
            </a:r>
            <a:endParaRPr lang="en-US" sz="1200" b="0" u="none" strike="noStrike">
              <a:solidFill>
                <a:srgbClr val="000000"/>
              </a:solidFill>
              <a:effectLst/>
              <a:uFillTx/>
              <a:latin typeface="Arial"/>
            </a:endParaRPr>
          </a:p>
        </p:txBody>
      </p:sp>
      <p:sp>
        <p:nvSpPr>
          <p:cNvPr id="818" name="Text 26"/>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819" name="Text 27"/>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20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4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13 · SAVING</a:t>
            </a:r>
            <a:endParaRPr lang="en-US" sz="1200" b="0" u="none" strike="noStrike">
              <a:solidFill>
                <a:srgbClr val="000000"/>
              </a:solidFill>
              <a:effectLst/>
              <a:uFillTx/>
              <a:latin typeface="Arial"/>
            </a:endParaRPr>
          </a:p>
        </p:txBody>
      </p:sp>
      <p:sp>
        <p:nvSpPr>
          <p:cNvPr id="849"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Same bug, two prompts</a:t>
            </a:r>
            <a:endParaRPr lang="en-US" sz="3000" b="0" u="none" strike="noStrike">
              <a:solidFill>
                <a:schemeClr val="dk1"/>
              </a:solidFill>
              <a:effectLst/>
              <a:uFillTx/>
              <a:latin typeface="IBM Plex Sans"/>
            </a:endParaRPr>
          </a:p>
        </p:txBody>
      </p:sp>
      <p:sp>
        <p:nvSpPr>
          <p:cNvPr id="850" name="Shape 2"/>
          <p:cNvSpPr/>
          <p:nvPr/>
        </p:nvSpPr>
        <p:spPr>
          <a:xfrm>
            <a:off x="816120" y="1778400"/>
            <a:ext cx="5200200" cy="2906640"/>
          </a:xfrm>
          <a:prstGeom prst="roundRect">
            <a:avLst>
              <a:gd name="adj" fmla="val 338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51" name="Image 0" descr="Warning"/>
          <p:cNvPicPr/>
          <p:nvPr/>
        </p:nvPicPr>
        <p:blipFill>
          <a:blip r:embed="rId1"/>
          <a:stretch/>
        </p:blipFill>
        <p:spPr>
          <a:xfrm>
            <a:off x="1021320" y="1991520"/>
            <a:ext cx="228240" cy="228240"/>
          </a:xfrm>
          <a:prstGeom prst="rect">
            <a:avLst/>
          </a:prstGeom>
          <a:noFill/>
          <a:ln w="0">
            <a:noFill/>
          </a:ln>
        </p:spPr>
      </p:pic>
      <p:sp>
        <p:nvSpPr>
          <p:cNvPr id="852" name="Text 3"/>
          <p:cNvSpPr/>
          <p:nvPr/>
        </p:nvSpPr>
        <p:spPr>
          <a:xfrm>
            <a:off x="1351440" y="1983960"/>
            <a:ext cx="154548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Vague &amp; costly</a:t>
            </a:r>
            <a:endParaRPr lang="en-US" sz="1600" b="0" u="none" strike="noStrike">
              <a:solidFill>
                <a:srgbClr val="000000"/>
              </a:solidFill>
              <a:effectLst/>
              <a:uFillTx/>
              <a:latin typeface="Arial"/>
            </a:endParaRPr>
          </a:p>
        </p:txBody>
      </p:sp>
      <p:sp>
        <p:nvSpPr>
          <p:cNvPr id="853" name="Text 4"/>
          <p:cNvSpPr/>
          <p:nvPr/>
        </p:nvSpPr>
        <p:spPr>
          <a:xfrm>
            <a:off x="1021320" y="2329200"/>
            <a:ext cx="4789800" cy="746280"/>
          </a:xfrm>
          <a:prstGeom prst="roundRect">
            <a:avLst>
              <a:gd name="adj" fmla="val 13608"/>
            </a:avLst>
          </a:prstGeom>
          <a:solidFill>
            <a:srgbClr val="131A2A"/>
          </a:solidFill>
          <a:ln w="0">
            <a:noFill/>
          </a:ln>
        </p:spPr>
        <p:style>
          <a:lnRef idx="0"/>
          <a:fillRef idx="0"/>
          <a:effectRef idx="0"/>
          <a:fontRef idx="minor"/>
        </p:style>
        <p:txBody>
          <a:bodyPr wrap="none" lIns="173520" tIns="122760" rIns="4176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The tests fail, fix them.</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[+ 3,000 lines of pasted log]</a:t>
            </a:r>
            <a:endParaRPr lang="en-US" sz="1200" b="0" u="none" strike="noStrike">
              <a:solidFill>
                <a:srgbClr val="FFFFFF"/>
              </a:solidFill>
              <a:effectLst/>
              <a:uFillTx/>
              <a:latin typeface="Arial"/>
            </a:endParaRPr>
          </a:p>
        </p:txBody>
      </p:sp>
      <p:sp>
        <p:nvSpPr>
          <p:cNvPr id="854" name="Text 5"/>
          <p:cNvSpPr/>
          <p:nvPr/>
        </p:nvSpPr>
        <p:spPr>
          <a:xfrm>
            <a:off x="1119960" y="3177360"/>
            <a:ext cx="4826880" cy="87840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reads half the repo to understand</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runs the whole suite several times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the log fills the context → dumb zone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guesses the cause</a:t>
            </a:r>
            <a:endParaRPr lang="en-US" sz="1200" b="0" u="none" strike="noStrike">
              <a:solidFill>
                <a:srgbClr val="000000"/>
              </a:solidFill>
              <a:effectLst/>
              <a:uFillTx/>
              <a:latin typeface="Arial"/>
            </a:endParaRPr>
          </a:p>
        </p:txBody>
      </p:sp>
      <p:sp>
        <p:nvSpPr>
          <p:cNvPr id="855" name="Shape 6"/>
          <p:cNvSpPr/>
          <p:nvPr/>
        </p:nvSpPr>
        <p:spPr>
          <a:xfrm>
            <a:off x="6175440" y="1778400"/>
            <a:ext cx="5200200" cy="2906640"/>
          </a:xfrm>
          <a:prstGeom prst="roundRect">
            <a:avLst>
              <a:gd name="adj" fmla="val 338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56" name="Image 1" descr="CheckCircle"/>
          <p:cNvPicPr/>
          <p:nvPr/>
        </p:nvPicPr>
        <p:blipFill>
          <a:blip r:embed="rId2"/>
          <a:stretch/>
        </p:blipFill>
        <p:spPr>
          <a:xfrm>
            <a:off x="6380640" y="1991520"/>
            <a:ext cx="228240" cy="228240"/>
          </a:xfrm>
          <a:prstGeom prst="rect">
            <a:avLst/>
          </a:prstGeom>
          <a:noFill/>
          <a:ln w="0">
            <a:noFill/>
          </a:ln>
        </p:spPr>
      </p:pic>
      <p:sp>
        <p:nvSpPr>
          <p:cNvPr id="857" name="Text 7"/>
          <p:cNvSpPr/>
          <p:nvPr/>
        </p:nvSpPr>
        <p:spPr>
          <a:xfrm>
            <a:off x="6710760" y="1983960"/>
            <a:ext cx="158544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Precise &amp; cheap</a:t>
            </a:r>
            <a:endParaRPr lang="en-US" sz="1600" b="0" u="none" strike="noStrike">
              <a:solidFill>
                <a:srgbClr val="000000"/>
              </a:solidFill>
              <a:effectLst/>
              <a:uFillTx/>
              <a:latin typeface="Arial"/>
            </a:endParaRPr>
          </a:p>
        </p:txBody>
      </p:sp>
      <p:sp>
        <p:nvSpPr>
          <p:cNvPr id="858" name="Text 8"/>
          <p:cNvSpPr/>
          <p:nvPr/>
        </p:nvSpPr>
        <p:spPr>
          <a:xfrm>
            <a:off x="6380640" y="2329200"/>
            <a:ext cx="4789800" cy="1409040"/>
          </a:xfrm>
          <a:prstGeom prst="roundRect">
            <a:avLst>
              <a:gd name="adj" fmla="val 7209"/>
            </a:avLst>
          </a:prstGeom>
          <a:solidFill>
            <a:srgbClr val="131A2A"/>
          </a:solidFill>
          <a:ln w="0">
            <a:noFill/>
          </a:ln>
        </p:spPr>
        <p:style>
          <a:lnRef idx="0"/>
          <a:fillRef idx="0"/>
          <a:effectRef idx="0"/>
          <a:fontRef idx="minor"/>
        </p:style>
        <p:txBody>
          <a:bodyPr wrap="none" lIns="173520" tIns="122760" rIns="41760" bIns="97200" anchor="t">
            <a:normAutofit/>
          </a:bodyPr>
          <a:p>
            <a:pPr defTabSz="914400">
              <a:lnSpc>
                <a:spcPts val="1740"/>
              </a:lnSpc>
              <a:tabLst>
                <a:tab pos="0" algn="l"/>
              </a:tabLst>
            </a:pPr>
            <a:r>
              <a:rPr lang="en-US" sz="1200" b="0" u="none" strike="noStrike">
                <a:solidFill>
                  <a:srgbClr val="E6E1D5"/>
                </a:solidFill>
                <a:effectLst/>
                <a:uFillTx/>
                <a:latin typeface="JetBrains Mono"/>
                <a:ea typeface="JetBrains Mono"/>
              </a:rPr>
              <a:t>In OrderService.test.ts, the test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“applies VIP discount” fails since yesterday.</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Error: expected 90, received 100.</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Find the cause in OrderService.ts, make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the minimal fix, run only this file.</a:t>
            </a:r>
            <a:endParaRPr lang="en-US" sz="1200" b="0" u="none" strike="noStrike">
              <a:solidFill>
                <a:srgbClr val="FFFFFF"/>
              </a:solidFill>
              <a:effectLst/>
              <a:uFillTx/>
              <a:latin typeface="Arial"/>
            </a:endParaRPr>
          </a:p>
        </p:txBody>
      </p:sp>
      <p:sp>
        <p:nvSpPr>
          <p:cNvPr id="859" name="Text 9"/>
          <p:cNvSpPr/>
          <p:nvPr/>
        </p:nvSpPr>
        <p:spPr>
          <a:xfrm>
            <a:off x="6479640" y="3840120"/>
            <a:ext cx="4826880" cy="664920"/>
          </a:xfrm>
          <a:prstGeom prst="rect">
            <a:avLst/>
          </a:prstGeom>
          <a:noFill/>
          <a:ln w="0">
            <a:noFill/>
          </a:ln>
        </p:spPr>
        <p:style>
          <a:lnRef idx="0"/>
          <a:fillRef idx="0"/>
          <a:effectRef idx="0"/>
          <a:fontRef idx="minor"/>
        </p:style>
        <p:txBody>
          <a:bodyPr lIns="0" tIns="0" rIns="0" bIns="0" anchor="t">
            <a:normAutofit/>
          </a:bodyPr>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the exact files and error</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a single test file run</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stays in the smart zone</a:t>
            </a:r>
            <a:endParaRPr lang="en-US" sz="1200" b="0" u="none" strike="noStrike">
              <a:solidFill>
                <a:srgbClr val="000000"/>
              </a:solidFill>
              <a:effectLst/>
              <a:uFillTx/>
              <a:latin typeface="Arial"/>
            </a:endParaRPr>
          </a:p>
        </p:txBody>
      </p:sp>
      <p:sp>
        <p:nvSpPr>
          <p:cNvPr id="860" name="Text 1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861" name="Text 1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21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68"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14 · BONUS</a:t>
            </a:r>
            <a:endParaRPr lang="en-US" sz="1200" b="0" u="none" strike="noStrike">
              <a:solidFill>
                <a:srgbClr val="000000"/>
              </a:solidFill>
              <a:effectLst/>
              <a:uFillTx/>
              <a:latin typeface="Arial"/>
            </a:endParaRPr>
          </a:p>
        </p:txBody>
      </p:sp>
      <p:sp>
        <p:nvSpPr>
          <p:cNvPr id="869" name="PlaceHolder 1"/>
          <p:cNvSpPr>
            <a:spLocks noGrp="1"/>
          </p:cNvSpPr>
          <p:nvPr>
            <p:ph type="title"/>
          </p:nvPr>
        </p:nvSpPr>
        <p:spPr>
          <a:xfrm>
            <a:off x="812880" y="1102320"/>
            <a:ext cx="10883160" cy="86328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The flow that works: Research → Plan → Implement → Review</a:t>
            </a:r>
            <a:endParaRPr lang="en-US" sz="3000" b="0" u="none" strike="noStrike">
              <a:solidFill>
                <a:schemeClr val="dk1"/>
              </a:solidFill>
              <a:effectLst/>
              <a:uFillTx/>
              <a:latin typeface="IBM Plex Sans"/>
            </a:endParaRPr>
          </a:p>
        </p:txBody>
      </p:sp>
      <p:sp>
        <p:nvSpPr>
          <p:cNvPr id="870" name="Shape 2"/>
          <p:cNvSpPr/>
          <p:nvPr/>
        </p:nvSpPr>
        <p:spPr>
          <a:xfrm>
            <a:off x="816120" y="2197440"/>
            <a:ext cx="234900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1" name="Text 3"/>
          <p:cNvSpPr/>
          <p:nvPr/>
        </p:nvSpPr>
        <p:spPr>
          <a:xfrm>
            <a:off x="1021320" y="2403000"/>
            <a:ext cx="199656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1 · Research</a:t>
            </a:r>
            <a:endParaRPr lang="en-US" sz="1600" b="0" u="none" strike="noStrike">
              <a:solidFill>
                <a:srgbClr val="000000"/>
              </a:solidFill>
              <a:effectLst/>
              <a:uFillTx/>
              <a:latin typeface="Arial"/>
            </a:endParaRPr>
          </a:p>
        </p:txBody>
      </p:sp>
      <p:sp>
        <p:nvSpPr>
          <p:cNvPr id="872" name="Text 4"/>
          <p:cNvSpPr/>
          <p:nvPr/>
        </p:nvSpPr>
        <p:spPr>
          <a:xfrm>
            <a:off x="1021320" y="2710080"/>
            <a:ext cx="19965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Ask or an exploration subagent</a:t>
            </a:r>
            <a:endParaRPr lang="en-US" sz="1200" b="0" u="none" strike="noStrike">
              <a:solidFill>
                <a:srgbClr val="000000"/>
              </a:solidFill>
              <a:effectLst/>
              <a:uFillTx/>
              <a:latin typeface="Arial"/>
            </a:endParaRPr>
          </a:p>
        </p:txBody>
      </p:sp>
      <p:sp>
        <p:nvSpPr>
          <p:cNvPr id="873" name="Text 5"/>
          <p:cNvSpPr/>
          <p:nvPr/>
        </p:nvSpPr>
        <p:spPr>
          <a:xfrm>
            <a:off x="1021320" y="3200400"/>
            <a:ext cx="19965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cheap model</a:t>
            </a:r>
            <a:endParaRPr lang="en-US" sz="1200" b="0" u="none" strike="noStrike">
              <a:solidFill>
                <a:srgbClr val="000000"/>
              </a:solidFill>
              <a:effectLst/>
              <a:uFillTx/>
              <a:latin typeface="Arial"/>
            </a:endParaRPr>
          </a:p>
        </p:txBody>
      </p:sp>
      <p:sp>
        <p:nvSpPr>
          <p:cNvPr id="874" name="Text 6"/>
          <p:cNvSpPr/>
          <p:nvPr/>
        </p:nvSpPr>
        <p:spPr>
          <a:xfrm>
            <a:off x="1021320" y="3477240"/>
            <a:ext cx="199656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 notes.md: facts, files, flows. No opinions.</a:t>
            </a:r>
            <a:endParaRPr lang="en-US" sz="1200" b="0" u="none" strike="noStrike">
              <a:solidFill>
                <a:srgbClr val="000000"/>
              </a:solidFill>
              <a:effectLst/>
              <a:uFillTx/>
              <a:latin typeface="Arial"/>
            </a:endParaRPr>
          </a:p>
        </p:txBody>
      </p:sp>
      <p:pic>
        <p:nvPicPr>
          <p:cNvPr id="875" name="Image 0" descr="arrow-right"/>
          <p:cNvPicPr/>
          <p:nvPr/>
        </p:nvPicPr>
        <p:blipFill>
          <a:blip r:embed="rId1"/>
          <a:stretch/>
        </p:blipFill>
        <p:spPr>
          <a:xfrm>
            <a:off x="3244680" y="3077280"/>
            <a:ext cx="228240" cy="151920"/>
          </a:xfrm>
          <a:prstGeom prst="rect">
            <a:avLst/>
          </a:prstGeom>
          <a:noFill/>
          <a:ln w="0">
            <a:noFill/>
          </a:ln>
        </p:spPr>
      </p:pic>
      <p:sp>
        <p:nvSpPr>
          <p:cNvPr id="876" name="Shape 7"/>
          <p:cNvSpPr/>
          <p:nvPr/>
        </p:nvSpPr>
        <p:spPr>
          <a:xfrm>
            <a:off x="3552840" y="2197440"/>
            <a:ext cx="234936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7" name="Text 8"/>
          <p:cNvSpPr/>
          <p:nvPr/>
        </p:nvSpPr>
        <p:spPr>
          <a:xfrm>
            <a:off x="3758040" y="2403000"/>
            <a:ext cx="19969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2 · Plan</a:t>
            </a:r>
            <a:endParaRPr lang="en-US" sz="1600" b="0" u="none" strike="noStrike">
              <a:solidFill>
                <a:srgbClr val="000000"/>
              </a:solidFill>
              <a:effectLst/>
              <a:uFillTx/>
              <a:latin typeface="Arial"/>
            </a:endParaRPr>
          </a:p>
        </p:txBody>
      </p:sp>
      <p:sp>
        <p:nvSpPr>
          <p:cNvPr id="878" name="Text 9"/>
          <p:cNvSpPr/>
          <p:nvPr/>
        </p:nvSpPr>
        <p:spPr>
          <a:xfrm>
            <a:off x="3758040" y="271008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Plan agent + /grill-me</a:t>
            </a:r>
            <a:endParaRPr lang="en-US" sz="1200" b="0" u="none" strike="noStrike">
              <a:solidFill>
                <a:srgbClr val="000000"/>
              </a:solidFill>
              <a:effectLst/>
              <a:uFillTx/>
              <a:latin typeface="Arial"/>
            </a:endParaRPr>
          </a:p>
        </p:txBody>
      </p:sp>
      <p:sp>
        <p:nvSpPr>
          <p:cNvPr id="879" name="Text 10"/>
          <p:cNvSpPr/>
          <p:nvPr/>
        </p:nvSpPr>
        <p:spPr>
          <a:xfrm>
            <a:off x="3758040" y="298692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strong model</a:t>
            </a:r>
            <a:endParaRPr lang="en-US" sz="1200" b="0" u="none" strike="noStrike">
              <a:solidFill>
                <a:srgbClr val="000000"/>
              </a:solidFill>
              <a:effectLst/>
              <a:uFillTx/>
              <a:latin typeface="Arial"/>
            </a:endParaRPr>
          </a:p>
        </p:txBody>
      </p:sp>
      <p:sp>
        <p:nvSpPr>
          <p:cNvPr id="880" name="Text 11"/>
          <p:cNvSpPr/>
          <p:nvPr/>
        </p:nvSpPr>
        <p:spPr>
          <a:xfrm>
            <a:off x="3758040" y="3263760"/>
            <a:ext cx="19969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 plan.md: small, verifiable steps.</a:t>
            </a:r>
            <a:endParaRPr lang="en-US" sz="1200" b="0" u="none" strike="noStrike">
              <a:solidFill>
                <a:srgbClr val="000000"/>
              </a:solidFill>
              <a:effectLst/>
              <a:uFillTx/>
              <a:latin typeface="Arial"/>
            </a:endParaRPr>
          </a:p>
        </p:txBody>
      </p:sp>
      <p:pic>
        <p:nvPicPr>
          <p:cNvPr id="881" name="Image 1" descr="arrow-right"/>
          <p:cNvPicPr/>
          <p:nvPr/>
        </p:nvPicPr>
        <p:blipFill>
          <a:blip r:embed="rId2"/>
          <a:stretch/>
        </p:blipFill>
        <p:spPr>
          <a:xfrm>
            <a:off x="5981760" y="3077280"/>
            <a:ext cx="228240" cy="151920"/>
          </a:xfrm>
          <a:prstGeom prst="rect">
            <a:avLst/>
          </a:prstGeom>
          <a:noFill/>
          <a:ln w="0">
            <a:noFill/>
          </a:ln>
        </p:spPr>
      </p:pic>
      <p:sp>
        <p:nvSpPr>
          <p:cNvPr id="882" name="Shape 12"/>
          <p:cNvSpPr/>
          <p:nvPr/>
        </p:nvSpPr>
        <p:spPr>
          <a:xfrm>
            <a:off x="6289560" y="2197440"/>
            <a:ext cx="234936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3" name="Text 13"/>
          <p:cNvSpPr/>
          <p:nvPr/>
        </p:nvSpPr>
        <p:spPr>
          <a:xfrm>
            <a:off x="6495120" y="2403000"/>
            <a:ext cx="19969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3 · Implement</a:t>
            </a:r>
            <a:endParaRPr lang="en-US" sz="1600" b="0" u="none" strike="noStrike">
              <a:solidFill>
                <a:srgbClr val="000000"/>
              </a:solidFill>
              <a:effectLst/>
              <a:uFillTx/>
              <a:latin typeface="Arial"/>
            </a:endParaRPr>
          </a:p>
        </p:txBody>
      </p:sp>
      <p:sp>
        <p:nvSpPr>
          <p:cNvPr id="884" name="Text 14"/>
          <p:cNvSpPr/>
          <p:nvPr/>
        </p:nvSpPr>
        <p:spPr>
          <a:xfrm>
            <a:off x="6495120" y="271008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Agent / CLI / cloud</a:t>
            </a:r>
            <a:endParaRPr lang="en-US" sz="1200" b="0" u="none" strike="noStrike">
              <a:solidFill>
                <a:srgbClr val="000000"/>
              </a:solidFill>
              <a:effectLst/>
              <a:uFillTx/>
              <a:latin typeface="Arial"/>
            </a:endParaRPr>
          </a:p>
        </p:txBody>
      </p:sp>
      <p:sp>
        <p:nvSpPr>
          <p:cNvPr id="885" name="Text 15"/>
          <p:cNvSpPr/>
          <p:nvPr/>
        </p:nvSpPr>
        <p:spPr>
          <a:xfrm>
            <a:off x="6495120" y="298692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balanced model</a:t>
            </a:r>
            <a:endParaRPr lang="en-US" sz="1200" b="0" u="none" strike="noStrike">
              <a:solidFill>
                <a:srgbClr val="000000"/>
              </a:solidFill>
              <a:effectLst/>
              <a:uFillTx/>
              <a:latin typeface="Arial"/>
            </a:endParaRPr>
          </a:p>
        </p:txBody>
      </p:sp>
      <p:sp>
        <p:nvSpPr>
          <p:cNvPr id="886" name="Text 16"/>
          <p:cNvSpPr/>
          <p:nvPr/>
        </p:nvSpPr>
        <p:spPr>
          <a:xfrm>
            <a:off x="6495120" y="3263760"/>
            <a:ext cx="19969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New session, one step at a time, tests after each step.</a:t>
            </a:r>
            <a:endParaRPr lang="en-US" sz="1200" b="0" u="none" strike="noStrike">
              <a:solidFill>
                <a:srgbClr val="000000"/>
              </a:solidFill>
              <a:effectLst/>
              <a:uFillTx/>
              <a:latin typeface="Arial"/>
            </a:endParaRPr>
          </a:p>
        </p:txBody>
      </p:sp>
      <p:pic>
        <p:nvPicPr>
          <p:cNvPr id="887" name="Image 2" descr="arrow-right"/>
          <p:cNvPicPr/>
          <p:nvPr/>
        </p:nvPicPr>
        <p:blipFill>
          <a:blip r:embed="rId3"/>
          <a:stretch/>
        </p:blipFill>
        <p:spPr>
          <a:xfrm>
            <a:off x="8718480" y="3077280"/>
            <a:ext cx="228240" cy="151920"/>
          </a:xfrm>
          <a:prstGeom prst="rect">
            <a:avLst/>
          </a:prstGeom>
          <a:noFill/>
          <a:ln w="0">
            <a:noFill/>
          </a:ln>
        </p:spPr>
      </p:pic>
      <p:sp>
        <p:nvSpPr>
          <p:cNvPr id="888" name="Shape 17"/>
          <p:cNvSpPr/>
          <p:nvPr/>
        </p:nvSpPr>
        <p:spPr>
          <a:xfrm>
            <a:off x="9026640" y="2197440"/>
            <a:ext cx="2349360" cy="191124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9" name="Text 18"/>
          <p:cNvSpPr/>
          <p:nvPr/>
        </p:nvSpPr>
        <p:spPr>
          <a:xfrm>
            <a:off x="9231840" y="2403000"/>
            <a:ext cx="1996920" cy="268920"/>
          </a:xfrm>
          <a:prstGeom prst="rect">
            <a:avLst/>
          </a:prstGeom>
          <a:noFill/>
          <a:ln w="0">
            <a:noFill/>
          </a:ln>
        </p:spPr>
        <p:style>
          <a:lnRef idx="0"/>
          <a:fillRef idx="0"/>
          <a:effectRef idx="0"/>
          <a:fontRef idx="minor"/>
        </p:style>
        <p:txBody>
          <a:bodyPr lIns="0" tIns="0" rIns="0" bIns="0" anchor="t">
            <a:normAutofit/>
          </a:bodyPr>
          <a:p>
            <a:pPr defTabSz="914400">
              <a:lnSpc>
                <a:spcPts val="1919"/>
              </a:lnSpc>
              <a:tabLst>
                <a:tab pos="0" algn="l"/>
              </a:tabLst>
            </a:pPr>
            <a:r>
              <a:rPr lang="en-US" sz="1600" b="1" u="none" strike="noStrike">
                <a:solidFill>
                  <a:srgbClr val="131A2A"/>
                </a:solidFill>
                <a:effectLst/>
                <a:uFillTx/>
                <a:latin typeface="Space Grotesk"/>
                <a:ea typeface="Space Grotesk"/>
              </a:rPr>
              <a:t>4 · Review</a:t>
            </a:r>
            <a:endParaRPr lang="en-US" sz="1600" b="0" u="none" strike="noStrike">
              <a:solidFill>
                <a:srgbClr val="000000"/>
              </a:solidFill>
              <a:effectLst/>
              <a:uFillTx/>
              <a:latin typeface="Arial"/>
            </a:endParaRPr>
          </a:p>
        </p:txBody>
      </p:sp>
      <p:sp>
        <p:nvSpPr>
          <p:cNvPr id="890" name="Text 19"/>
          <p:cNvSpPr/>
          <p:nvPr/>
        </p:nvSpPr>
        <p:spPr>
          <a:xfrm>
            <a:off x="9231840" y="271008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You + code review</a:t>
            </a:r>
            <a:endParaRPr lang="en-US" sz="1200" b="0" u="none" strike="noStrike">
              <a:solidFill>
                <a:srgbClr val="000000"/>
              </a:solidFill>
              <a:effectLst/>
              <a:uFillTx/>
              <a:latin typeface="Arial"/>
            </a:endParaRPr>
          </a:p>
        </p:txBody>
      </p:sp>
      <p:sp>
        <p:nvSpPr>
          <p:cNvPr id="891" name="Text 20"/>
          <p:cNvSpPr/>
          <p:nvPr/>
        </p:nvSpPr>
        <p:spPr>
          <a:xfrm>
            <a:off x="9231840" y="2986920"/>
            <a:ext cx="199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2B5E96"/>
                </a:solidFill>
                <a:effectLst/>
                <a:uFillTx/>
                <a:latin typeface="IBM Plex Sans"/>
                <a:ea typeface="IBM Plex Sans"/>
              </a:rPr>
              <a:t>reviewer agent</a:t>
            </a:r>
            <a:endParaRPr lang="en-US" sz="1200" b="0" u="none" strike="noStrike">
              <a:solidFill>
                <a:srgbClr val="000000"/>
              </a:solidFill>
              <a:effectLst/>
              <a:uFillTx/>
              <a:latin typeface="Arial"/>
            </a:endParaRPr>
          </a:p>
        </p:txBody>
      </p:sp>
      <p:sp>
        <p:nvSpPr>
          <p:cNvPr id="892" name="Text 21"/>
          <p:cNvSpPr/>
          <p:nvPr/>
        </p:nvSpPr>
        <p:spPr>
          <a:xfrm>
            <a:off x="9231840" y="3263760"/>
            <a:ext cx="19969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Read the diff. Code ships, not the plan.</a:t>
            </a:r>
            <a:endParaRPr lang="en-US" sz="1200" b="0" u="none" strike="noStrike">
              <a:solidFill>
                <a:srgbClr val="000000"/>
              </a:solidFill>
              <a:effectLst/>
              <a:uFillTx/>
              <a:latin typeface="Arial"/>
            </a:endParaRPr>
          </a:p>
        </p:txBody>
      </p:sp>
      <p:sp>
        <p:nvSpPr>
          <p:cNvPr id="893" name="Text 22"/>
          <p:cNvSpPr/>
          <p:nvPr/>
        </p:nvSpPr>
        <p:spPr>
          <a:xfrm>
            <a:off x="812880" y="4366440"/>
            <a:ext cx="10566000" cy="654840"/>
          </a:xfrm>
          <a:prstGeom prst="roundRect">
            <a:avLst>
              <a:gd name="adj" fmla="val 15504"/>
            </a:avLst>
          </a:prstGeom>
          <a:solidFill>
            <a:srgbClr val="DCE8F5"/>
          </a:solidFill>
          <a:ln w="0">
            <a:noFill/>
          </a:ln>
        </p:spPr>
        <p:style>
          <a:lnRef idx="0"/>
          <a:fillRef idx="0"/>
          <a:effectRef idx="0"/>
          <a:fontRef idx="minor"/>
        </p:style>
        <p:txBody>
          <a:bodyPr lIns="173520" tIns="173520" rIns="0" bIns="147960" anchor="t">
            <a:normAutofit/>
          </a:bodyPr>
          <a:p>
            <a:pPr defTabSz="914400">
              <a:lnSpc>
                <a:spcPts val="1959"/>
              </a:lnSpc>
              <a:tabLst>
                <a:tab pos="0" algn="l"/>
              </a:tabLst>
            </a:pPr>
            <a:r>
              <a:rPr lang="en-US" sz="1400" b="0" u="none" strike="noStrike">
                <a:solidFill>
                  <a:srgbClr val="131A2A"/>
                </a:solidFill>
                <a:effectLst/>
                <a:uFillTx/>
                <a:latin typeface="IBM Plex Sans"/>
                <a:ea typeface="IBM Plex Sans"/>
              </a:rPr>
              <a:t>Between stages: </a:t>
            </a:r>
            <a:r>
              <a:rPr lang="en-US" sz="1400" b="1" u="none" strike="noStrike">
                <a:solidFill>
                  <a:srgbClr val="131A2A"/>
                </a:solidFill>
                <a:effectLst/>
                <a:uFillTx/>
                <a:latin typeface="IBM Plex Sans"/>
                <a:ea typeface="IBM Plex Sans"/>
              </a:rPr>
              <a:t>a new session + the written artifact</a:t>
            </a:r>
            <a:r>
              <a:rPr lang="en-US" sz="1400" b="0" u="none" strike="noStrike">
                <a:solidFill>
                  <a:srgbClr val="131A2A"/>
                </a:solidFill>
                <a:effectLst/>
                <a:uFillTx/>
                <a:latin typeface="IBM Plex Sans"/>
                <a:ea typeface="IBM Plex Sans"/>
              </a:rPr>
              <a:t> (notes.md, plan.md). That way every stage starts in the smart zone.</a:t>
            </a:r>
            <a:endParaRPr lang="en-US" sz="1400" b="0" u="none" strike="noStrike">
              <a:solidFill>
                <a:srgbClr val="000000"/>
              </a:solidFill>
              <a:effectLst/>
              <a:uFillTx/>
              <a:latin typeface="Arial"/>
            </a:endParaRPr>
          </a:p>
        </p:txBody>
      </p:sp>
      <p:sp>
        <p:nvSpPr>
          <p:cNvPr id="894" name="Text 23"/>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895" name="Text 24"/>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22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96"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14 · BONUS</a:t>
            </a:r>
            <a:endParaRPr lang="en-US" sz="1200" b="0" u="none" strike="noStrike">
              <a:solidFill>
                <a:srgbClr val="000000"/>
              </a:solidFill>
              <a:effectLst/>
              <a:uFillTx/>
              <a:latin typeface="Arial"/>
            </a:endParaRPr>
          </a:p>
        </p:txBody>
      </p:sp>
      <p:sp>
        <p:nvSpPr>
          <p:cNvPr id="897"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Safety: non-negotiable rules</a:t>
            </a:r>
            <a:endParaRPr lang="en-US" sz="3000" b="0" u="none" strike="noStrike">
              <a:solidFill>
                <a:schemeClr val="dk1"/>
              </a:solidFill>
              <a:effectLst/>
              <a:uFillTx/>
              <a:latin typeface="IBM Plex Sans"/>
            </a:endParaRPr>
          </a:p>
        </p:txBody>
      </p:sp>
      <p:sp>
        <p:nvSpPr>
          <p:cNvPr id="898" name="Shape 2"/>
          <p:cNvSpPr/>
          <p:nvPr/>
        </p:nvSpPr>
        <p:spPr>
          <a:xfrm>
            <a:off x="81612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99" name="Image 0" descr="Search"/>
          <p:cNvPicPr/>
          <p:nvPr/>
        </p:nvPicPr>
        <p:blipFill>
          <a:blip r:embed="rId1"/>
          <a:stretch/>
        </p:blipFill>
        <p:spPr>
          <a:xfrm>
            <a:off x="1021320" y="1983960"/>
            <a:ext cx="228240" cy="228240"/>
          </a:xfrm>
          <a:prstGeom prst="rect">
            <a:avLst/>
          </a:prstGeom>
          <a:noFill/>
          <a:ln w="0">
            <a:noFill/>
          </a:ln>
        </p:spPr>
      </p:pic>
      <p:sp>
        <p:nvSpPr>
          <p:cNvPr id="900" name="Text 3"/>
          <p:cNvSpPr/>
          <p:nvPr/>
        </p:nvSpPr>
        <p:spPr>
          <a:xfrm>
            <a:off x="1351440" y="1991520"/>
            <a:ext cx="21344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Review every diff</a:t>
            </a:r>
            <a:endParaRPr lang="en-US" sz="1400" b="0" u="none" strike="noStrike">
              <a:solidFill>
                <a:srgbClr val="000000"/>
              </a:solidFill>
              <a:effectLst/>
              <a:uFillTx/>
              <a:latin typeface="Arial"/>
            </a:endParaRPr>
          </a:p>
        </p:txBody>
      </p:sp>
      <p:sp>
        <p:nvSpPr>
          <p:cNvPr id="901" name="Text 4"/>
          <p:cNvSpPr/>
          <p:nvPr/>
        </p:nvSpPr>
        <p:spPr>
          <a:xfrm>
            <a:off x="1021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As for a PR from a new colleague: </a:t>
            </a:r>
            <a:r>
              <a:rPr lang="en-US" sz="1200" b="0" u="none" strike="noStrike">
                <a:solidFill>
                  <a:srgbClr val="444C5C"/>
                </a:solidFill>
                <a:effectLst/>
                <a:uFillTx/>
                <a:latin typeface="IBM Plex Sans"/>
                <a:ea typeface="IBM Plex Sans"/>
              </a:rPr>
              <a:t>logic, tests, security.</a:t>
            </a:r>
            <a:endParaRPr lang="en-US" sz="1200" b="0" u="none" strike="noStrike">
              <a:solidFill>
                <a:srgbClr val="000000"/>
              </a:solidFill>
              <a:effectLst/>
              <a:uFillTx/>
              <a:latin typeface="Arial"/>
            </a:endParaRPr>
          </a:p>
        </p:txBody>
      </p:sp>
      <p:sp>
        <p:nvSpPr>
          <p:cNvPr id="902" name="Shape 5"/>
          <p:cNvSpPr/>
          <p:nvPr/>
        </p:nvSpPr>
        <p:spPr>
          <a:xfrm>
            <a:off x="4388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03" name="Image 1" descr="Lock"/>
          <p:cNvPicPr/>
          <p:nvPr/>
        </p:nvPicPr>
        <p:blipFill>
          <a:blip r:embed="rId2"/>
          <a:stretch/>
        </p:blipFill>
        <p:spPr>
          <a:xfrm>
            <a:off x="4594320" y="1983960"/>
            <a:ext cx="228240" cy="228240"/>
          </a:xfrm>
          <a:prstGeom prst="rect">
            <a:avLst/>
          </a:prstGeom>
          <a:noFill/>
          <a:ln w="0">
            <a:noFill/>
          </a:ln>
        </p:spPr>
      </p:pic>
      <p:sp>
        <p:nvSpPr>
          <p:cNvPr id="904" name="Text 6"/>
          <p:cNvSpPr/>
          <p:nvPr/>
        </p:nvSpPr>
        <p:spPr>
          <a:xfrm>
            <a:off x="4924440" y="1991520"/>
            <a:ext cx="21092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Isolated autopilot</a:t>
            </a:r>
            <a:endParaRPr lang="en-US" sz="1400" b="0" u="none" strike="noStrike">
              <a:solidFill>
                <a:srgbClr val="000000"/>
              </a:solidFill>
              <a:effectLst/>
              <a:uFillTx/>
              <a:latin typeface="Arial"/>
            </a:endParaRPr>
          </a:p>
        </p:txBody>
      </p:sp>
      <p:sp>
        <p:nvSpPr>
          <p:cNvPr id="905" name="Text 7"/>
          <p:cNvSpPr/>
          <p:nvPr/>
        </p:nvSpPr>
        <p:spPr>
          <a:xfrm>
            <a:off x="4594320" y="228852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Auto-approve and autopilot only in a worktree or sandbox, never near production.</a:t>
            </a:r>
            <a:endParaRPr lang="en-US" sz="1200" b="0" u="none" strike="noStrike">
              <a:solidFill>
                <a:srgbClr val="000000"/>
              </a:solidFill>
              <a:effectLst/>
              <a:uFillTx/>
              <a:latin typeface="Arial"/>
            </a:endParaRPr>
          </a:p>
        </p:txBody>
      </p:sp>
      <p:sp>
        <p:nvSpPr>
          <p:cNvPr id="906" name="Shape 8"/>
          <p:cNvSpPr/>
          <p:nvPr/>
        </p:nvSpPr>
        <p:spPr>
          <a:xfrm>
            <a:off x="7961760" y="1778400"/>
            <a:ext cx="3413880" cy="135504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07" name="Image 2" descr="Warning"/>
          <p:cNvPicPr/>
          <p:nvPr/>
        </p:nvPicPr>
        <p:blipFill>
          <a:blip r:embed="rId3"/>
          <a:stretch/>
        </p:blipFill>
        <p:spPr>
          <a:xfrm>
            <a:off x="8167320" y="1983960"/>
            <a:ext cx="228240" cy="228240"/>
          </a:xfrm>
          <a:prstGeom prst="rect">
            <a:avLst/>
          </a:prstGeom>
          <a:noFill/>
          <a:ln w="0">
            <a:noFill/>
          </a:ln>
        </p:spPr>
      </p:pic>
      <p:sp>
        <p:nvSpPr>
          <p:cNvPr id="908" name="Text 9"/>
          <p:cNvSpPr/>
          <p:nvPr/>
        </p:nvSpPr>
        <p:spPr>
          <a:xfrm>
            <a:off x="8497440" y="1991520"/>
            <a:ext cx="1710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Prompt injection</a:t>
            </a:r>
            <a:endParaRPr lang="en-US" sz="1400" b="0" u="none" strike="noStrike">
              <a:solidFill>
                <a:srgbClr val="000000"/>
              </a:solidFill>
              <a:effectLst/>
              <a:uFillTx/>
              <a:latin typeface="Arial"/>
            </a:endParaRPr>
          </a:p>
        </p:txBody>
      </p:sp>
      <p:sp>
        <p:nvSpPr>
          <p:cNvPr id="909" name="Text 10"/>
          <p:cNvSpPr/>
          <p:nvPr/>
        </p:nvSpPr>
        <p:spPr>
          <a:xfrm>
            <a:off x="8167320" y="2288520"/>
            <a:ext cx="3093480" cy="6649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Web pages, issues and files can contain instructions. The agent must not follow them blindly.</a:t>
            </a:r>
            <a:endParaRPr lang="en-US" sz="1200" b="0" u="none" strike="noStrike">
              <a:solidFill>
                <a:srgbClr val="000000"/>
              </a:solidFill>
              <a:effectLst/>
              <a:uFillTx/>
              <a:latin typeface="Arial"/>
            </a:endParaRPr>
          </a:p>
        </p:txBody>
      </p:sp>
      <p:sp>
        <p:nvSpPr>
          <p:cNvPr id="910" name="Shape 11"/>
          <p:cNvSpPr/>
          <p:nvPr/>
        </p:nvSpPr>
        <p:spPr>
          <a:xfrm>
            <a:off x="81612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11" name="Image 3" descr="Key"/>
          <p:cNvPicPr/>
          <p:nvPr/>
        </p:nvPicPr>
        <p:blipFill>
          <a:blip r:embed="rId4"/>
          <a:stretch/>
        </p:blipFill>
        <p:spPr>
          <a:xfrm>
            <a:off x="1021320" y="3497760"/>
            <a:ext cx="228240" cy="228240"/>
          </a:xfrm>
          <a:prstGeom prst="rect">
            <a:avLst/>
          </a:prstGeom>
          <a:noFill/>
          <a:ln w="0">
            <a:noFill/>
          </a:ln>
        </p:spPr>
      </p:pic>
      <p:sp>
        <p:nvSpPr>
          <p:cNvPr id="912" name="Text 12"/>
          <p:cNvSpPr/>
          <p:nvPr/>
        </p:nvSpPr>
        <p:spPr>
          <a:xfrm>
            <a:off x="1351440" y="3505680"/>
            <a:ext cx="12769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No secrets</a:t>
            </a:r>
            <a:endParaRPr lang="en-US" sz="1400" b="0" u="none" strike="noStrike">
              <a:solidFill>
                <a:srgbClr val="000000"/>
              </a:solidFill>
              <a:effectLst/>
              <a:uFillTx/>
              <a:latin typeface="Arial"/>
            </a:endParaRPr>
          </a:p>
        </p:txBody>
      </p:sp>
      <p:sp>
        <p:nvSpPr>
          <p:cNvPr id="913" name="Text 13"/>
          <p:cNvSpPr/>
          <p:nvPr/>
        </p:nvSpPr>
        <p:spPr>
          <a:xfrm>
            <a:off x="1021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Not in prompts, AGENTS.md or </a:t>
            </a:r>
            <a:r>
              <a:rPr lang="en-US" sz="1200" b="0" u="none" strike="noStrike">
                <a:solidFill>
                  <a:srgbClr val="444C5C"/>
                </a:solidFill>
                <a:effectLst/>
                <a:uFillTx/>
                <a:latin typeface="IBM Plex Sans"/>
                <a:ea typeface="IBM Plex Sans"/>
              </a:rPr>
              <a:t>logs. Content exclusion for sensitive </a:t>
            </a:r>
            <a:r>
              <a:rPr lang="en-US" sz="1200" b="0" u="none" strike="noStrike">
                <a:solidFill>
                  <a:srgbClr val="444C5C"/>
                </a:solidFill>
                <a:effectLst/>
                <a:uFillTx/>
                <a:latin typeface="IBM Plex Sans"/>
                <a:ea typeface="IBM Plex Sans"/>
              </a:rPr>
              <a:t>files.</a:t>
            </a:r>
            <a:endParaRPr lang="en-US" sz="1200" b="0" u="none" strike="noStrike">
              <a:solidFill>
                <a:srgbClr val="000000"/>
              </a:solidFill>
              <a:effectLst/>
              <a:uFillTx/>
              <a:latin typeface="Arial"/>
            </a:endParaRPr>
          </a:p>
        </p:txBody>
      </p:sp>
      <p:sp>
        <p:nvSpPr>
          <p:cNvPr id="914" name="Shape 14"/>
          <p:cNvSpPr/>
          <p:nvPr/>
        </p:nvSpPr>
        <p:spPr>
          <a:xfrm>
            <a:off x="4388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15" name="Image 4" descr="Tool"/>
          <p:cNvPicPr/>
          <p:nvPr/>
        </p:nvPicPr>
        <p:blipFill>
          <a:blip r:embed="rId5"/>
          <a:stretch/>
        </p:blipFill>
        <p:spPr>
          <a:xfrm>
            <a:off x="4594320" y="3497760"/>
            <a:ext cx="228240" cy="228240"/>
          </a:xfrm>
          <a:prstGeom prst="rect">
            <a:avLst/>
          </a:prstGeom>
          <a:noFill/>
          <a:ln w="0">
            <a:noFill/>
          </a:ln>
        </p:spPr>
      </p:pic>
      <p:sp>
        <p:nvSpPr>
          <p:cNvPr id="916" name="Text 15"/>
          <p:cNvSpPr/>
          <p:nvPr/>
        </p:nvSpPr>
        <p:spPr>
          <a:xfrm>
            <a:off x="4924440" y="3505680"/>
            <a:ext cx="199872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Check what you install</a:t>
            </a:r>
            <a:endParaRPr lang="en-US" sz="1400" b="0" u="none" strike="noStrike">
              <a:solidFill>
                <a:srgbClr val="000000"/>
              </a:solidFill>
              <a:effectLst/>
              <a:uFillTx/>
              <a:latin typeface="Arial"/>
            </a:endParaRPr>
          </a:p>
        </p:txBody>
      </p:sp>
      <p:sp>
        <p:nvSpPr>
          <p:cNvPr id="917" name="Text 16"/>
          <p:cNvSpPr/>
          <p:nvPr/>
        </p:nvSpPr>
        <p:spPr>
          <a:xfrm>
            <a:off x="4594320" y="3802680"/>
            <a:ext cx="3093480" cy="45180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Third-party skills, plugins and MCPs are foreign code: read them before installing.</a:t>
            </a:r>
            <a:endParaRPr lang="en-US" sz="1200" b="0" u="none" strike="noStrike">
              <a:solidFill>
                <a:srgbClr val="000000"/>
              </a:solidFill>
              <a:effectLst/>
              <a:uFillTx/>
              <a:latin typeface="Arial"/>
            </a:endParaRPr>
          </a:p>
        </p:txBody>
      </p:sp>
      <p:sp>
        <p:nvSpPr>
          <p:cNvPr id="918" name="Shape 17"/>
          <p:cNvSpPr/>
          <p:nvPr/>
        </p:nvSpPr>
        <p:spPr>
          <a:xfrm>
            <a:off x="7961760" y="3292560"/>
            <a:ext cx="3413880" cy="114156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19" name="Image 5" descr="Trust"/>
          <p:cNvPicPr/>
          <p:nvPr/>
        </p:nvPicPr>
        <p:blipFill>
          <a:blip r:embed="rId6"/>
          <a:stretch/>
        </p:blipFill>
        <p:spPr>
          <a:xfrm>
            <a:off x="8167320" y="3497760"/>
            <a:ext cx="228240" cy="228240"/>
          </a:xfrm>
          <a:prstGeom prst="rect">
            <a:avLst/>
          </a:prstGeom>
          <a:noFill/>
          <a:ln w="0">
            <a:noFill/>
          </a:ln>
        </p:spPr>
      </p:pic>
      <p:sp>
        <p:nvSpPr>
          <p:cNvPr id="920" name="Text 18"/>
          <p:cNvSpPr/>
          <p:nvPr/>
        </p:nvSpPr>
        <p:spPr>
          <a:xfrm>
            <a:off x="8497440" y="3505680"/>
            <a:ext cx="141264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400" b="1" u="none" strike="noStrike">
                <a:solidFill>
                  <a:srgbClr val="131A2A"/>
                </a:solidFill>
                <a:effectLst/>
                <a:uFillTx/>
                <a:latin typeface="Space Grotesk"/>
                <a:ea typeface="Space Grotesk"/>
              </a:rPr>
              <a:t>Company policy</a:t>
            </a:r>
            <a:endParaRPr lang="en-US" sz="1400" b="0" u="none" strike="noStrike">
              <a:solidFill>
                <a:srgbClr val="000000"/>
              </a:solidFill>
              <a:effectLst/>
              <a:uFillTx/>
              <a:latin typeface="Arial"/>
            </a:endParaRPr>
          </a:p>
        </p:txBody>
      </p:sp>
      <p:sp>
        <p:nvSpPr>
          <p:cNvPr id="921" name="Text 19"/>
          <p:cNvSpPr/>
          <p:nvPr/>
        </p:nvSpPr>
        <p:spPr>
          <a:xfrm>
            <a:off x="8167320" y="3802680"/>
            <a:ext cx="309348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444C5C"/>
                </a:solidFill>
                <a:effectLst/>
                <a:uFillTx/>
                <a:latin typeface="IBM Plex Sans"/>
                <a:ea typeface="IBM Plex Sans"/>
              </a:rPr>
              <a:t>Use the models your organization approved; hooks as a safety net.</a:t>
            </a:r>
            <a:endParaRPr lang="en-US" sz="1200" b="0" u="none" strike="noStrike">
              <a:solidFill>
                <a:srgbClr val="000000"/>
              </a:solidFill>
              <a:effectLst/>
              <a:uFillTx/>
              <a:latin typeface="Arial"/>
            </a:endParaRPr>
          </a:p>
        </p:txBody>
      </p:sp>
      <p:sp>
        <p:nvSpPr>
          <p:cNvPr id="922" name="Text 20"/>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923" name="Text 21"/>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23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924" name="Text 0"/>
          <p:cNvSpPr/>
          <p:nvPr/>
        </p:nvSpPr>
        <p:spPr>
          <a:xfrm>
            <a:off x="812880" y="812880"/>
            <a:ext cx="108831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pc="150" strike="noStrike">
                <a:solidFill>
                  <a:srgbClr val="A84F17"/>
                </a:solidFill>
                <a:effectLst/>
                <a:uFillTx/>
                <a:latin typeface="Space Grotesk"/>
                <a:ea typeface="Space Grotesk"/>
              </a:rPr>
              <a:t>14 · BONUS</a:t>
            </a:r>
            <a:endParaRPr lang="en-US" sz="1200" b="0" u="none" strike="noStrike">
              <a:solidFill>
                <a:srgbClr val="000000"/>
              </a:solidFill>
              <a:effectLst/>
              <a:uFillTx/>
              <a:latin typeface="Arial"/>
            </a:endParaRPr>
          </a:p>
        </p:txBody>
      </p:sp>
      <p:sp>
        <p:nvSpPr>
          <p:cNvPr id="925" name="PlaceHolder 1"/>
          <p:cNvSpPr>
            <a:spLocks noGrp="1"/>
          </p:cNvSpPr>
          <p:nvPr>
            <p:ph type="title"/>
          </p:nvPr>
        </p:nvSpPr>
        <p:spPr>
          <a:xfrm>
            <a:off x="812880" y="1102320"/>
            <a:ext cx="10883160" cy="444240"/>
          </a:xfrm>
          <a:prstGeom prst="rect">
            <a:avLst/>
          </a:prstGeom>
          <a:noFill/>
          <a:ln w="0">
            <a:noFill/>
          </a:ln>
        </p:spPr>
        <p:txBody>
          <a:bodyPr lIns="0" tIns="0" rIns="0" bIns="0" anchor="t">
            <a:normAutofit/>
          </a:bodyPr>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Resources</a:t>
            </a:r>
            <a:endParaRPr lang="en-US" sz="3000" b="0" u="none" strike="noStrike">
              <a:solidFill>
                <a:schemeClr val="dk1"/>
              </a:solidFill>
              <a:effectLst/>
              <a:uFillTx/>
              <a:latin typeface="IBM Plex Sans"/>
            </a:endParaRPr>
          </a:p>
        </p:txBody>
      </p:sp>
      <p:sp>
        <p:nvSpPr>
          <p:cNvPr id="926" name="Text 2"/>
          <p:cNvSpPr/>
          <p:nvPr/>
        </p:nvSpPr>
        <p:spPr>
          <a:xfrm>
            <a:off x="812880" y="177516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Models and prices in Copilot</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1"/>
              </a:rPr>
              <a:t>docs.github.com/en/copilot/reference/ai-models/supported-models</a:t>
            </a:r>
            <a:endParaRPr lang="en-US" sz="1200" b="0" u="none" strike="noStrike">
              <a:solidFill>
                <a:srgbClr val="000000"/>
              </a:solidFill>
              <a:effectLst/>
              <a:uFillTx/>
              <a:latin typeface="Arial"/>
            </a:endParaRPr>
          </a:p>
        </p:txBody>
      </p:sp>
      <p:sp>
        <p:nvSpPr>
          <p:cNvPr id="927" name="Text 3"/>
          <p:cNvSpPr/>
          <p:nvPr/>
        </p:nvSpPr>
        <p:spPr>
          <a:xfrm>
            <a:off x="812880" y="232884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Hooks — reference</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2"/>
              </a:rPr>
              <a:t>docs.github.com/en/copilot/reference/hooks-reference</a:t>
            </a:r>
            <a:endParaRPr lang="en-US" sz="1200" b="0" u="none" strike="noStrike">
              <a:solidFill>
                <a:srgbClr val="000000"/>
              </a:solidFill>
              <a:effectLst/>
              <a:uFillTx/>
              <a:latin typeface="Arial"/>
            </a:endParaRPr>
          </a:p>
        </p:txBody>
      </p:sp>
      <p:sp>
        <p:nvSpPr>
          <p:cNvPr id="928" name="Text 4"/>
          <p:cNvSpPr/>
          <p:nvPr/>
        </p:nvSpPr>
        <p:spPr>
          <a:xfrm>
            <a:off x="812880" y="288252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Agents in VS Code</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3"/>
              </a:rPr>
              <a:t>code.visualstudio.com/docs/agents/overview</a:t>
            </a:r>
            <a:endParaRPr lang="en-US" sz="1200" b="0" u="none" strike="noStrike">
              <a:solidFill>
                <a:srgbClr val="000000"/>
              </a:solidFill>
              <a:effectLst/>
              <a:uFillTx/>
              <a:latin typeface="Arial"/>
            </a:endParaRPr>
          </a:p>
        </p:txBody>
      </p:sp>
      <p:sp>
        <p:nvSpPr>
          <p:cNvPr id="929" name="Text 5"/>
          <p:cNvSpPr/>
          <p:nvPr/>
        </p:nvSpPr>
        <p:spPr>
          <a:xfrm>
            <a:off x="812880" y="343620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The Agent Skills standard</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4"/>
              </a:rPr>
              <a:t>agentskills.io</a:t>
            </a:r>
            <a:endParaRPr lang="en-US" sz="1200" b="0" u="none" strike="noStrike">
              <a:solidFill>
                <a:srgbClr val="000000"/>
              </a:solidFill>
              <a:effectLst/>
              <a:uFillTx/>
              <a:latin typeface="Arial"/>
            </a:endParaRPr>
          </a:p>
        </p:txBody>
      </p:sp>
      <p:sp>
        <p:nvSpPr>
          <p:cNvPr id="930" name="Text 6"/>
          <p:cNvSpPr/>
          <p:nvPr/>
        </p:nvSpPr>
        <p:spPr>
          <a:xfrm>
            <a:off x="812880" y="3989880"/>
            <a:ext cx="575532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5"/>
              </a:rPr>
              <a:t>agents.md</a:t>
            </a:r>
            <a:endParaRPr lang="en-US" sz="1200" b="0" u="none" strike="noStrike">
              <a:solidFill>
                <a:srgbClr val="000000"/>
              </a:solidFill>
              <a:effectLst/>
              <a:uFillTx/>
              <a:latin typeface="Arial"/>
            </a:endParaRPr>
          </a:p>
        </p:txBody>
      </p:sp>
      <p:sp>
        <p:nvSpPr>
          <p:cNvPr id="931" name="Text 7"/>
          <p:cNvSpPr/>
          <p:nvPr/>
        </p:nvSpPr>
        <p:spPr>
          <a:xfrm>
            <a:off x="6807240" y="177516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Matt Pocock — skills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6"/>
              </a:rPr>
              <a:t>github.com/mattpocock/skills</a:t>
            </a:r>
            <a:endParaRPr lang="en-US" sz="1200" b="0" u="none" strike="noStrike">
              <a:solidFill>
                <a:srgbClr val="000000"/>
              </a:solidFill>
              <a:effectLst/>
              <a:uFillTx/>
              <a:latin typeface="Arial"/>
            </a:endParaRPr>
          </a:p>
        </p:txBody>
      </p:sp>
      <p:sp>
        <p:nvSpPr>
          <p:cNvPr id="932" name="Text 8"/>
          <p:cNvSpPr/>
          <p:nvPr/>
        </p:nvSpPr>
        <p:spPr>
          <a:xfrm>
            <a:off x="6807240" y="232884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Superpowers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7"/>
              </a:rPr>
              <a:t>github.com/obra/superpowers</a:t>
            </a:r>
            <a:endParaRPr lang="en-US" sz="1200" b="0" u="none" strike="noStrike">
              <a:solidFill>
                <a:srgbClr val="000000"/>
              </a:solidFill>
              <a:effectLst/>
              <a:uFillTx/>
              <a:latin typeface="Arial"/>
            </a:endParaRPr>
          </a:p>
        </p:txBody>
      </p:sp>
      <p:sp>
        <p:nvSpPr>
          <p:cNvPr id="933" name="Text 9"/>
          <p:cNvSpPr/>
          <p:nvPr/>
        </p:nvSpPr>
        <p:spPr>
          <a:xfrm>
            <a:off x="6807240" y="288252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Official Anthropic skills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8"/>
              </a:rPr>
              <a:t>github.com/anthropics/skills</a:t>
            </a:r>
            <a:endParaRPr lang="en-US" sz="1200" b="0" u="none" strike="noStrike">
              <a:solidFill>
                <a:srgbClr val="000000"/>
              </a:solidFill>
              <a:effectLst/>
              <a:uFillTx/>
              <a:latin typeface="Arial"/>
            </a:endParaRPr>
          </a:p>
        </p:txBody>
      </p:sp>
      <p:sp>
        <p:nvSpPr>
          <p:cNvPr id="934" name="Text 10"/>
          <p:cNvSpPr/>
          <p:nvPr/>
        </p:nvSpPr>
        <p:spPr>
          <a:xfrm>
            <a:off x="6807240" y="343620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Smart zone — definition</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9"/>
              </a:rPr>
              <a:t>aihero.dev/ai-coding-dictionary/smart-zone</a:t>
            </a:r>
            <a:endParaRPr lang="en-US" sz="1200" b="0" u="none" strike="noStrike">
              <a:solidFill>
                <a:srgbClr val="000000"/>
              </a:solidFill>
              <a:effectLst/>
              <a:uFillTx/>
              <a:latin typeface="Arial"/>
            </a:endParaRPr>
          </a:p>
        </p:txBody>
      </p:sp>
      <p:sp>
        <p:nvSpPr>
          <p:cNvPr id="935" name="Text 11"/>
          <p:cNvSpPr/>
          <p:nvPr/>
        </p:nvSpPr>
        <p:spPr>
          <a:xfrm>
            <a:off x="6807240" y="3989880"/>
            <a:ext cx="4708800" cy="45180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1" u="none" strike="noStrike">
                <a:solidFill>
                  <a:srgbClr val="131A2A"/>
                </a:solidFill>
                <a:effectLst/>
                <a:uFillTx/>
                <a:latin typeface="IBM Plex Sans"/>
                <a:ea typeface="IBM Plex Sans"/>
              </a:rPr>
              <a:t>Dex Horthy — “No Vibes Allowed” (AI Engineer 2025)</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444C5C"/>
                </a:solidFill>
                <a:effectLst/>
                <a:uFillTx/>
                <a:latin typeface="IBM Plex Sans"/>
                <a:ea typeface="IBM Plex Sans"/>
                <a:hlinkClick r:id="rId10"/>
              </a:rPr>
              <a:t>youtube.com/watch?v=rmvDxxNubIg</a:t>
            </a:r>
            <a:endParaRPr lang="en-US" sz="1200" b="0" u="none" strike="noStrike">
              <a:solidFill>
                <a:srgbClr val="000000"/>
              </a:solidFill>
              <a:effectLst/>
              <a:uFillTx/>
              <a:latin typeface="Arial"/>
            </a:endParaRPr>
          </a:p>
        </p:txBody>
      </p:sp>
      <p:sp>
        <p:nvSpPr>
          <p:cNvPr id="936" name="Text 12"/>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5E6677"/>
                </a:solidFill>
                <a:effectLst/>
                <a:uFillTx/>
                <a:latin typeface="IBM Plex Sans"/>
                <a:ea typeface="IBM Plex Sans"/>
              </a:rPr>
              <a:t>AI agents in GitHub Copilot</a:t>
            </a:r>
            <a:endParaRPr lang="en-US" sz="1200" b="0" u="none" strike="noStrike">
              <a:solidFill>
                <a:srgbClr val="000000"/>
              </a:solidFill>
              <a:effectLst/>
              <a:uFillTx/>
              <a:latin typeface="Arial"/>
            </a:endParaRPr>
          </a:p>
        </p:txBody>
      </p:sp>
      <p:sp>
        <p:nvSpPr>
          <p:cNvPr id="937" name="Text 13"/>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5E6677"/>
                </a:solidFill>
                <a:effectLst/>
                <a:uFillTx/>
                <a:latin typeface="IBM Plex Sans"/>
                <a:ea typeface="IBM Plex Sans"/>
              </a:rPr>
              <a:t>24 / 25</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A"/>
        </a:solidFill>
      </p:bgPr>
    </p:bg>
    <p:spTree>
      <p:nvGrpSpPr>
        <p:cNvPr id="1" name=""/>
        <p:cNvGrpSpPr/>
        <p:nvPr/>
      </p:nvGrpSpPr>
      <p:grpSpPr>
        <a:xfrm>
          <a:off x="0" y="0"/>
          <a:ext cx="0" cy="0"/>
          <a:chOff x="0" y="0"/>
          <a:chExt cx="0" cy="0"/>
        </a:xfrm>
      </p:grpSpPr>
      <p:sp>
        <p:nvSpPr>
          <p:cNvPr id="938" name="PlaceHolder 1"/>
          <p:cNvSpPr>
            <a:spLocks noGrp="1"/>
          </p:cNvSpPr>
          <p:nvPr>
            <p:ph type="title"/>
          </p:nvPr>
        </p:nvSpPr>
        <p:spPr>
          <a:xfrm>
            <a:off x="812880" y="2440800"/>
            <a:ext cx="10883160" cy="695520"/>
          </a:xfrm>
          <a:prstGeom prst="rect">
            <a:avLst/>
          </a:prstGeom>
          <a:noFill/>
          <a:ln w="0">
            <a:noFill/>
          </a:ln>
        </p:spPr>
        <p:txBody>
          <a:bodyPr lIns="0" tIns="0" rIns="0" bIns="0" anchor="t">
            <a:normAutofit/>
          </a:bodyPr>
          <a:p>
            <a:pPr indent="0" algn="l" defTabSz="914400">
              <a:lnSpc>
                <a:spcPts val="5281"/>
              </a:lnSpc>
              <a:buNone/>
              <a:tabLst>
                <a:tab pos="0" algn="l"/>
              </a:tabLst>
            </a:pPr>
            <a:r>
              <a:rPr lang="en-US" sz="4800" b="1" u="none" strike="noStrike">
                <a:solidFill>
                  <a:srgbClr val="F5F2EA"/>
                </a:solidFill>
                <a:effectLst/>
                <a:uFillTx/>
                <a:latin typeface="Space Grotesk"/>
                <a:ea typeface="Space Grotesk"/>
              </a:rPr>
              <a:t>Questions?</a:t>
            </a:r>
            <a:endParaRPr lang="en-US" sz="4800" b="0" u="none" strike="noStrike">
              <a:solidFill>
                <a:schemeClr val="dk1"/>
              </a:solidFill>
              <a:effectLst/>
              <a:uFillTx/>
              <a:latin typeface="IBM Plex Sans"/>
            </a:endParaRPr>
          </a:p>
        </p:txBody>
      </p:sp>
      <p:pic>
        <p:nvPicPr>
          <p:cNvPr id="939" name="Image 0" descr="line"/>
          <p:cNvPicPr/>
          <p:nvPr/>
        </p:nvPicPr>
        <p:blipFill>
          <a:blip r:embed="rId1"/>
          <a:srcRect l="-37" t="0" r="-37" b="0"/>
          <a:stretch/>
        </p:blipFill>
        <p:spPr>
          <a:xfrm>
            <a:off x="812880" y="3365640"/>
            <a:ext cx="1015560" cy="25200"/>
          </a:xfrm>
          <a:prstGeom prst="rect">
            <a:avLst/>
          </a:prstGeom>
          <a:noFill/>
          <a:ln w="0">
            <a:noFill/>
          </a:ln>
        </p:spPr>
      </p:pic>
      <p:sp>
        <p:nvSpPr>
          <p:cNvPr id="940" name="Text 1"/>
          <p:cNvSpPr/>
          <p:nvPr/>
        </p:nvSpPr>
        <p:spPr>
          <a:xfrm>
            <a:off x="812880" y="3645000"/>
            <a:ext cx="9156240" cy="594000"/>
          </a:xfrm>
          <a:prstGeom prst="rect">
            <a:avLst/>
          </a:prstGeom>
          <a:noFill/>
          <a:ln w="0">
            <a:noFill/>
          </a:ln>
        </p:spPr>
        <p:style>
          <a:lnRef idx="0"/>
          <a:fillRef idx="0"/>
          <a:effectRef idx="0"/>
          <a:fontRef idx="minor"/>
        </p:style>
        <p:txBody>
          <a:bodyPr lIns="0" tIns="0" rIns="0" bIns="0" anchor="t">
            <a:normAutofit/>
          </a:bodyPr>
          <a:p>
            <a:pPr defTabSz="914400">
              <a:lnSpc>
                <a:spcPts val="2239"/>
              </a:lnSpc>
              <a:tabLst>
                <a:tab pos="0" algn="l"/>
              </a:tabLst>
            </a:pPr>
            <a:r>
              <a:rPr lang="en-US" sz="1600" b="0" u="none" strike="noStrike">
                <a:solidFill>
                  <a:srgbClr val="C3CCDB"/>
                </a:solidFill>
                <a:effectLst/>
                <a:uFillTx/>
                <a:latin typeface="IBM Plex Sans"/>
                <a:ea typeface="IBM Plex Sans"/>
              </a:rPr>
              <a:t>Homework for this week: pick a real task, write a short AGENTS.md and try the /grill-me → Plan → Agent flow in a new session.</a:t>
            </a:r>
            <a:endParaRPr lang="en-US" sz="1600" b="0" u="none" strike="noStrike">
              <a:solidFill>
                <a:srgbClr val="FFFFFF"/>
              </a:solidFill>
              <a:effectLst/>
              <a:uFillTx/>
              <a:latin typeface="Arial"/>
            </a:endParaRPr>
          </a:p>
        </p:txBody>
      </p:sp>
      <p:sp>
        <p:nvSpPr>
          <p:cNvPr id="941" name="Text 2"/>
          <p:cNvSpPr/>
          <p:nvPr/>
        </p:nvSpPr>
        <p:spPr>
          <a:xfrm>
            <a:off x="812880" y="6238440"/>
            <a:ext cx="7848360" cy="238320"/>
          </a:xfrm>
          <a:prstGeom prst="rect">
            <a:avLst/>
          </a:prstGeom>
          <a:noFill/>
          <a:ln w="0">
            <a:noFill/>
          </a:ln>
        </p:spPr>
        <p:style>
          <a:lnRef idx="0"/>
          <a:fillRef idx="0"/>
          <a:effectRef idx="0"/>
          <a:fontRef idx="minor"/>
        </p:style>
        <p:txBody>
          <a:bodyPr lIns="0" tIns="0" rIns="0" bIns="0" anchor="t">
            <a:normAutofit/>
          </a:bodyPr>
          <a:p>
            <a:pPr defTabSz="914400">
              <a:lnSpc>
                <a:spcPts val="1681"/>
              </a:lnSpc>
              <a:tabLst>
                <a:tab pos="0" algn="l"/>
              </a:tabLst>
            </a:pPr>
            <a:r>
              <a:rPr lang="en-US" sz="1200" b="0" u="none" strike="noStrike">
                <a:solidFill>
                  <a:srgbClr val="8A93A6"/>
                </a:solidFill>
                <a:effectLst/>
                <a:uFillTx/>
                <a:latin typeface="IBM Plex Sans"/>
                <a:ea typeface="IBM Plex Sans"/>
              </a:rPr>
              <a:t>AI agents in GitHub Copilot</a:t>
            </a:r>
            <a:endParaRPr lang="en-US" sz="1200" b="0" u="none" strike="noStrike">
              <a:solidFill>
                <a:srgbClr val="FFFFFF"/>
              </a:solidFill>
              <a:effectLst/>
              <a:uFillTx/>
              <a:latin typeface="Arial"/>
            </a:endParaRPr>
          </a:p>
        </p:txBody>
      </p:sp>
      <p:sp>
        <p:nvSpPr>
          <p:cNvPr id="942" name="Text 3"/>
          <p:cNvSpPr/>
          <p:nvPr/>
        </p:nvSpPr>
        <p:spPr>
          <a:xfrm>
            <a:off x="9804600" y="6238440"/>
            <a:ext cx="1574280" cy="238320"/>
          </a:xfrm>
          <a:prstGeom prst="rect">
            <a:avLst/>
          </a:prstGeom>
          <a:noFill/>
          <a:ln w="0">
            <a:noFill/>
          </a:ln>
        </p:spPr>
        <p:style>
          <a:lnRef idx="0"/>
          <a:fillRef idx="0"/>
          <a:effectRef idx="0"/>
          <a:fontRef idx="minor"/>
        </p:style>
        <p:txBody>
          <a:bodyPr lIns="0" tIns="0" rIns="0" bIns="0" anchor="t">
            <a:normAutofit/>
          </a:bodyPr>
          <a:p>
            <a:pPr algn="r" defTabSz="914400">
              <a:lnSpc>
                <a:spcPts val="1681"/>
              </a:lnSpc>
              <a:tabLst>
                <a:tab pos="0" algn="l"/>
              </a:tabLst>
            </a:pPr>
            <a:r>
              <a:rPr lang="en-US" sz="1200" b="0" u="none" strike="noStrike">
                <a:solidFill>
                  <a:srgbClr val="8A93A6"/>
                </a:solidFill>
                <a:effectLst/>
                <a:uFillTx/>
                <a:latin typeface="IBM Plex Sans"/>
                <a:ea typeface="IBM Plex Sans"/>
              </a:rPr>
              <a:t>25 / 25</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Lucrul cu agenți AI în GitHub Copilot">
  <a:themeElements>
    <a:clrScheme name="Lucrul cu agenți AI în GitHub Copilot">
      <a:dk1>
        <a:srgbClr val="131A2A"/>
      </a:dk1>
      <a:lt1>
        <a:srgbClr val="F5F2EA"/>
      </a:lt1>
      <a:dk2>
        <a:srgbClr val="4C505A"/>
      </a:dk2>
      <a:lt2>
        <a:srgbClr val="DEDCD7"/>
      </a:lt2>
      <a:accent1>
        <a:srgbClr val="A84F17"/>
      </a:accent1>
      <a:accent2>
        <a:srgbClr val="2B5E96"/>
      </a:accent2>
      <a:accent3>
        <a:srgbClr val="E8823A"/>
      </a:accent3>
      <a:accent4>
        <a:srgbClr val="F2A66B"/>
      </a:accent4>
      <a:accent5>
        <a:srgbClr val="9CC3EA"/>
      </a:accent5>
      <a:accent6>
        <a:srgbClr val="EAC79B"/>
      </a:accent6>
      <a:hlink>
        <a:srgbClr val="0563C1"/>
      </a:hlink>
      <a:folHlink>
        <a:srgbClr val="954F72"/>
      </a:folHlink>
    </a:clrScheme>
    <a:fontScheme name="Lucrul cu agenți AI în GitHub Copilot">
      <a:majorFont>
        <a:latin typeface="Space Grotesk" pitchFamily="0" charset="1"/>
        <a:ea typeface=""/>
        <a:cs typeface=""/>
      </a:majorFont>
      <a:minorFont>
        <a:latin typeface="IBM Plex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42</TotalTime>
  <Application>LibreOffice/26.2.4.2$MacOSX_AARCH64 LibreOffice_project/0229ac93fcf0d7cbc6376066c6f35021cef002dc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2026-10-05T15:35:40Z</dcterms:created>
  <dc:creator/>
  <dc:description/>
  <dc:language>en-US</dc:language>
  <cp:lastModifiedBy/>
  <dcterms:modified xsi:type="dcterms:W3CDTF">2026-10-05T20:20:23Z</dcterms:modified>
  <cp:revision>8</cp:revision>
  <dc:subject/>
  <dc:title>Working with AI agents in GitHub Copilot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63</vt:i4>
  </property>
  <property fmtid="{D5CDD505-2E9C-101B-9397-08002B2CF9AE}" pid="3" name="PresentationFormat">
    <vt:lpwstr>On-screen Show (16:9)</vt:lpwstr>
  </property>
  <property fmtid="{D5CDD505-2E9C-101B-9397-08002B2CF9AE}" pid="4" name="Slides">
    <vt:i4>63</vt:i4>
  </property>
</Properties>
</file>