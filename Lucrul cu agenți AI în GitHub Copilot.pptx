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slides/slide2.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58.xml" ContentType="application/vnd.openxmlformats-officedocument.presentationml.slide+xml"/>
  <Override PartName="/ppt/slides/slide28.xml" ContentType="application/vnd.openxmlformats-officedocument.presentationml.slide+xml"/>
  <Override PartName="/ppt/slides/slide32.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12.xml" ContentType="application/vnd.openxmlformats-officedocument.presentationml.slide+xml"/>
  <Override PartName="/ppt/slides/slide16.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1.xml" ContentType="application/vnd.openxmlformats-officedocument.presentationml.slide+xml"/>
  <Override PartName="/ppt/slides/slide54.xml" ContentType="application/vnd.openxmlformats-officedocument.presentationml.slide+xml"/>
  <Override PartName="/ppt/slides/slide39.xml" ContentType="application/vnd.openxmlformats-officedocument.presentationml.slide+xml"/>
  <Override PartName="/ppt/slides/slide56.xml" ContentType="application/vnd.openxmlformats-officedocument.presentationml.slide+xml"/>
  <Override PartName="/ppt/slides/slide44.xml" ContentType="application/vnd.openxmlformats-officedocument.presentationml.slide+xml"/>
  <Override PartName="/ppt/slides/slide34.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6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5.xml" ContentType="application/vnd.openxmlformats-officedocument.presentationml.notesSlide+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38.xml" ContentType="application/vnd.openxmlformats-officedocument.presentationml.notesSlide+xml"/>
  <Override PartName="/ppt/notesSlides/notesSlide16.xml" ContentType="application/vnd.openxmlformats-officedocument.presentationml.notesSlide+xml"/>
  <Override PartName="/ppt/notesSlides/notesSlide59.xml" ContentType="application/vnd.openxmlformats-officedocument.presentationml.notesSlide+xml"/>
  <Override PartName="/ppt/notesSlides/notesSlide19.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4.xml" ContentType="application/vnd.openxmlformats-officedocument.presentationml.notesSlide+xml"/>
  <Override PartName="/ppt/notesSlides/notesSlide1.xml" ContentType="application/vnd.openxmlformats-officedocument.presentationml.notesSlide+xml"/>
  <Override PartName="/ppt/notesSlides/notesSlide8.xml" ContentType="application/vnd.openxmlformats-officedocument.presentationml.notesSlide+xml"/>
  <Override PartName="/ppt/notesSlides/notesSlide15.xml" ContentType="application/vnd.openxmlformats-officedocument.presentationml.notesSlide+xml"/>
  <Override PartName="/ppt/notesSlides/notesSlide58.xml" ContentType="application/vnd.openxmlformats-officedocument.presentationml.notesSlide+xml"/>
  <Override PartName="/ppt/notesSlides/notesSlide54.xml" ContentType="application/vnd.openxmlformats-officedocument.presentationml.notesSlide+xml"/>
  <Override PartName="/ppt/notesSlides/notesSlide56.xml" ContentType="application/vnd.openxmlformats-officedocument.presentationml.notesSlide+xml"/>
  <Override PartName="/ppt/notesSlides/notesSlide32.xml" ContentType="application/vnd.openxmlformats-officedocument.presentationml.notesSlide+xml"/>
  <Override PartName="/ppt/notesSlides/notesSlide44.xml" ContentType="application/vnd.openxmlformats-officedocument.presentationml.notesSlide+xml"/>
  <Override PartName="/ppt/notesSlides/notesSlide60.xml" ContentType="application/vnd.openxmlformats-officedocument.presentationml.notesSlide+xml"/>
  <Override PartName="/ppt/notesSlides/notesSlide51.xml" ContentType="application/vnd.openxmlformats-officedocument.presentationml.notesSlide+xml"/>
  <Override PartName="/ppt/notesSlides/notesSlide39.xml" ContentType="application/vnd.openxmlformats-officedocument.presentationml.notesSlide+xml"/>
  <Override PartName="/ppt/notesSlides/notesSlide61.xml" ContentType="application/vnd.openxmlformats-officedocument.presentationml.notesSlide+xml"/>
  <Override PartName="/ppt/notesSlides/notesSlide47.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60" r:id="rId8"/>
    <p:sldId id="263" r:id="rId11"/>
    <p:sldId id="267" r:id="rId15"/>
    <p:sldId id="270" r:id="rId18"/>
    <p:sldId id="271" r:id="rId19"/>
    <p:sldId id="274" r:id="rId22"/>
    <p:sldId id="277" r:id="rId25"/>
    <p:sldId id="278" r:id="rId26"/>
    <p:sldId id="282" r:id="rId30"/>
    <p:sldId id="283" r:id="rId31"/>
    <p:sldId id="287" r:id="rId35"/>
    <p:sldId id="289" r:id="rId37"/>
    <p:sldId id="293" r:id="rId41"/>
    <p:sldId id="294" r:id="rId42"/>
    <p:sldId id="299" r:id="rId47"/>
    <p:sldId id="302" r:id="rId50"/>
    <p:sldId id="306" r:id="rId54"/>
    <p:sldId id="309" r:id="rId57"/>
    <p:sldId id="311" r:id="rId59"/>
    <p:sldId id="313" r:id="rId61"/>
    <p:sldId id="314" r:id="rId62"/>
    <p:sldId id="315" r:id="rId63"/>
    <p:sldId id="316" r:id="rId64"/>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8" Type="http://schemas.openxmlformats.org/officeDocument/2006/relationships/slide" Target="slides/slide5.xml"/><Relationship Id="rId11" Type="http://schemas.openxmlformats.org/officeDocument/2006/relationships/slide" Target="slides/slide8.xml"/><Relationship Id="rId15" Type="http://schemas.openxmlformats.org/officeDocument/2006/relationships/slide" Target="slides/slide12.xml"/><Relationship Id="rId18" Type="http://schemas.openxmlformats.org/officeDocument/2006/relationships/slide" Target="slides/slide15.xml"/><Relationship Id="rId19" Type="http://schemas.openxmlformats.org/officeDocument/2006/relationships/slide" Target="slides/slide16.xml"/><Relationship Id="rId22" Type="http://schemas.openxmlformats.org/officeDocument/2006/relationships/slide" Target="slides/slide19.xml"/><Relationship Id="rId25" Type="http://schemas.openxmlformats.org/officeDocument/2006/relationships/slide" Target="slides/slide22.xml"/><Relationship Id="rId26" Type="http://schemas.openxmlformats.org/officeDocument/2006/relationships/slide" Target="slides/slide23.xml"/><Relationship Id="rId30" Type="http://schemas.openxmlformats.org/officeDocument/2006/relationships/slide" Target="slides/slide27.xml"/><Relationship Id="rId31" Type="http://schemas.openxmlformats.org/officeDocument/2006/relationships/slide" Target="slides/slide28.xml"/><Relationship Id="rId35" Type="http://schemas.openxmlformats.org/officeDocument/2006/relationships/slide" Target="slides/slide32.xml"/><Relationship Id="rId37" Type="http://schemas.openxmlformats.org/officeDocument/2006/relationships/slide" Target="slides/slide34.xml"/><Relationship Id="rId41" Type="http://schemas.openxmlformats.org/officeDocument/2006/relationships/slide" Target="slides/slide38.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4" Type="http://schemas.openxmlformats.org/officeDocument/2006/relationships/slide" Target="slides/slide51.xml"/><Relationship Id="rId57" Type="http://schemas.openxmlformats.org/officeDocument/2006/relationships/slide" Target="slides/slide54.xml"/><Relationship Id="rId59" Type="http://schemas.openxmlformats.org/officeDocument/2006/relationships/slide" Target="slides/slide56.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IBM Plex Sans"/>
              </a:rPr>
              <a:t>Click to move the slide</a:t>
            </a:r>
            <a:endParaRPr lang="en-US" sz="1800" b="0" u="none" strike="noStrike">
              <a:solidFill>
                <a:schemeClr val="dk1"/>
              </a:solidFill>
              <a:effectLst/>
              <a:uFillTx/>
              <a:latin typeface="IBM Plex Sans"/>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a:t>
            </a:r>
            <a:r>
              <a:rPr lang="en-US" sz="2000" b="0" u="none" strike="noStrike">
                <a:solidFill>
                  <a:srgbClr val="000000"/>
                </a:solidFill>
                <a:effectLst/>
                <a:uFillTx/>
                <a:latin typeface="Arial"/>
              </a:rPr>
              <a:t>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82DA3FD-0210-469C-B7D7-D5E0A4BD39E6}"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 name="PlaceHolder 1"/>
          <p:cNvSpPr>
            <a:spLocks noGrp="1"/>
          </p:cNvSpPr>
          <p:nvPr>
            <p:ph type="sldImg"/>
          </p:nvPr>
        </p:nvSpPr>
        <p:spPr>
          <a:xfrm>
            <a:off x="685800" y="1143000"/>
            <a:ext cx="5486040" cy="3085920"/>
          </a:xfrm>
          <a:prstGeom prst="rect">
            <a:avLst/>
          </a:prstGeom>
          <a:ln w="0">
            <a:noFill/>
          </a:ln>
        </p:spPr>
      </p:sp>
      <p:sp>
        <p:nvSpPr>
          <p:cNvPr id="9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Bun venit. Scopul de azi: să trecem de la „Copilot care completează cod” la „Copilot ca agent pe care îl conduci”. Toți ați folosit deja Copilot; azi vedem piesele din spate — modele, moduri, instrucțiuni, skills, hooks — și cum să nu ardem contextul și creditele. Terminalul din dreapta e un preview: /grill-me îl vedem mai târziu, iar ocuparea contextului o discutăm la final.</a:t>
            </a:r>
            <a:endParaRPr lang="en-US" sz="2000" b="0" u="none" strike="noStrike">
              <a:solidFill>
                <a:srgbClr val="000000"/>
              </a:solidFill>
              <a:effectLst/>
              <a:uFillTx/>
              <a:latin typeface="Arial"/>
            </a:endParaRPr>
          </a:p>
        </p:txBody>
      </p:sp>
      <p:sp>
        <p:nvSpPr>
          <p:cNvPr id="945"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06AB9E-7600-4C5A-B234-CE664FA070AF}"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 name="PlaceHolder 1"/>
          <p:cNvSpPr>
            <a:spLocks noGrp="1"/>
          </p:cNvSpPr>
          <p:nvPr>
            <p:ph type="sldImg"/>
          </p:nvPr>
        </p:nvSpPr>
        <p:spPr>
          <a:xfrm>
            <a:off x="685800" y="1143000"/>
            <a:ext cx="5486040" cy="3085920"/>
          </a:xfrm>
          <a:prstGeom prst="rect">
            <a:avLst/>
          </a:prstGeom>
          <a:ln w="0">
            <a:noFill/>
          </a:ln>
        </p:spPr>
      </p:sp>
      <p:sp>
        <p:nvSpPr>
          <p:cNvPr id="9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Sunt 14 părți. Primele 10 sunt despre ce poate face agentul și cum îl configurăm; 11–13 despre costuri și context, partea care face diferența în practică; 14 e un bonus cu reguli și o fițuică. Puneți întrebări oricând; slide-urile rămân la voi.</a:t>
            </a:r>
            <a:endParaRPr lang="en-US" sz="2000" b="0" u="none" strike="noStrike">
              <a:solidFill>
                <a:srgbClr val="000000"/>
              </a:solidFill>
              <a:effectLst/>
              <a:uFillTx/>
              <a:latin typeface="Arial"/>
            </a:endParaRPr>
          </a:p>
        </p:txBody>
      </p:sp>
      <p:sp>
        <p:nvSpPr>
          <p:cNvPr id="948"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192858-A94A-4C71-A544-AA97BCFBFAA0}"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5" name="PlaceHolder 1"/>
          <p:cNvSpPr>
            <a:spLocks noGrp="1"/>
          </p:cNvSpPr>
          <p:nvPr>
            <p:ph type="sldImg"/>
          </p:nvPr>
        </p:nvSpPr>
        <p:spPr>
          <a:xfrm>
            <a:off x="685800" y="1143000"/>
            <a:ext cx="5486040" cy="3085920"/>
          </a:xfrm>
          <a:prstGeom prst="rect">
            <a:avLst/>
          </a:prstGeom>
          <a:ln w="0">
            <a:noFill/>
          </a:ln>
        </p:spPr>
      </p:sp>
      <p:sp>
        <p:nvSpPr>
          <p:cNvPr id="9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Exemple concrete pe trepte. Regula: modelul ieftin pentru lucruri pe care le-ați face și voi fără să gândiți mult; echilibratul pentru cea mai mare parte a muncii; cel de vârf pentru decizii și bug-uri unde o greșeală costă ore. Auto e o opțiune bună dacă nu vreți să vă gândiți la asta. Prețurile diferă de zeci de ori între trepte; le vedem pe bani la partea de costuri. Regulă practică: începeți cu modelul echilibrat, iar dacă a greșit de două ori același lucru, opriți, clarificați și urcați la Opus / Sol.</a:t>
            </a:r>
            <a:endParaRPr lang="en-US" sz="2000" b="0" u="none" strike="noStrike">
              <a:solidFill>
                <a:srgbClr val="000000"/>
              </a:solidFill>
              <a:effectLst/>
              <a:uFillTx/>
              <a:latin typeface="Arial"/>
            </a:endParaRPr>
          </a:p>
        </p:txBody>
      </p:sp>
      <p:sp>
        <p:nvSpPr>
          <p:cNvPr id="957"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FC70904-3150-4411-841A-13B5B6A99965}"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 name="PlaceHolder 1"/>
          <p:cNvSpPr>
            <a:spLocks noGrp="1"/>
          </p:cNvSpPr>
          <p:nvPr>
            <p:ph type="sldImg"/>
          </p:nvPr>
        </p:nvSpPr>
        <p:spPr>
          <a:xfrm>
            <a:off x="685800" y="1143000"/>
            <a:ext cx="5486040" cy="3085920"/>
          </a:xfrm>
          <a:prstGeom prst="rect">
            <a:avLst/>
          </a:prstGeom>
          <a:ln w="0">
            <a:noFill/>
          </a:ln>
        </p:spPr>
      </p:sp>
      <p:sp>
        <p:nvSpPr>
          <p:cNvPr id="9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Ask doar citește și explică, sigur pentru explorare. Plan cercetează și scrie un plan, fără să atingă codul. Agent modifică fișiere și rulează comenzi. Cei mai mulți sar direct în Agent; recomandarea mea e să petreceți mai mult timp în Plan.</a:t>
            </a:r>
            <a:endParaRPr lang="en-US" sz="2000" b="0" u="none" strike="noStrike">
              <a:solidFill>
                <a:srgbClr val="000000"/>
              </a:solidFill>
              <a:effectLst/>
              <a:uFillTx/>
              <a:latin typeface="Arial"/>
            </a:endParaRPr>
          </a:p>
        </p:txBody>
      </p:sp>
      <p:sp>
        <p:nvSpPr>
          <p:cNvPr id="966"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64F724-7FB5-442B-B6BE-080BA80D4B1D}"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6" name="PlaceHolder 1"/>
          <p:cNvSpPr>
            <a:spLocks noGrp="1"/>
          </p:cNvSpPr>
          <p:nvPr>
            <p:ph type="sldImg"/>
          </p:nvPr>
        </p:nvSpPr>
        <p:spPr>
          <a:xfrm>
            <a:off x="685800" y="1143000"/>
            <a:ext cx="5486040" cy="3085920"/>
          </a:xfrm>
          <a:prstGeom prst="rect">
            <a:avLst/>
          </a:prstGeom>
          <a:ln w="0">
            <a:noFill/>
          </a:ln>
        </p:spPr>
      </p:sp>
      <p:sp>
        <p:nvSpPr>
          <p:cNvPr id="9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Trei locuri unde poate rula agentul Copilot. Local: în VS Code, interactiv, vedeți tot. CLI: în terminal, bun pentru task-uri lungi și sesiuni paralele, eventual în worktree-uri separate. Cloud: rulează pe GitHub și vă întoarce un PR, ideal pentru issue-uri clare pe care nu vreți să le supravegheați.</a:t>
            </a:r>
            <a:endParaRPr lang="en-US" sz="2000" b="0" u="none" strike="noStrike">
              <a:solidFill>
                <a:srgbClr val="000000"/>
              </a:solidFill>
              <a:effectLst/>
              <a:uFillTx/>
              <a:latin typeface="Arial"/>
            </a:endParaRPr>
          </a:p>
        </p:txBody>
      </p:sp>
      <p:sp>
        <p:nvSpPr>
          <p:cNvPr id="978"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204E21F-C5F6-4B58-B36E-63045CB481D6}"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5" name="PlaceHolder 1"/>
          <p:cNvSpPr>
            <a:spLocks noGrp="1"/>
          </p:cNvSpPr>
          <p:nvPr>
            <p:ph type="sldImg"/>
          </p:nvPr>
        </p:nvSpPr>
        <p:spPr>
          <a:xfrm>
            <a:off x="685800" y="1143000"/>
            <a:ext cx="5486040" cy="3085920"/>
          </a:xfrm>
          <a:prstGeom prst="rect">
            <a:avLst/>
          </a:prstGeom>
          <a:ln w="0">
            <a:noFill/>
          </a:ln>
        </p:spPr>
      </p:sp>
      <p:sp>
        <p:nvSpPr>
          <p:cNvPr id="9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AGENTS.md e un README pentru agenți. Îl citesc Copilot și majoritatea celorlalte tool-uri, deci îl scrieți o singură dată. Intră în context la fiecare cerere, așa că trebuie să fie scurt. Exemplul din dreapta are cam dimensiunea potrivită: proiect, comenzi, convenții, ce să nu atingă.</a:t>
            </a:r>
            <a:endParaRPr lang="en-US" sz="2000" b="0" u="none" strike="noStrike">
              <a:solidFill>
                <a:srgbClr val="000000"/>
              </a:solidFill>
              <a:effectLst/>
              <a:uFillTx/>
              <a:latin typeface="Arial"/>
            </a:endParaRPr>
          </a:p>
        </p:txBody>
      </p:sp>
      <p:sp>
        <p:nvSpPr>
          <p:cNvPr id="987"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837A805-9B5E-4895-9DA4-254FCB124291}"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 name="PlaceHolder 1"/>
          <p:cNvSpPr>
            <a:spLocks noGrp="1"/>
          </p:cNvSpPr>
          <p:nvPr>
            <p:ph type="sldImg"/>
          </p:nvPr>
        </p:nvSpPr>
        <p:spPr>
          <a:xfrm>
            <a:off x="685800" y="1143000"/>
            <a:ext cx="5486040" cy="3085920"/>
          </a:xfrm>
          <a:prstGeom prst="rect">
            <a:avLst/>
          </a:prstGeom>
          <a:ln w="0">
            <a:noFill/>
          </a:ln>
        </p:spPr>
      </p:sp>
      <p:sp>
        <p:nvSpPr>
          <p:cNvPr id="9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Trei niveluri. </a:t>
            </a:r>
            <a:r>
              <a:rPr lang="en-US" sz="2000" b="0" u="none" strike="noStrike">
                <a:solidFill>
                  <a:srgbClr val="000000"/>
                </a:solidFill>
                <a:effectLst/>
                <a:uFillTx/>
                <a:latin typeface="Arial"/>
              </a:rPr>
              <a:t>Personal, în </a:t>
            </a:r>
            <a:r>
              <a:rPr lang="en-US" sz="2000" b="0" u="none" strike="noStrike">
                <a:solidFill>
                  <a:srgbClr val="000000"/>
                </a:solidFill>
                <a:effectLst/>
                <a:uFillTx/>
                <a:latin typeface="Arial"/>
              </a:rPr>
              <a:t>~/.copilot: </a:t>
            </a:r>
            <a:r>
              <a:rPr lang="en-US" sz="2000" b="0" u="none" strike="noStrike">
                <a:solidFill>
                  <a:srgbClr val="000000"/>
                </a:solidFill>
                <a:effectLst/>
                <a:uFillTx/>
                <a:latin typeface="Arial"/>
              </a:rPr>
              <a:t>preferințele </a:t>
            </a:r>
            <a:r>
              <a:rPr lang="en-US" sz="2000" b="0" u="none" strike="noStrike">
                <a:solidFill>
                  <a:srgbClr val="000000"/>
                </a:solidFill>
                <a:effectLst/>
                <a:uFillTx/>
                <a:latin typeface="Arial"/>
              </a:rPr>
              <a:t>voastre, nu </a:t>
            </a:r>
            <a:r>
              <a:rPr lang="en-US" sz="2000" b="0" u="none" strike="noStrike">
                <a:solidFill>
                  <a:srgbClr val="000000"/>
                </a:solidFill>
                <a:effectLst/>
                <a:uFillTx/>
                <a:latin typeface="Arial"/>
              </a:rPr>
              <a:t>ajung în git. </a:t>
            </a:r>
            <a:r>
              <a:rPr lang="en-US" sz="2000" b="0" u="none" strike="noStrike">
                <a:solidFill>
                  <a:srgbClr val="000000"/>
                </a:solidFill>
                <a:effectLst/>
                <a:uFillTx/>
                <a:latin typeface="Arial"/>
              </a:rPr>
              <a:t>Repo: regulile </a:t>
            </a:r>
            <a:r>
              <a:rPr lang="en-US" sz="2000" b="0" u="none" strike="noStrike">
                <a:solidFill>
                  <a:srgbClr val="000000"/>
                </a:solidFill>
                <a:effectLst/>
                <a:uFillTx/>
                <a:latin typeface="Arial"/>
              </a:rPr>
              <a:t>echipei. </a:t>
            </a:r>
            <a:r>
              <a:rPr lang="en-US" sz="2000" b="0" u="none" strike="noStrike">
                <a:solidFill>
                  <a:srgbClr val="000000"/>
                </a:solidFill>
                <a:effectLst/>
                <a:uFillTx/>
                <a:latin typeface="Arial"/>
              </a:rPr>
              <a:t>Foldere: </a:t>
            </a:r>
            <a:r>
              <a:rPr lang="en-US" sz="2000" b="0" u="none" strike="noStrike">
                <a:solidFill>
                  <a:srgbClr val="000000"/>
                </a:solidFill>
                <a:effectLst/>
                <a:uFillTx/>
                <a:latin typeface="Arial"/>
              </a:rPr>
              <a:t>reguli locale, </a:t>
            </a:r>
            <a:r>
              <a:rPr lang="en-US" sz="2000" b="0" u="none" strike="noStrike">
                <a:solidFill>
                  <a:srgbClr val="000000"/>
                </a:solidFill>
                <a:effectLst/>
                <a:uFillTx/>
                <a:latin typeface="Arial"/>
              </a:rPr>
              <a:t>util în </a:t>
            </a:r>
            <a:r>
              <a:rPr lang="en-US" sz="2000" b="0" u="none" strike="noStrike">
                <a:solidFill>
                  <a:srgbClr val="000000"/>
                </a:solidFill>
                <a:effectLst/>
                <a:uFillTx/>
                <a:latin typeface="Arial"/>
              </a:rPr>
              <a:t>monorepo. </a:t>
            </a:r>
            <a:r>
              <a:rPr lang="en-US" sz="2000" b="0" u="none" strike="noStrike">
                <a:solidFill>
                  <a:srgbClr val="000000"/>
                </a:solidFill>
                <a:effectLst/>
                <a:uFillTx/>
                <a:latin typeface="Arial"/>
              </a:rPr>
              <a:t>Când se </a:t>
            </a:r>
            <a:r>
              <a:rPr lang="en-US" sz="2000" b="0" u="none" strike="noStrike">
                <a:solidFill>
                  <a:srgbClr val="000000"/>
                </a:solidFill>
                <a:effectLst/>
                <a:uFillTx/>
                <a:latin typeface="Arial"/>
              </a:rPr>
              <a:t>contrazic, </a:t>
            </a:r>
            <a:r>
              <a:rPr lang="en-US" sz="2000" b="0" u="none" strike="noStrike">
                <a:solidFill>
                  <a:srgbClr val="000000"/>
                </a:solidFill>
                <a:effectLst/>
                <a:uFillTx/>
                <a:latin typeface="Arial"/>
              </a:rPr>
              <a:t>câștigă cel </a:t>
            </a:r>
            <a:r>
              <a:rPr lang="en-US" sz="2000" b="0" u="none" strike="noStrike">
                <a:solidFill>
                  <a:srgbClr val="000000"/>
                </a:solidFill>
                <a:effectLst/>
                <a:uFillTx/>
                <a:latin typeface="Arial"/>
              </a:rPr>
              <a:t>mai apropiat </a:t>
            </a:r>
            <a:r>
              <a:rPr lang="en-US" sz="2000" b="0" u="none" strike="noStrike">
                <a:solidFill>
                  <a:srgbClr val="000000"/>
                </a:solidFill>
                <a:effectLst/>
                <a:uFillTx/>
                <a:latin typeface="Arial"/>
              </a:rPr>
              <a:t>de fișierul </a:t>
            </a:r>
            <a:r>
              <a:rPr lang="en-US" sz="2000" b="0" u="none" strike="noStrike">
                <a:solidFill>
                  <a:srgbClr val="000000"/>
                </a:solidFill>
                <a:effectLst/>
                <a:uFillTx/>
                <a:latin typeface="Arial"/>
              </a:rPr>
              <a:t>editat. În VS </a:t>
            </a:r>
            <a:r>
              <a:rPr lang="en-US" sz="2000" b="0" u="none" strike="noStrike">
                <a:solidFill>
                  <a:srgbClr val="000000"/>
                </a:solidFill>
                <a:effectLst/>
                <a:uFillTx/>
                <a:latin typeface="Arial"/>
              </a:rPr>
              <a:t>Code, </a:t>
            </a:r>
            <a:r>
              <a:rPr lang="en-US" sz="2000" b="0" u="none" strike="noStrike">
                <a:solidFill>
                  <a:srgbClr val="000000"/>
                </a:solidFill>
                <a:effectLst/>
                <a:uFillTx/>
                <a:latin typeface="Arial"/>
              </a:rPr>
              <a:t>AGENTS.md </a:t>
            </a:r>
            <a:r>
              <a:rPr lang="en-US" sz="2000" b="0" u="none" strike="noStrike">
                <a:solidFill>
                  <a:srgbClr val="000000"/>
                </a:solidFill>
                <a:effectLst/>
                <a:uFillTx/>
                <a:latin typeface="Arial"/>
              </a:rPr>
              <a:t>din </a:t>
            </a:r>
            <a:r>
              <a:rPr lang="en-US" sz="2000" b="0" u="none" strike="noStrike">
                <a:solidFill>
                  <a:srgbClr val="000000"/>
                </a:solidFill>
                <a:effectLst/>
                <a:uFillTx/>
                <a:latin typeface="Arial"/>
              </a:rPr>
              <a:t>subfoldere se </a:t>
            </a:r>
            <a:r>
              <a:rPr lang="en-US" sz="2000" b="0" u="none" strike="noStrike">
                <a:solidFill>
                  <a:srgbClr val="000000"/>
                </a:solidFill>
                <a:effectLst/>
                <a:uFillTx/>
                <a:latin typeface="Arial"/>
              </a:rPr>
              <a:t>activează cu </a:t>
            </a:r>
            <a:r>
              <a:rPr lang="en-US" sz="2000" b="0" u="none" strike="noStrike">
                <a:solidFill>
                  <a:srgbClr val="000000"/>
                </a:solidFill>
                <a:effectLst/>
                <a:uFillTx/>
                <a:latin typeface="Arial"/>
              </a:rPr>
              <a:t>o setare </a:t>
            </a:r>
            <a:r>
              <a:rPr lang="en-US" sz="2000" b="0" u="none" strike="noStrike">
                <a:solidFill>
                  <a:srgbClr val="000000"/>
                </a:solidFill>
                <a:effectLst/>
                <a:uFillTx/>
                <a:latin typeface="Arial"/>
              </a:rPr>
              <a:t>experimental</a:t>
            </a:r>
            <a:r>
              <a:rPr lang="en-US" sz="2000" b="0" u="none" strike="noStrike">
                <a:solidFill>
                  <a:srgbClr val="000000"/>
                </a:solidFill>
                <a:effectLst/>
                <a:uFillTx/>
                <a:latin typeface="Arial"/>
              </a:rPr>
              <a:t>ă.</a:t>
            </a:r>
            <a:endParaRPr lang="en-US" sz="2000" b="0" u="none" strike="noStrike">
              <a:solidFill>
                <a:srgbClr val="000000"/>
              </a:solidFill>
              <a:effectLst/>
              <a:uFillTx/>
              <a:latin typeface="Arial"/>
            </a:endParaRPr>
          </a:p>
        </p:txBody>
      </p:sp>
      <p:sp>
        <p:nvSpPr>
          <p:cNvPr id="990"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A7BD6F6-8E48-4BB7-B4B5-5C9E8BCC418E}"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 name="PlaceHolder 1"/>
          <p:cNvSpPr>
            <a:spLocks noGrp="1"/>
          </p:cNvSpPr>
          <p:nvPr>
            <p:ph type="sldImg"/>
          </p:nvPr>
        </p:nvSpPr>
        <p:spPr>
          <a:xfrm>
            <a:off x="685800" y="1143000"/>
            <a:ext cx="5486040" cy="3085920"/>
          </a:xfrm>
          <a:prstGeom prst="rect">
            <a:avLst/>
          </a:prstGeom>
          <a:ln w="0">
            <a:noFill/>
          </a:ln>
        </p:spPr>
      </p:sp>
      <p:sp>
        <p:nvSpPr>
          <p:cNvPr id="9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Opt categorii. Merită reținuți subagenții: un agent trimite o sub-sarcină altui agent </a:t>
            </a:r>
            <a:r>
              <a:rPr lang="en-US" sz="2000" b="0" u="none" strike="noStrike">
                <a:solidFill>
                  <a:srgbClr val="000000"/>
                </a:solidFill>
                <a:effectLst/>
                <a:uFillTx/>
                <a:latin typeface="Arial"/>
              </a:rPr>
              <a:t>cu context curat, care întoarce doar rezumatul. Și MCP: prin el conectăm Jira, </a:t>
            </a:r>
            <a:r>
              <a:rPr lang="en-US" sz="2000" b="0" u="none" strike="noStrike">
                <a:solidFill>
                  <a:srgbClr val="000000"/>
                </a:solidFill>
                <a:effectLst/>
                <a:uFillTx/>
                <a:latin typeface="Arial"/>
              </a:rPr>
              <a:t>baze de date, documentație internă. În CLI tool-urile au alte nume, dar aceleași </a:t>
            </a:r>
            <a:r>
              <a:rPr lang="en-US" sz="2000" b="0" u="none" strike="noStrike">
                <a:solidFill>
                  <a:srgbClr val="000000"/>
                </a:solidFill>
                <a:effectLst/>
                <a:uFillTx/>
                <a:latin typeface="Arial"/>
              </a:rPr>
              <a:t>funcții.</a:t>
            </a:r>
            <a:endParaRPr lang="en-US" sz="2000" b="0" u="none" strike="noStrike">
              <a:solidFill>
                <a:srgbClr val="000000"/>
              </a:solidFill>
              <a:effectLst/>
              <a:uFillTx/>
              <a:latin typeface="Arial"/>
            </a:endParaRPr>
          </a:p>
        </p:txBody>
      </p:sp>
      <p:sp>
        <p:nvSpPr>
          <p:cNvPr id="999"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95CD231-EDED-4345-9D43-1A99AEAE73F7}"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6" name="PlaceHolder 1"/>
          <p:cNvSpPr>
            <a:spLocks noGrp="1"/>
          </p:cNvSpPr>
          <p:nvPr>
            <p:ph type="sldImg"/>
          </p:nvPr>
        </p:nvSpPr>
        <p:spPr>
          <a:xfrm>
            <a:off x="685800" y="1143000"/>
            <a:ext cx="5486040" cy="3085920"/>
          </a:xfrm>
          <a:prstGeom prst="rect">
            <a:avLst/>
          </a:prstGeom>
          <a:ln w="0">
            <a:noFill/>
          </a:ln>
        </p:spPr>
      </p:sp>
      <p:sp>
        <p:nvSpPr>
          <p:cNvPr id="10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Un skill e un folder cu SKILL.md. Trucul e progressive disclosure: în context stau doar numele și descrierea; corpul se încarcă doar când task-ul se potrivește, iar referințele și scripturile doar la nevoie. Așa putem avea zeci de skills fără să umplem contextul.</a:t>
            </a:r>
            <a:endParaRPr lang="en-US" sz="2000" b="0" u="none" strike="noStrike">
              <a:solidFill>
                <a:srgbClr val="000000"/>
              </a:solidFill>
              <a:effectLst/>
              <a:uFillTx/>
              <a:latin typeface="Arial"/>
            </a:endParaRPr>
          </a:p>
        </p:txBody>
      </p:sp>
      <p:sp>
        <p:nvSpPr>
          <p:cNvPr id="1008"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044FC3E-C7FC-4AA8-8D66-8789FA23BC3F}"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9" name="PlaceHolder 1"/>
          <p:cNvSpPr>
            <a:spLocks noGrp="1"/>
          </p:cNvSpPr>
          <p:nvPr>
            <p:ph type="sldImg"/>
          </p:nvPr>
        </p:nvSpPr>
        <p:spPr>
          <a:xfrm>
            <a:off x="685800" y="1143000"/>
            <a:ext cx="5486040" cy="3085920"/>
          </a:xfrm>
          <a:prstGeom prst="rect">
            <a:avLst/>
          </a:prstGeom>
          <a:ln w="0">
            <a:noFill/>
          </a:ln>
        </p:spPr>
      </p:sp>
      <p:sp>
        <p:nvSpPr>
          <p:cNvPr id="10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Când folosim ce. Instrucțiuni pentru reguli permanente. Skill pentru proceduri repetabile. Prompt file pentru un prompt simplu reutilizabil. Custom agent pentru un rol cu tool-uri proprii. Hook pentru ce trebuie garantat, nu doar sugerat.</a:t>
            </a:r>
            <a:endParaRPr lang="en-US" sz="2000" b="0" u="none" strike="noStrike">
              <a:solidFill>
                <a:srgbClr val="000000"/>
              </a:solidFill>
              <a:effectLst/>
              <a:uFillTx/>
              <a:latin typeface="Arial"/>
            </a:endParaRPr>
          </a:p>
        </p:txBody>
      </p:sp>
      <p:sp>
        <p:nvSpPr>
          <p:cNvPr id="1011"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75FC46-EF1A-42F6-B874-A8516A0F8C30}"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PlaceHolder 1"/>
          <p:cNvSpPr>
            <a:spLocks noGrp="1"/>
          </p:cNvSpPr>
          <p:nvPr>
            <p:ph type="sldImg"/>
          </p:nvPr>
        </p:nvSpPr>
        <p:spPr>
          <a:xfrm>
            <a:off x="685800" y="1143000"/>
            <a:ext cx="5486040" cy="3085920"/>
          </a:xfrm>
          <a:prstGeom prst="rect">
            <a:avLst/>
          </a:prstGeom>
          <a:ln w="0">
            <a:noFill/>
          </a:ln>
        </p:spPr>
      </p:sp>
      <p:sp>
        <p:nvSpPr>
          <p:cNvPr id="10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Matt Pocock publică un set foarte folosit de skills. Fluxul lui: interviu, specificație, tichete, implementare cu TDD, review. Instalarea e o singură comandă; setup-ul se rulează o dată per repo.</a:t>
            </a:r>
            <a:endParaRPr lang="en-US" sz="2000" b="0" u="none" strike="noStrike">
              <a:solidFill>
                <a:srgbClr val="000000"/>
              </a:solidFill>
              <a:effectLst/>
              <a:uFillTx/>
              <a:latin typeface="Arial"/>
            </a:endParaRPr>
          </a:p>
        </p:txBody>
      </p:sp>
      <p:sp>
        <p:nvSpPr>
          <p:cNvPr id="1023"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8F4E7E-790E-4669-A510-56BB9CBE77ED}"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4" name="PlaceHolder 1"/>
          <p:cNvSpPr>
            <a:spLocks noGrp="1"/>
          </p:cNvSpPr>
          <p:nvPr>
            <p:ph type="sldImg"/>
          </p:nvPr>
        </p:nvSpPr>
        <p:spPr>
          <a:xfrm>
            <a:off x="685800" y="1143000"/>
            <a:ext cx="5486040" cy="3085920"/>
          </a:xfrm>
          <a:prstGeom prst="rect">
            <a:avLst/>
          </a:prstGeom>
          <a:ln w="0">
            <a:noFill/>
          </a:ln>
        </p:spPr>
      </p:sp>
      <p:sp>
        <p:nvSpPr>
          <p:cNvPr id="10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/grill-me e cel mai popular dintre ele. Ideea: în loc să scrieți voi specificația, agentul vă pune întrebări una câte una, fiecare cu o recomandare, până vă înțelegeți. Faptele le caută singur în cod, deciziile vi le lasă vouă.</a:t>
            </a:r>
            <a:endParaRPr lang="en-US" sz="2000" b="0" u="none" strike="noStrike">
              <a:solidFill>
                <a:srgbClr val="000000"/>
              </a:solidFill>
              <a:effectLst/>
              <a:uFillTx/>
              <a:latin typeface="Arial"/>
            </a:endParaRPr>
          </a:p>
        </p:txBody>
      </p:sp>
      <p:sp>
        <p:nvSpPr>
          <p:cNvPr id="1026"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D4BADD-7009-4943-B601-6250B464ED1D}"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 name="PlaceHolder 1"/>
          <p:cNvSpPr>
            <a:spLocks noGrp="1"/>
          </p:cNvSpPr>
          <p:nvPr>
            <p:ph type="sldImg"/>
          </p:nvPr>
        </p:nvSpPr>
        <p:spPr>
          <a:xfrm>
            <a:off x="685800" y="1143000"/>
            <a:ext cx="5486040" cy="3085920"/>
          </a:xfrm>
          <a:prstGeom prst="rect">
            <a:avLst/>
          </a:prstGeom>
          <a:ln w="0">
            <a:noFill/>
          </a:ln>
        </p:spPr>
      </p:sp>
      <p:sp>
        <p:nvSpPr>
          <p:cNvPr id="10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Superpowers e altă filozofie: o metodologie completă, unde skill-urile se activează singure în ordinea potrivită: brainstorming, plan, execuție, plus TDD și debugging sistematic. În Copilot CLI se instalează ca plugin, în VS Code cu npx skills.</a:t>
            </a:r>
            <a:endParaRPr lang="en-US" sz="2000" b="0" u="none" strike="noStrike">
              <a:solidFill>
                <a:srgbClr val="000000"/>
              </a:solidFill>
              <a:effectLst/>
              <a:uFillTx/>
              <a:latin typeface="Arial"/>
            </a:endParaRPr>
          </a:p>
        </p:txBody>
      </p:sp>
      <p:sp>
        <p:nvSpPr>
          <p:cNvPr id="1038"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5CCC33-872C-4169-B47D-4097EBD9862C}"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 name="PlaceHolder 1"/>
          <p:cNvSpPr>
            <a:spLocks noGrp="1"/>
          </p:cNvSpPr>
          <p:nvPr>
            <p:ph type="sldImg"/>
          </p:nvPr>
        </p:nvSpPr>
        <p:spPr>
          <a:xfrm>
            <a:off x="685800" y="1143000"/>
            <a:ext cx="5486040" cy="3085920"/>
          </a:xfrm>
          <a:prstGeom prst="rect">
            <a:avLst/>
          </a:prstGeom>
          <a:ln w="0">
            <a:noFill/>
          </a:ln>
        </p:spPr>
      </p:sp>
      <p:sp>
        <p:nvSpPr>
          <p:cNvPr id="10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Procesul: faceți task-ul o dată cu agentul, îl corectați pe parcurs, apoi îi cereți să transforme conversația în skill. În VS Code există /create-skill. Apoi îl testați pe un task nou.</a:t>
            </a:r>
            <a:endParaRPr lang="en-US" sz="2000" b="0" u="none" strike="noStrike">
              <a:solidFill>
                <a:srgbClr val="000000"/>
              </a:solidFill>
              <a:effectLst/>
              <a:uFillTx/>
              <a:latin typeface="Arial"/>
            </a:endParaRPr>
          </a:p>
        </p:txBody>
      </p:sp>
      <p:sp>
        <p:nvSpPr>
          <p:cNvPr id="1044"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11D85B-94AD-4FEE-BBD7-0D81E1BA97A7}"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 name="PlaceHolder 1"/>
          <p:cNvSpPr>
            <a:spLocks noGrp="1"/>
          </p:cNvSpPr>
          <p:nvPr>
            <p:ph type="sldImg"/>
          </p:nvPr>
        </p:nvSpPr>
        <p:spPr>
          <a:xfrm>
            <a:off x="685800" y="1143000"/>
            <a:ext cx="5486040" cy="3085920"/>
          </a:xfrm>
          <a:prstGeom prst="rect">
            <a:avLst/>
          </a:prstGeom>
          <a:ln w="0">
            <a:noFill/>
          </a:ln>
        </p:spPr>
      </p:sp>
      <p:sp>
        <p:nvSpPr>
          <p:cNvPr id="10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Hooks sunt scripturi care rulează automat la evenimente: înainte de un tool, după un tool, când agentul zice gata. Modelul nu le poate ignora. Cele mai utile: preToolUse, care poate bloca, și agentStop, care poate forța încă o tură.</a:t>
            </a:r>
            <a:endParaRPr lang="en-US" sz="2000" b="0" u="none" strike="noStrike">
              <a:solidFill>
                <a:srgbClr val="000000"/>
              </a:solidFill>
              <a:effectLst/>
              <a:uFillTx/>
              <a:latin typeface="Arial"/>
            </a:endParaRPr>
          </a:p>
        </p:txBody>
      </p:sp>
      <p:sp>
        <p:nvSpPr>
          <p:cNvPr id="1056"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23AEEBD-AB19-41DF-B5A4-9CE7435F8C38}"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 name="PlaceHolder 1"/>
          <p:cNvSpPr>
            <a:spLocks noGrp="1"/>
          </p:cNvSpPr>
          <p:nvPr>
            <p:ph type="sldImg"/>
          </p:nvPr>
        </p:nvSpPr>
        <p:spPr>
          <a:xfrm>
            <a:off x="685800" y="1143000"/>
            <a:ext cx="5486040" cy="3085920"/>
          </a:xfrm>
          <a:prstGeom prst="rect">
            <a:avLst/>
          </a:prstGeom>
          <a:ln w="0">
            <a:noFill/>
          </a:ln>
        </p:spPr>
      </p:sp>
      <p:sp>
        <p:nvSpPr>
          <p:cNvPr id="10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Primul exemplu: blocăm comenzile distructive. Scriptul primește evenimentul ca JSON și, dacă găsește un tipar periculos, răspunde deny. Detaliu important: dacă scriptul crapă, comanda e blocată; dacă expiră timpul, trece.</a:t>
            </a:r>
            <a:endParaRPr lang="en-US" sz="2000" b="0" u="none" strike="noStrike">
              <a:solidFill>
                <a:srgbClr val="000000"/>
              </a:solidFill>
              <a:effectLst/>
              <a:uFillTx/>
              <a:latin typeface="Arial"/>
            </a:endParaRPr>
          </a:p>
        </p:txBody>
      </p:sp>
      <p:sp>
        <p:nvSpPr>
          <p:cNvPr id="1059"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0EF88A7-3A8E-4EF2-8796-06003A65A57F}"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2" name="PlaceHolder 1"/>
          <p:cNvSpPr>
            <a:spLocks noGrp="1"/>
          </p:cNvSpPr>
          <p:nvPr>
            <p:ph type="sldImg"/>
          </p:nvPr>
        </p:nvSpPr>
        <p:spPr>
          <a:xfrm>
            <a:off x="685800" y="1143000"/>
            <a:ext cx="5486040" cy="3085920"/>
          </a:xfrm>
          <a:prstGeom prst="rect">
            <a:avLst/>
          </a:prstGeom>
          <a:ln w="0">
            <a:noFill/>
          </a:ln>
        </p:spPr>
      </p:sp>
      <p:sp>
        <p:nvSpPr>
          <p:cNvPr id="10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Șase lucruri de știut că există. MCP e cel mai puternic, dar și cel mai scump în context. Code review automat pe PR merită activat.</a:t>
            </a:r>
            <a:endParaRPr lang="en-US" sz="2000" b="0" u="none" strike="noStrike">
              <a:solidFill>
                <a:srgbClr val="000000"/>
              </a:solidFill>
              <a:effectLst/>
              <a:uFillTx/>
              <a:latin typeface="Arial"/>
            </a:endParaRPr>
          </a:p>
        </p:txBody>
      </p:sp>
      <p:sp>
        <p:nvSpPr>
          <p:cNvPr id="1074"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97D66FD-D398-459A-87AA-844B5FEFC93C}"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 name="PlaceHolder 1"/>
          <p:cNvSpPr>
            <a:spLocks noGrp="1"/>
          </p:cNvSpPr>
          <p:nvPr>
            <p:ph type="sldImg"/>
          </p:nvPr>
        </p:nvSpPr>
        <p:spPr>
          <a:xfrm>
            <a:off x="685800" y="1143000"/>
            <a:ext cx="5486040" cy="3085920"/>
          </a:xfrm>
          <a:prstGeom prst="rect">
            <a:avLst/>
          </a:prstGeom>
          <a:ln w="0">
            <a:noFill/>
          </a:ln>
        </p:spPr>
      </p:sp>
      <p:sp>
        <p:nvSpPr>
          <p:cNvPr id="10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Aceeași sesiune pe opt modele. Cifrele sunt un exemplu calculat, nu măsurători, dar arată ordinul de mărime: de la câțiva cenți la câțiva dolari pentru aceeași muncă.</a:t>
            </a:r>
            <a:endParaRPr lang="en-US" sz="2000" b="0" u="none" strike="noStrike">
              <a:solidFill>
                <a:srgbClr val="000000"/>
              </a:solidFill>
              <a:effectLst/>
              <a:uFillTx/>
              <a:latin typeface="Arial"/>
            </a:endParaRPr>
          </a:p>
        </p:txBody>
      </p:sp>
      <p:sp>
        <p:nvSpPr>
          <p:cNvPr id="1083"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3B67C49-508C-411D-B8BC-188C45FEBF6E}"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 name="PlaceHolder 1"/>
          <p:cNvSpPr>
            <a:spLocks noGrp="1"/>
          </p:cNvSpPr>
          <p:nvPr>
            <p:ph type="sldImg"/>
          </p:nvPr>
        </p:nvSpPr>
        <p:spPr>
          <a:xfrm>
            <a:off x="685800" y="1143000"/>
            <a:ext cx="5486040" cy="3085920"/>
          </a:xfrm>
          <a:prstGeom prst="rect">
            <a:avLst/>
          </a:prstGeom>
          <a:ln w="0">
            <a:noFill/>
          </a:ln>
        </p:spPr>
      </p:sp>
      <p:sp>
        <p:nvSpPr>
          <p:cNvPr id="10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Pe măsură ce contextul se umple, calitatea scade, mult înainte de limită. 40% e o euristică populară, nu o regulă exactă. Simptomele le-ați văzut toți: agentul uită ce i-ați spus, repetă greșeli, inventează. Mesajul principal: contextul e un buget, nu un depozit. Un task nou într-o sesiune veche pornește deja mai aproape de dumb zone.</a:t>
            </a:r>
            <a:endParaRPr lang="en-US" sz="2000" b="0" u="none" strike="noStrike">
              <a:solidFill>
                <a:srgbClr val="000000"/>
              </a:solidFill>
              <a:effectLst/>
              <a:uFillTx/>
              <a:latin typeface="Arial"/>
            </a:endParaRPr>
          </a:p>
        </p:txBody>
      </p:sp>
      <p:sp>
        <p:nvSpPr>
          <p:cNvPr id="1095"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40E163-5478-4904-A822-461252A0C335}"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 name="PlaceHolder 1"/>
          <p:cNvSpPr>
            <a:spLocks noGrp="1"/>
          </p:cNvSpPr>
          <p:nvPr>
            <p:ph type="sldImg"/>
          </p:nvPr>
        </p:nvSpPr>
        <p:spPr>
          <a:xfrm>
            <a:off x="685800" y="1143000"/>
            <a:ext cx="5486040" cy="3085920"/>
          </a:xfrm>
          <a:prstGeom prst="rect">
            <a:avLst/>
          </a:prstGeom>
          <a:ln w="0">
            <a:noFill/>
          </a:ln>
        </p:spPr>
      </p:sp>
      <p:sp>
        <p:nvSpPr>
          <p:cNvPr id="11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Opt obiceiuri. Cele mai importante trei: un task pe sesiune, planul scris în fișier și reluat într-o sesiune nouă, și subagenți pentru explorare. Nu lipiți log-uri uriașe; filtrați-le.</a:t>
            </a:r>
            <a:endParaRPr lang="en-US" sz="2000" b="0" u="none" strike="noStrike">
              <a:solidFill>
                <a:srgbClr val="000000"/>
              </a:solidFill>
              <a:effectLst/>
              <a:uFillTx/>
              <a:latin typeface="Arial"/>
            </a:endParaRPr>
          </a:p>
        </p:txBody>
      </p:sp>
      <p:sp>
        <p:nvSpPr>
          <p:cNvPr id="1104"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316EF95-A9B1-4215-9EBC-BFDC6B8E954E}"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 name="PlaceHolder 1"/>
          <p:cNvSpPr>
            <a:spLocks noGrp="1"/>
          </p:cNvSpPr>
          <p:nvPr>
            <p:ph type="sldImg"/>
          </p:nvPr>
        </p:nvSpPr>
        <p:spPr>
          <a:xfrm>
            <a:off x="685800" y="1143000"/>
            <a:ext cx="5486040" cy="3085920"/>
          </a:xfrm>
          <a:prstGeom prst="rect">
            <a:avLst/>
          </a:prstGeom>
          <a:ln w="0">
            <a:noFill/>
          </a:ln>
        </p:spPr>
      </p:sp>
      <p:sp>
        <p:nvSpPr>
          <p:cNvPr id="11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Același bug, două prompturi. Primul pare mai rapid de scris, dar costă mai mult și dă rezultate mai proaste. Al doilea durează 30 de secunde în plus și economisește minute și credite.</a:t>
            </a:r>
            <a:endParaRPr lang="en-US" sz="2000" b="0" u="none" strike="noStrike">
              <a:solidFill>
                <a:srgbClr val="000000"/>
              </a:solidFill>
              <a:effectLst/>
              <a:uFillTx/>
              <a:latin typeface="Arial"/>
            </a:endParaRPr>
          </a:p>
        </p:txBody>
      </p:sp>
      <p:sp>
        <p:nvSpPr>
          <p:cNvPr id="1110"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B9F9DF-21F0-4E1A-BE8E-4C1EC709C56A}"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 name="PlaceHolder 1"/>
          <p:cNvSpPr>
            <a:spLocks noGrp="1"/>
          </p:cNvSpPr>
          <p:nvPr>
            <p:ph type="sldImg"/>
          </p:nvPr>
        </p:nvSpPr>
        <p:spPr>
          <a:xfrm>
            <a:off x="685800" y="1143000"/>
            <a:ext cx="5486040" cy="3085920"/>
          </a:xfrm>
          <a:prstGeom prst="rect">
            <a:avLst/>
          </a:prstGeom>
          <a:ln w="0">
            <a:noFill/>
          </a:ln>
        </p:spPr>
      </p:sp>
      <p:sp>
        <p:nvSpPr>
          <p:cNvPr id="11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Research, Plan, Implement, Review. Fiecare etapă cu modelul potrivit și cu un artefact scris. Între etape, sesiune nouă. Ultimul pas e al vostru: codul se livrează, deci codul se revizuiește.</a:t>
            </a:r>
            <a:endParaRPr lang="en-US" sz="2000" b="0" u="none" strike="noStrike">
              <a:solidFill>
                <a:srgbClr val="000000"/>
              </a:solidFill>
              <a:effectLst/>
              <a:uFillTx/>
              <a:latin typeface="Arial"/>
            </a:endParaRPr>
          </a:p>
        </p:txBody>
      </p:sp>
      <p:sp>
        <p:nvSpPr>
          <p:cNvPr id="1116"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52D300-9EF1-431C-BB57-59C536BF4886}"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 name="PlaceHolder 1"/>
          <p:cNvSpPr>
            <a:spLocks noGrp="1"/>
          </p:cNvSpPr>
          <p:nvPr>
            <p:ph type="sldImg"/>
          </p:nvPr>
        </p:nvSpPr>
        <p:spPr>
          <a:xfrm>
            <a:off x="685800" y="1143000"/>
            <a:ext cx="5486040" cy="3085920"/>
          </a:xfrm>
          <a:prstGeom prst="rect">
            <a:avLst/>
          </a:prstGeom>
          <a:ln w="0">
            <a:noFill/>
          </a:ln>
        </p:spPr>
      </p:sp>
      <p:sp>
        <p:nvSpPr>
          <p:cNvPr id="11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Reguli care nu se negociază. Revizuiți fiecare diff. Autopilot doar izolat. Atenție la prompt injection din pagini web sau issue-uri. Fără secrete în prompturi. Verificați ce instalați. Folosiți doar modelele aprobate de organizație.</a:t>
            </a:r>
            <a:endParaRPr lang="en-US" sz="2000" b="0" u="none" strike="noStrike">
              <a:solidFill>
                <a:srgbClr val="000000"/>
              </a:solidFill>
              <a:effectLst/>
              <a:uFillTx/>
              <a:latin typeface="Arial"/>
            </a:endParaRPr>
          </a:p>
        </p:txBody>
      </p:sp>
      <p:sp>
        <p:nvSpPr>
          <p:cNvPr id="1119"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38FDEC-0B2B-4CBD-B91D-7831EB377A0C}"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PlaceHolder 1"/>
          <p:cNvSpPr>
            <a:spLocks noGrp="1"/>
          </p:cNvSpPr>
          <p:nvPr>
            <p:ph type="sldImg"/>
          </p:nvPr>
        </p:nvSpPr>
        <p:spPr>
          <a:xfrm>
            <a:off x="685800" y="1143000"/>
            <a:ext cx="5486040" cy="3085920"/>
          </a:xfrm>
          <a:prstGeom prst="rect">
            <a:avLst/>
          </a:prstGeom>
          <a:ln w="0">
            <a:noFill/>
          </a:ln>
        </p:spPr>
      </p:sp>
      <p:sp>
        <p:nvSpPr>
          <p:cNvPr id="11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Linkuri pentru aprofundare. Recomand în special documentația GitHub despre modele și hooks și talk-ul lui Dex Horthy despre context.</a:t>
            </a:r>
            <a:endParaRPr lang="en-US" sz="2000" b="0" u="none" strike="noStrike">
              <a:solidFill>
                <a:srgbClr val="000000"/>
              </a:solidFill>
              <a:effectLst/>
              <a:uFillTx/>
              <a:latin typeface="Arial"/>
            </a:endParaRPr>
          </a:p>
        </p:txBody>
      </p:sp>
      <p:sp>
        <p:nvSpPr>
          <p:cNvPr id="1122"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636FDD-5E09-406A-83EC-A61AA6424876}"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PlaceHolder 1"/>
          <p:cNvSpPr>
            <a:spLocks noGrp="1"/>
          </p:cNvSpPr>
          <p:nvPr>
            <p:ph type="sldImg"/>
          </p:nvPr>
        </p:nvSpPr>
        <p:spPr>
          <a:xfrm>
            <a:off x="685800" y="1143000"/>
            <a:ext cx="5486040" cy="3085920"/>
          </a:xfrm>
          <a:prstGeom prst="rect">
            <a:avLst/>
          </a:prstGeom>
          <a:ln w="0">
            <a:noFill/>
          </a:ln>
        </p:spPr>
      </p:sp>
      <p:sp>
        <p:nvSpPr>
          <p:cNvPr id="11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Temă: un task real, un AGENTS.md scurt și fluxul /grill-me, Plan, Agent într-o sesiune nouă. Săptămâna viitoare putem compara ce a mers și ce nu.</a:t>
            </a:r>
            <a:endParaRPr lang="en-US" sz="2000" b="0" u="none" strike="noStrike">
              <a:solidFill>
                <a:srgbClr val="000000"/>
              </a:solidFill>
              <a:effectLst/>
              <a:uFillTx/>
              <a:latin typeface="Arial"/>
            </a:endParaRPr>
          </a:p>
        </p:txBody>
      </p:sp>
      <p:sp>
        <p:nvSpPr>
          <p:cNvPr id="1125"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C4C816-A997-4AAE-98C5-23A025944C11}"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5F2EA"/>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5F2EA"/>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12880" y="1102320"/>
            <a:ext cx="10566000" cy="418680"/>
          </a:xfrm>
          <a:prstGeom prst="rect">
            <a:avLst/>
          </a:prstGeom>
          <a:noFill/>
          <a:ln w="0">
            <a:noFill/>
          </a:ln>
        </p:spPr>
        <p:txBody>
          <a:bodyPr lIns="0" tIns="0" rIns="0" bIns="0" anchor="t">
            <a:noAutofit/>
          </a:bodyPr>
          <a:lstStyle>
            <a:lvl1pPr indent="0" algn="l">
              <a:buNone/>
              <a:defRPr lang="en-US" sz="3000" b="0" u="none" strike="noStrike">
                <a:solidFill>
                  <a:schemeClr val="dk1"/>
                </a:solidFill>
                <a:effectLst/>
                <a:uFillTx/>
                <a:latin typeface="IBM Plex Sans"/>
              </a:defRPr>
            </a:lvl1pPr>
          </a:lstStyle>
          <a:p>
            <a:pPr indent="0" algn="l">
              <a:buNone/>
            </a:pPr>
            <a:r>
              <a:rPr lang="en-US" sz="3000" b="0" u="none" strike="noStrike">
                <a:solidFill>
                  <a:schemeClr val="dk1"/>
                </a:solidFill>
                <a:effectLst/>
                <a:uFillTx/>
                <a:latin typeface="IBM Plex Sans"/>
              </a:rPr>
              <a:t>Click to edit the title text format</a:t>
            </a:r>
            <a:endParaRPr lang="en-US" sz="3000" b="0" u="none" strike="noStrike">
              <a:solidFill>
                <a:schemeClr val="dk1"/>
              </a:solidFill>
              <a:effectLst/>
              <a:uFillTx/>
              <a:latin typeface="IBM Plex Sans"/>
            </a:endParaRPr>
          </a:p>
        </p:txBody>
      </p:sp>
      <p:sp>
        <p:nvSpPr>
          <p:cNvPr id="3" name="PlaceHolder 2"/>
          <p:cNvSpPr>
            <a:spLocks noGrp="1"/>
          </p:cNvSpPr>
          <p:nvPr>
            <p:ph type="body"/>
          </p:nvPr>
        </p:nvSpPr>
        <p:spPr>
          <a:xfrm>
            <a:off x="812880" y="1826280"/>
            <a:ext cx="10566000" cy="4218840"/>
          </a:xfrm>
          <a:prstGeom prst="rect">
            <a:avLst/>
          </a:prstGeom>
          <a:noFill/>
          <a:ln w="0">
            <a:noFill/>
          </a:ln>
        </p:spPr>
        <p:txBody>
          <a:bodyPr lIns="0" tIns="0" rIns="0" bIns="0" anchor="t">
            <a:noAutofit/>
          </a:bodyPr>
          <a:lstStyle>
            <a:lvl1pPr algn="l">
              <a:spcBef>
                <a:spcPts val="1417"/>
              </a:spcBef>
              <a:buClr>
                <a:srgbClr val="000000"/>
              </a:buClr>
              <a:buSzPct val="45000"/>
              <a:buFont typeface="Wingdings" charset="2"/>
              <a:buChar char=""/>
              <a:defRPr lang="en-US" sz="1600" b="0" u="none" strike="noStrike">
                <a:solidFill>
                  <a:schemeClr val="dk1"/>
                </a:solidFill>
                <a:effectLst/>
                <a:uFillTx/>
                <a:latin typeface="IBM Plex Sans"/>
              </a:defRPr>
            </a:lvl1pPr>
            <a:lvl2pPr lvl="1" algn="l">
              <a:spcBef>
                <a:spcPts val="1134"/>
              </a:spcBef>
              <a:buClr>
                <a:srgbClr val="000000"/>
              </a:buClr>
              <a:buSzPct val="75000"/>
              <a:buFont typeface="Symbol" charset="2"/>
              <a:buChar char=""/>
              <a:defRPr lang="en-US" sz="1600" b="0" u="none" strike="noStrike">
                <a:solidFill>
                  <a:schemeClr val="dk1"/>
                </a:solidFill>
                <a:effectLst/>
                <a:uFillTx/>
                <a:latin typeface="IBM Plex Sans"/>
              </a:defRPr>
            </a:lvl2pPr>
            <a:lvl3pPr lvl="2" algn="l">
              <a:spcBef>
                <a:spcPts val="850"/>
              </a:spcBef>
              <a:buClr>
                <a:srgbClr val="000000"/>
              </a:buClr>
              <a:buSzPct val="45000"/>
              <a:buFont typeface="Wingdings" charset="2"/>
              <a:buChar char=""/>
              <a:defRPr lang="en-US" sz="1600" b="0" u="none" strike="noStrike">
                <a:solidFill>
                  <a:schemeClr val="dk1"/>
                </a:solidFill>
                <a:effectLst/>
                <a:uFillTx/>
                <a:latin typeface="IBM Plex Sans"/>
              </a:defRPr>
            </a:lvl3pPr>
            <a:lvl4pPr lvl="3" algn="l">
              <a:spcBef>
                <a:spcPts val="567"/>
              </a:spcBef>
              <a:buClr>
                <a:srgbClr val="000000"/>
              </a:buClr>
              <a:buSzPct val="75000"/>
              <a:buFont typeface="Symbol" charset="2"/>
              <a:buChar char=""/>
              <a:defRPr lang="en-US" sz="1600" b="0" u="none" strike="noStrike">
                <a:solidFill>
                  <a:schemeClr val="dk1"/>
                </a:solidFill>
                <a:effectLst/>
                <a:uFillTx/>
                <a:latin typeface="IBM Plex Sans"/>
              </a:defRPr>
            </a:lvl4pPr>
            <a:lvl5pPr lvl="4" algn="l">
              <a:spcBef>
                <a:spcPts val="283"/>
              </a:spcBef>
              <a:buClr>
                <a:srgbClr val="000000"/>
              </a:buClr>
              <a:buSzPct val="45000"/>
              <a:buFont typeface="Wingdings" charset="2"/>
              <a:buChar char=""/>
              <a:defRPr lang="en-US" sz="1600" b="0" u="none" strike="noStrike">
                <a:solidFill>
                  <a:schemeClr val="dk1"/>
                </a:solidFill>
                <a:effectLst/>
                <a:uFillTx/>
                <a:latin typeface="IBM Plex Sans"/>
              </a:defRPr>
            </a:lvl5pPr>
            <a:lvl6pPr lvl="5" algn="l">
              <a:spcBef>
                <a:spcPts val="283"/>
              </a:spcBef>
              <a:buClr>
                <a:srgbClr val="000000"/>
              </a:buClr>
              <a:buSzPct val="45000"/>
              <a:buFont typeface="Wingdings" charset="2"/>
              <a:buChar char=""/>
              <a:defRPr lang="en-US" sz="1600" b="0" u="none" strike="noStrike">
                <a:solidFill>
                  <a:schemeClr val="dk1"/>
                </a:solidFill>
                <a:effectLst/>
                <a:uFillTx/>
                <a:latin typeface="IBM Plex Sans"/>
              </a:defRPr>
            </a:lvl6pPr>
            <a:lvl7pPr lvl="6" algn="l">
              <a:spcBef>
                <a:spcPts val="283"/>
              </a:spcBef>
              <a:buClr>
                <a:srgbClr val="000000"/>
              </a:buClr>
              <a:buSzPct val="45000"/>
              <a:buFont typeface="Wingdings" charset="2"/>
              <a:buChar char=""/>
              <a:defRPr lang="en-US" sz="1600" b="0" u="none" strike="noStrike">
                <a:solidFill>
                  <a:schemeClr val="dk1"/>
                </a:solidFill>
                <a:effectLst/>
                <a:uFillTx/>
                <a:latin typeface="IBM Plex Sans"/>
              </a:defRPr>
            </a:lvl7pPr>
          </a:lstStyle>
          <a:p>
            <a:pPr algn="l">
              <a:spcBef>
                <a:spcPts val="1417"/>
              </a:spcBef>
              <a:buClr>
                <a:srgbClr val="000000"/>
              </a:buClr>
              <a:buSzPct val="45000"/>
              <a:buFont typeface="Wingdings" charset="2"/>
              <a:buChar char=""/>
            </a:pPr>
            <a:r>
              <a:rPr lang="en-US" sz="1600" b="0" u="none" strike="noStrike">
                <a:solidFill>
                  <a:schemeClr val="dk1"/>
                </a:solidFill>
                <a:effectLst/>
                <a:uFillTx/>
                <a:latin typeface="IBM Plex Sans"/>
              </a:rPr>
              <a:t>Click to edit the outline text format</a:t>
            </a:r>
            <a:endParaRPr lang="en-US" sz="1600" b="0" u="none" strike="noStrike">
              <a:solidFill>
                <a:schemeClr val="dk1"/>
              </a:solidFill>
              <a:effectLst/>
              <a:uFillTx/>
              <a:latin typeface="IBM Plex Sans"/>
            </a:endParaRPr>
          </a:p>
          <a:p>
            <a:pPr marL="743040" lvl="1" indent="-285840" algn="l">
              <a:spcBef>
                <a:spcPts val="1134"/>
              </a:spcBef>
              <a:buClr>
                <a:srgbClr val="000000"/>
              </a:buClr>
              <a:buSzPct val="75000"/>
              <a:buFont typeface="Symbol" charset="2"/>
              <a:buChar char=""/>
            </a:pPr>
            <a:r>
              <a:rPr lang="en-US" sz="1600" b="0" u="none" strike="noStrike">
                <a:solidFill>
                  <a:schemeClr val="dk1"/>
                </a:solidFill>
                <a:effectLst/>
                <a:uFillTx/>
                <a:latin typeface="IBM Plex Sans"/>
              </a:rPr>
              <a:t>Second Outline Level</a:t>
            </a:r>
            <a:endParaRPr lang="en-US" sz="1600" b="0" u="none" strike="noStrike">
              <a:solidFill>
                <a:schemeClr val="dk1"/>
              </a:solidFill>
              <a:effectLst/>
              <a:uFillTx/>
              <a:latin typeface="IBM Plex Sans"/>
            </a:endParaRPr>
          </a:p>
          <a:p>
            <a:pPr marL="1143000" lvl="2" indent="-228600" algn="l">
              <a:spcBef>
                <a:spcPts val="850"/>
              </a:spcBef>
              <a:buClr>
                <a:srgbClr val="000000"/>
              </a:buClr>
              <a:buSzPct val="45000"/>
              <a:buFont typeface="Wingdings" charset="2"/>
              <a:buChar char=""/>
            </a:pPr>
            <a:r>
              <a:rPr lang="en-US" sz="1600" b="0" u="none" strike="noStrike">
                <a:solidFill>
                  <a:schemeClr val="dk1"/>
                </a:solidFill>
                <a:effectLst/>
                <a:uFillTx/>
                <a:latin typeface="IBM Plex Sans"/>
              </a:rPr>
              <a:t>Third Outline Level</a:t>
            </a:r>
            <a:endParaRPr lang="en-US" sz="1600" b="0" u="none" strike="noStrike">
              <a:solidFill>
                <a:schemeClr val="dk1"/>
              </a:solidFill>
              <a:effectLst/>
              <a:uFillTx/>
              <a:latin typeface="IBM Plex Sans"/>
            </a:endParaRPr>
          </a:p>
          <a:p>
            <a:pPr marL="1600200" lvl="3" indent="-228600" algn="l">
              <a:spcBef>
                <a:spcPts val="567"/>
              </a:spcBef>
              <a:buClr>
                <a:srgbClr val="000000"/>
              </a:buClr>
              <a:buSzPct val="75000"/>
              <a:buFont typeface="Symbol" charset="2"/>
              <a:buChar char=""/>
            </a:pPr>
            <a:r>
              <a:rPr lang="en-US" sz="1600" b="0" u="none" strike="noStrike">
                <a:solidFill>
                  <a:schemeClr val="dk1"/>
                </a:solidFill>
                <a:effectLst/>
                <a:uFillTx/>
                <a:latin typeface="IBM Plex Sans"/>
              </a:rPr>
              <a:t>Fourth Outline Level</a:t>
            </a:r>
            <a:endParaRPr lang="en-US" sz="1600" b="0" u="none" strike="noStrike">
              <a:solidFill>
                <a:schemeClr val="dk1"/>
              </a:solidFill>
              <a:effectLst/>
              <a:uFillTx/>
              <a:latin typeface="IBM Plex Sans"/>
            </a:endParaRPr>
          </a:p>
          <a:p>
            <a:pPr marL="2057400" lvl="4" indent="-228600" algn="l">
              <a:spcBef>
                <a:spcPts val="283"/>
              </a:spcBef>
              <a:buClr>
                <a:srgbClr val="000000"/>
              </a:buClr>
              <a:buSzPct val="45000"/>
              <a:buFont typeface="Wingdings" charset="2"/>
              <a:buChar char=""/>
            </a:pPr>
            <a:r>
              <a:rPr lang="en-US" sz="1600" b="0" u="none" strike="noStrike">
                <a:solidFill>
                  <a:schemeClr val="dk1"/>
                </a:solidFill>
                <a:effectLst/>
                <a:uFillTx/>
                <a:latin typeface="IBM Plex Sans"/>
              </a:rPr>
              <a:t>Fifth Outline Level</a:t>
            </a:r>
            <a:endParaRPr lang="en-US" sz="1600" b="0" u="none" strike="noStrike">
              <a:solidFill>
                <a:schemeClr val="dk1"/>
              </a:solidFill>
              <a:effectLst/>
              <a:uFillTx/>
              <a:latin typeface="IBM Plex Sans"/>
            </a:endParaRPr>
          </a:p>
          <a:p>
            <a:pPr marL="2514600" lvl="5" indent="-228600" algn="l">
              <a:spcBef>
                <a:spcPts val="283"/>
              </a:spcBef>
              <a:buClr>
                <a:srgbClr val="000000"/>
              </a:buClr>
              <a:buSzPct val="45000"/>
              <a:buFont typeface="Wingdings" charset="2"/>
              <a:buChar char=""/>
            </a:pPr>
            <a:r>
              <a:rPr lang="en-US" sz="1600" b="0" u="none" strike="noStrike">
                <a:solidFill>
                  <a:schemeClr val="dk1"/>
                </a:solidFill>
                <a:effectLst/>
                <a:uFillTx/>
                <a:latin typeface="IBM Plex Sans"/>
              </a:rPr>
              <a:t>Sixth Outline Level</a:t>
            </a:r>
            <a:endParaRPr lang="en-US" sz="1600" b="0" u="none" strike="noStrike">
              <a:solidFill>
                <a:schemeClr val="dk1"/>
              </a:solidFill>
              <a:effectLst/>
              <a:uFillTx/>
              <a:latin typeface="IBM Plex Sans"/>
            </a:endParaRPr>
          </a:p>
          <a:p>
            <a:pPr marL="2971800" lvl="6" indent="-228600" algn="l">
              <a:spcBef>
                <a:spcPts val="283"/>
              </a:spcBef>
              <a:buClr>
                <a:srgbClr val="000000"/>
              </a:buClr>
              <a:buSzPct val="45000"/>
              <a:buFont typeface="Wingdings" charset="2"/>
              <a:buChar char=""/>
            </a:pPr>
            <a:r>
              <a:rPr lang="en-US" sz="1600" b="0" u="none" strike="noStrike">
                <a:solidFill>
                  <a:schemeClr val="dk1"/>
                </a:solidFill>
                <a:effectLst/>
                <a:uFillTx/>
                <a:latin typeface="IBM Plex Sans"/>
              </a:rPr>
              <a:t>Seventh Outline Level</a:t>
            </a:r>
            <a:endParaRPr lang="en-US" sz="1600" b="0" u="none" strike="noStrike">
              <a:solidFill>
                <a:schemeClr val="dk1"/>
              </a:solidFill>
              <a:effectLst/>
              <a:uFillTx/>
              <a:latin typeface="IBM Plex San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5.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2.xml"/><Relationship Id="rId5" Type="http://schemas.openxmlformats.org/officeDocument/2006/relationships/notesSlide" Target="../notesSlides/notesSlide8.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2.xml"/><Relationship Id="rId5" Type="http://schemas.openxmlformats.org/officeDocument/2006/relationships/notesSlide" Target="../notesSlides/notesSlide16.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7.png"/><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12.png"/><Relationship Id="rId8" Type="http://schemas.openxmlformats.org/officeDocument/2006/relationships/image" Target="../media/image20.png"/><Relationship Id="rId9" Type="http://schemas.openxmlformats.org/officeDocument/2006/relationships/slideLayout" Target="../slideLayouts/slideLayout2.xml"/><Relationship Id="rId10" Type="http://schemas.openxmlformats.org/officeDocument/2006/relationships/notesSlide" Target="../notesSlides/notesSlide19.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slideLayout" Target="../slideLayouts/slideLayout2.xml"/><Relationship Id="rId6"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xml"/><Relationship Id="rId3" Type="http://schemas.openxmlformats.org/officeDocument/2006/relationships/notesSlide" Target="../notesSlides/notesSlide28.xml"/>
</Relationships>
</file>

<file path=ppt/slides/_rels/slide3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32.xml"/>
</Relationships>
</file>

<file path=ppt/slides/_rels/slide3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0.png"/><Relationship Id="rId3" Type="http://schemas.openxmlformats.org/officeDocument/2006/relationships/image" Target="../media/image10.png"/><Relationship Id="rId4" Type="http://schemas.openxmlformats.org/officeDocument/2006/relationships/slideLayout" Target="../slideLayouts/slideLayout2.xml"/><Relationship Id="rId5" Type="http://schemas.openxmlformats.org/officeDocument/2006/relationships/notesSlide" Target="../notesSlides/notesSlide3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8.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3.png"/><Relationship Id="rId6" Type="http://schemas.openxmlformats.org/officeDocument/2006/relationships/image" Target="../media/image27.png"/><Relationship Id="rId7" Type="http://schemas.openxmlformats.org/officeDocument/2006/relationships/slideLayout" Target="../slideLayouts/slideLayout2.xml"/><Relationship Id="rId8" Type="http://schemas.openxmlformats.org/officeDocument/2006/relationships/notesSlide" Target="../notesSlides/notesSlide44.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
</Relationships>
</file>

<file path=ppt/slides/_rels/slide5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image" Target="../media/image20.png"/><Relationship Id="rId7" Type="http://schemas.openxmlformats.org/officeDocument/2006/relationships/image" Target="../media/image6.png"/><Relationship Id="rId8" Type="http://schemas.openxmlformats.org/officeDocument/2006/relationships/image" Target="../media/image31.png"/><Relationship Id="rId9" Type="http://schemas.openxmlformats.org/officeDocument/2006/relationships/slideLayout" Target="../slideLayouts/slideLayout2.xml"/><Relationship Id="rId10" Type="http://schemas.openxmlformats.org/officeDocument/2006/relationships/notesSlide" Target="../notesSlides/notesSlide54.xml"/>
</Relationships>
</file>

<file path=ppt/slides/_rels/slide5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5.png"/><Relationship Id="rId3" Type="http://schemas.openxmlformats.org/officeDocument/2006/relationships/slideLayout" Target="../slideLayouts/slideLayout2.xml"/><Relationship Id="rId4" Type="http://schemas.openxmlformats.org/officeDocument/2006/relationships/notesSlide" Target="../notesSlides/notesSlide56.xml"/>
</Relationships>
</file>

<file path=ppt/slides/_rels/slide58.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slideLayout" Target="../slideLayouts/slideLayout2.xml"/><Relationship Id="rId5"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image" Target="../media/image32.png"/><Relationship Id="rId5" Type="http://schemas.openxmlformats.org/officeDocument/2006/relationships/image" Target="../media/image3.png"/><Relationship Id="rId6" Type="http://schemas.openxmlformats.org/officeDocument/2006/relationships/image" Target="../media/image33.png"/><Relationship Id="rId7" Type="http://schemas.openxmlformats.org/officeDocument/2006/relationships/slideLayout" Target="../slideLayouts/slideLayout2.xml"/><Relationship Id="rId8"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hyperlink" Target="https://docs.github.com/en/copilot/reference/ai-models/supported-models" TargetMode="External"/><Relationship Id="rId2" Type="http://schemas.openxmlformats.org/officeDocument/2006/relationships/hyperlink" Target="https://docs.github.com/en/copilot/reference/hooks-reference" TargetMode="External"/><Relationship Id="rId3" Type="http://schemas.openxmlformats.org/officeDocument/2006/relationships/hyperlink" Target="https://code.visualstudio.com/docs/agents/overview" TargetMode="External"/><Relationship Id="rId4" Type="http://schemas.openxmlformats.org/officeDocument/2006/relationships/hyperlink" Target="https://agentskills.io" TargetMode="External"/><Relationship Id="rId5" Type="http://schemas.openxmlformats.org/officeDocument/2006/relationships/hyperlink" Target="https://agents.md" TargetMode="External"/><Relationship Id="rId6" Type="http://schemas.openxmlformats.org/officeDocument/2006/relationships/hyperlink" Target="https://github.com/mattpocock/skills" TargetMode="External"/><Relationship Id="rId7" Type="http://schemas.openxmlformats.org/officeDocument/2006/relationships/hyperlink" Target="https://github.com/obra/superpowers" TargetMode="External"/><Relationship Id="rId8" Type="http://schemas.openxmlformats.org/officeDocument/2006/relationships/hyperlink" Target="https://github.com/anthropics/skills" TargetMode="External"/><Relationship Id="rId9" Type="http://schemas.openxmlformats.org/officeDocument/2006/relationships/hyperlink" Target="https://aihero.dev/ai-coding-dictionary/smart-zone" TargetMode="External"/><Relationship Id="rId10" Type="http://schemas.openxmlformats.org/officeDocument/2006/relationships/hyperlink" Target="https://youtube.com/watch?v=rmvDxxNubIg" TargetMode="External"/><Relationship Id="rId11" Type="http://schemas.openxmlformats.org/officeDocument/2006/relationships/slideLayout" Target="../slideLayouts/slideLayout2.xml"/><Relationship Id="rId1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A"/>
        </a:solidFill>
      </p:bgPr>
    </p:bg>
    <p:spTree>
      <p:nvGrpSpPr>
        <p:cNvPr id="1" name=""/>
        <p:cNvGrpSpPr/>
        <p:nvPr/>
      </p:nvGrpSpPr>
      <p:grpSpPr>
        <a:xfrm>
          <a:off x="0" y="0"/>
          <a:ext cx="0" cy="0"/>
          <a:chOff x="0" y="0"/>
          <a:chExt cx="0" cy="0"/>
        </a:xfrm>
      </p:grpSpPr>
      <p:sp>
        <p:nvSpPr>
          <p:cNvPr id="10" name="Text 0"/>
          <p:cNvSpPr/>
          <p:nvPr/>
        </p:nvSpPr>
        <p:spPr>
          <a:xfrm>
            <a:off x="812880" y="2163960"/>
            <a:ext cx="63309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E8823A"/>
                </a:solidFill>
                <a:effectLst/>
                <a:uFillTx/>
                <a:latin typeface="Space Grotesk"/>
                <a:ea typeface="Space Grotesk"/>
              </a:rPr>
              <a:t>PREZENTARE INTERNĂ · </a:t>
            </a:r>
            <a:r>
              <a:rPr lang="en-US" sz="1200" b="1" u="none" spc="150" strike="noStrike">
                <a:solidFill>
                  <a:srgbClr val="E8823A"/>
                </a:solidFill>
                <a:effectLst/>
                <a:uFillTx/>
                <a:latin typeface="Space Grotesk"/>
                <a:ea typeface="Space Grotesk"/>
              </a:rPr>
              <a:t>OCTOMBRIE 2026</a:t>
            </a:r>
            <a:endParaRPr lang="en-US" sz="1200" b="0" u="none" strike="noStrike">
              <a:solidFill>
                <a:srgbClr val="FFFFFF"/>
              </a:solidFill>
              <a:effectLst/>
              <a:uFillTx/>
              <a:latin typeface="Arial"/>
            </a:endParaRPr>
          </a:p>
        </p:txBody>
      </p:sp>
      <p:sp>
        <p:nvSpPr>
          <p:cNvPr id="11" name="PlaceHolder 1"/>
          <p:cNvSpPr>
            <a:spLocks noGrp="1"/>
          </p:cNvSpPr>
          <p:nvPr>
            <p:ph type="title"/>
          </p:nvPr>
        </p:nvSpPr>
        <p:spPr>
          <a:xfrm>
            <a:off x="812880" y="2580480"/>
            <a:ext cx="6330960" cy="1366200"/>
          </a:xfrm>
          <a:prstGeom prst="rect">
            <a:avLst/>
          </a:prstGeom>
          <a:noFill/>
          <a:ln w="0">
            <a:noFill/>
          </a:ln>
        </p:spPr>
        <p:txBody>
          <a:bodyPr lIns="0" tIns="0" rIns="0" bIns="0" anchor="t">
            <a:normAutofit/>
          </a:bodyPr>
          <a:p>
            <a:pPr indent="0" algn="l" defTabSz="914400">
              <a:lnSpc>
                <a:spcPts val="5281"/>
              </a:lnSpc>
              <a:buNone/>
              <a:tabLst>
                <a:tab pos="0" algn="l"/>
              </a:tabLst>
            </a:pPr>
            <a:r>
              <a:rPr lang="en-US" sz="4800" b="1" u="none" strike="noStrike">
                <a:solidFill>
                  <a:srgbClr val="F5F2EA"/>
                </a:solidFill>
                <a:effectLst/>
                <a:uFillTx/>
                <a:latin typeface="Space Grotesk"/>
                <a:ea typeface="Space Grotesk"/>
              </a:rPr>
              <a:t>Lucrul cu agenți AI în GitHub Copilot</a:t>
            </a:r>
            <a:endParaRPr lang="en-US" sz="4800" b="0" u="none" strike="noStrike">
              <a:solidFill>
                <a:schemeClr val="dk1"/>
              </a:solidFill>
              <a:effectLst/>
              <a:uFillTx/>
              <a:latin typeface="IBM Plex Sans"/>
            </a:endParaRPr>
          </a:p>
        </p:txBody>
      </p:sp>
      <p:sp>
        <p:nvSpPr>
          <p:cNvPr id="12" name="Text 2"/>
          <p:cNvSpPr/>
          <p:nvPr/>
        </p:nvSpPr>
        <p:spPr>
          <a:xfrm>
            <a:off x="812880" y="4124880"/>
            <a:ext cx="6330960" cy="59400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C3CCDB"/>
                </a:solidFill>
                <a:effectLst/>
                <a:uFillTx/>
                <a:latin typeface="IBM Plex Sans"/>
                <a:ea typeface="IBM Plex Sans"/>
              </a:rPr>
              <a:t>Modele, moduri, AGENTS.md, skills, hooks — și cum păstrezi agentul în „smart zone” fără să arzi tokeni.</a:t>
            </a:r>
            <a:endParaRPr lang="en-US" sz="1600" b="0" u="none" strike="noStrike">
              <a:solidFill>
                <a:srgbClr val="FFFFFF"/>
              </a:solidFill>
              <a:effectLst/>
              <a:uFillTx/>
              <a:latin typeface="Arial"/>
            </a:endParaRPr>
          </a:p>
        </p:txBody>
      </p:sp>
      <p:sp>
        <p:nvSpPr>
          <p:cNvPr id="13" name="Text 3"/>
          <p:cNvSpPr/>
          <p:nvPr/>
        </p:nvSpPr>
        <p:spPr>
          <a:xfrm>
            <a:off x="7569360" y="2452680"/>
            <a:ext cx="3809520" cy="1952640"/>
          </a:xfrm>
          <a:prstGeom prst="roundRect">
            <a:avLst>
              <a:gd name="adj" fmla="val 5203"/>
            </a:avLst>
          </a:prstGeom>
          <a:solidFill>
            <a:srgbClr val="131A2A"/>
          </a:solidFill>
          <a:ln w="0">
            <a:noFill/>
          </a:ln>
        </p:spPr>
        <p:style>
          <a:lnRef idx="0"/>
          <a:fillRef idx="0"/>
          <a:effectRef idx="0"/>
          <a:fontRef idx="minor"/>
        </p:style>
        <p:txBody>
          <a:bodyPr wrap="none" lIns="173520" tIns="173520" rIns="71280" bIns="14796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 copilot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&gt; /grill-me adaugă export CSV</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Întrebarea 1: doar rândurile</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filtrate sau tot setul?</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Recomand: doar cele filtrate.</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&gt; /context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  34% · smart zone</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4"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AGENDA</a:t>
            </a:r>
            <a:endParaRPr lang="en-US" sz="1200" b="0" u="none" strike="noStrike">
              <a:solidFill>
                <a:srgbClr val="000000"/>
              </a:solidFill>
              <a:effectLst/>
              <a:uFillTx/>
              <a:latin typeface="Arial"/>
            </a:endParaRPr>
          </a:p>
        </p:txBody>
      </p:sp>
      <p:sp>
        <p:nvSpPr>
          <p:cNvPr id="15"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Ce acoperim azi</a:t>
            </a:r>
            <a:endParaRPr lang="en-US" sz="3000" b="0" u="none" strike="noStrike">
              <a:solidFill>
                <a:schemeClr val="dk1"/>
              </a:solidFill>
              <a:effectLst/>
              <a:uFillTx/>
              <a:latin typeface="IBM Plex Sans"/>
            </a:endParaRPr>
          </a:p>
        </p:txBody>
      </p:sp>
      <p:sp>
        <p:nvSpPr>
          <p:cNvPr id="16" name="Shape 2"/>
          <p:cNvSpPr/>
          <p:nvPr/>
        </p:nvSpPr>
        <p:spPr>
          <a:xfrm>
            <a:off x="812520" y="215856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7" name="Text 3"/>
          <p:cNvSpPr/>
          <p:nvPr/>
        </p:nvSpPr>
        <p:spPr>
          <a:xfrm>
            <a:off x="812880" y="184428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01</a:t>
            </a:r>
            <a:endParaRPr lang="en-US" sz="1400" b="0" u="none" strike="noStrike">
              <a:solidFill>
                <a:srgbClr val="000000"/>
              </a:solidFill>
              <a:effectLst/>
              <a:uFillTx/>
              <a:latin typeface="Arial"/>
            </a:endParaRPr>
          </a:p>
        </p:txBody>
      </p:sp>
      <p:sp>
        <p:nvSpPr>
          <p:cNvPr id="18" name="Text 4"/>
          <p:cNvSpPr/>
          <p:nvPr/>
        </p:nvSpPr>
        <p:spPr>
          <a:xfrm>
            <a:off x="1270080" y="1838880"/>
            <a:ext cx="25401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Modele: Claude, GPT, Grok</a:t>
            </a:r>
            <a:endParaRPr lang="en-US" sz="1400" b="0" u="none" strike="noStrike">
              <a:solidFill>
                <a:srgbClr val="000000"/>
              </a:solidFill>
              <a:effectLst/>
              <a:uFillTx/>
              <a:latin typeface="Arial"/>
            </a:endParaRPr>
          </a:p>
        </p:txBody>
      </p:sp>
      <p:sp>
        <p:nvSpPr>
          <p:cNvPr id="19" name="Shape 5"/>
          <p:cNvSpPr/>
          <p:nvPr/>
        </p:nvSpPr>
        <p:spPr>
          <a:xfrm>
            <a:off x="812520" y="25956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0" name="Text 6"/>
          <p:cNvSpPr/>
          <p:nvPr/>
        </p:nvSpPr>
        <p:spPr>
          <a:xfrm>
            <a:off x="812880" y="22813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02</a:t>
            </a:r>
            <a:endParaRPr lang="en-US" sz="1400" b="0" u="none" strike="noStrike">
              <a:solidFill>
                <a:srgbClr val="000000"/>
              </a:solidFill>
              <a:effectLst/>
              <a:uFillTx/>
              <a:latin typeface="Arial"/>
            </a:endParaRPr>
          </a:p>
        </p:txBody>
      </p:sp>
      <p:sp>
        <p:nvSpPr>
          <p:cNvPr id="21" name="Text 7"/>
          <p:cNvSpPr/>
          <p:nvPr/>
        </p:nvSpPr>
        <p:spPr>
          <a:xfrm>
            <a:off x="1270080" y="2276280"/>
            <a:ext cx="19558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Plan vs Agent vs Ask</a:t>
            </a:r>
            <a:endParaRPr lang="en-US" sz="1400" b="0" u="none" strike="noStrike">
              <a:solidFill>
                <a:srgbClr val="000000"/>
              </a:solidFill>
              <a:effectLst/>
              <a:uFillTx/>
              <a:latin typeface="Arial"/>
            </a:endParaRPr>
          </a:p>
        </p:txBody>
      </p:sp>
      <p:sp>
        <p:nvSpPr>
          <p:cNvPr id="22" name="Shape 8"/>
          <p:cNvSpPr/>
          <p:nvPr/>
        </p:nvSpPr>
        <p:spPr>
          <a:xfrm>
            <a:off x="812520" y="30330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3" name="Text 9"/>
          <p:cNvSpPr/>
          <p:nvPr/>
        </p:nvSpPr>
        <p:spPr>
          <a:xfrm>
            <a:off x="812880" y="27187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03</a:t>
            </a:r>
            <a:endParaRPr lang="en-US" sz="1400" b="0" u="none" strike="noStrike">
              <a:solidFill>
                <a:srgbClr val="000000"/>
              </a:solidFill>
              <a:effectLst/>
              <a:uFillTx/>
              <a:latin typeface="Arial"/>
            </a:endParaRPr>
          </a:p>
        </p:txBody>
      </p:sp>
      <p:sp>
        <p:nvSpPr>
          <p:cNvPr id="24" name="Text 10"/>
          <p:cNvSpPr/>
          <p:nvPr/>
        </p:nvSpPr>
        <p:spPr>
          <a:xfrm>
            <a:off x="1270080" y="2713320"/>
            <a:ext cx="25023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Harness: Local, CLI, Cloud</a:t>
            </a:r>
            <a:endParaRPr lang="en-US" sz="1400" b="0" u="none" strike="noStrike">
              <a:solidFill>
                <a:srgbClr val="000000"/>
              </a:solidFill>
              <a:effectLst/>
              <a:uFillTx/>
              <a:latin typeface="Arial"/>
            </a:endParaRPr>
          </a:p>
        </p:txBody>
      </p:sp>
      <p:sp>
        <p:nvSpPr>
          <p:cNvPr id="25" name="Shape 11"/>
          <p:cNvSpPr/>
          <p:nvPr/>
        </p:nvSpPr>
        <p:spPr>
          <a:xfrm>
            <a:off x="812520" y="34704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6" name="Text 12"/>
          <p:cNvSpPr/>
          <p:nvPr/>
        </p:nvSpPr>
        <p:spPr>
          <a:xfrm>
            <a:off x="812880" y="31561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04</a:t>
            </a:r>
            <a:endParaRPr lang="en-US" sz="1400" b="0" u="none" strike="noStrike">
              <a:solidFill>
                <a:srgbClr val="000000"/>
              </a:solidFill>
              <a:effectLst/>
              <a:uFillTx/>
              <a:latin typeface="Arial"/>
            </a:endParaRPr>
          </a:p>
        </p:txBody>
      </p:sp>
      <p:sp>
        <p:nvSpPr>
          <p:cNvPr id="27" name="Text 13"/>
          <p:cNvSpPr/>
          <p:nvPr/>
        </p:nvSpPr>
        <p:spPr>
          <a:xfrm>
            <a:off x="1270080" y="3150720"/>
            <a:ext cx="243792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AGENTS.md și ierarhia lui</a:t>
            </a:r>
            <a:endParaRPr lang="en-US" sz="1400" b="0" u="none" strike="noStrike">
              <a:solidFill>
                <a:srgbClr val="000000"/>
              </a:solidFill>
              <a:effectLst/>
              <a:uFillTx/>
              <a:latin typeface="Arial"/>
            </a:endParaRPr>
          </a:p>
        </p:txBody>
      </p:sp>
      <p:sp>
        <p:nvSpPr>
          <p:cNvPr id="28" name="Shape 14"/>
          <p:cNvSpPr/>
          <p:nvPr/>
        </p:nvSpPr>
        <p:spPr>
          <a:xfrm>
            <a:off x="812520" y="39074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9" name="Text 15"/>
          <p:cNvSpPr/>
          <p:nvPr/>
        </p:nvSpPr>
        <p:spPr>
          <a:xfrm>
            <a:off x="812880" y="359316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05</a:t>
            </a:r>
            <a:endParaRPr lang="en-US" sz="1400" b="0" u="none" strike="noStrike">
              <a:solidFill>
                <a:srgbClr val="000000"/>
              </a:solidFill>
              <a:effectLst/>
              <a:uFillTx/>
              <a:latin typeface="Arial"/>
            </a:endParaRPr>
          </a:p>
        </p:txBody>
      </p:sp>
      <p:sp>
        <p:nvSpPr>
          <p:cNvPr id="30" name="Text 16"/>
          <p:cNvSpPr/>
          <p:nvPr/>
        </p:nvSpPr>
        <p:spPr>
          <a:xfrm>
            <a:off x="1270080" y="3587760"/>
            <a:ext cx="19875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Ce tool-uri au agenții</a:t>
            </a:r>
            <a:endParaRPr lang="en-US" sz="1400" b="0" u="none" strike="noStrike">
              <a:solidFill>
                <a:srgbClr val="000000"/>
              </a:solidFill>
              <a:effectLst/>
              <a:uFillTx/>
              <a:latin typeface="Arial"/>
            </a:endParaRPr>
          </a:p>
        </p:txBody>
      </p:sp>
      <p:sp>
        <p:nvSpPr>
          <p:cNvPr id="31" name="Shape 17"/>
          <p:cNvSpPr/>
          <p:nvPr/>
        </p:nvSpPr>
        <p:spPr>
          <a:xfrm>
            <a:off x="812520" y="43448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2" name="Text 18"/>
          <p:cNvSpPr/>
          <p:nvPr/>
        </p:nvSpPr>
        <p:spPr>
          <a:xfrm>
            <a:off x="812880" y="403056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06</a:t>
            </a:r>
            <a:endParaRPr lang="en-US" sz="1400" b="0" u="none" strike="noStrike">
              <a:solidFill>
                <a:srgbClr val="000000"/>
              </a:solidFill>
              <a:effectLst/>
              <a:uFillTx/>
              <a:latin typeface="Arial"/>
            </a:endParaRPr>
          </a:p>
        </p:txBody>
      </p:sp>
      <p:sp>
        <p:nvSpPr>
          <p:cNvPr id="33" name="Text 19"/>
          <p:cNvSpPr/>
          <p:nvPr/>
        </p:nvSpPr>
        <p:spPr>
          <a:xfrm>
            <a:off x="1270080" y="4025160"/>
            <a:ext cx="50832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Skills</a:t>
            </a:r>
            <a:endParaRPr lang="en-US" sz="1400" b="0" u="none" strike="noStrike">
              <a:solidFill>
                <a:srgbClr val="000000"/>
              </a:solidFill>
              <a:effectLst/>
              <a:uFillTx/>
              <a:latin typeface="Arial"/>
            </a:endParaRPr>
          </a:p>
        </p:txBody>
      </p:sp>
      <p:sp>
        <p:nvSpPr>
          <p:cNvPr id="34" name="Shape 20"/>
          <p:cNvSpPr/>
          <p:nvPr/>
        </p:nvSpPr>
        <p:spPr>
          <a:xfrm>
            <a:off x="812520" y="47822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5" name="Text 21"/>
          <p:cNvSpPr/>
          <p:nvPr/>
        </p:nvSpPr>
        <p:spPr>
          <a:xfrm>
            <a:off x="812880" y="446760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07</a:t>
            </a:r>
            <a:endParaRPr lang="en-US" sz="1400" b="0" u="none" strike="noStrike">
              <a:solidFill>
                <a:srgbClr val="000000"/>
              </a:solidFill>
              <a:effectLst/>
              <a:uFillTx/>
              <a:latin typeface="Arial"/>
            </a:endParaRPr>
          </a:p>
        </p:txBody>
      </p:sp>
      <p:sp>
        <p:nvSpPr>
          <p:cNvPr id="36" name="Text 22"/>
          <p:cNvSpPr/>
          <p:nvPr/>
        </p:nvSpPr>
        <p:spPr>
          <a:xfrm>
            <a:off x="1270080" y="4462560"/>
            <a:ext cx="382464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Skill-uri populare: Pocock, Superpowers</a:t>
            </a:r>
            <a:endParaRPr lang="en-US" sz="1400" b="0" u="none" strike="noStrike">
              <a:solidFill>
                <a:srgbClr val="000000"/>
              </a:solidFill>
              <a:effectLst/>
              <a:uFillTx/>
              <a:latin typeface="Arial"/>
            </a:endParaRPr>
          </a:p>
        </p:txBody>
      </p:sp>
      <p:sp>
        <p:nvSpPr>
          <p:cNvPr id="37" name="Shape 23"/>
          <p:cNvSpPr/>
          <p:nvPr/>
        </p:nvSpPr>
        <p:spPr>
          <a:xfrm>
            <a:off x="6400440" y="215856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 name="Text 24"/>
          <p:cNvSpPr/>
          <p:nvPr/>
        </p:nvSpPr>
        <p:spPr>
          <a:xfrm>
            <a:off x="6400800" y="184428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08</a:t>
            </a:r>
            <a:endParaRPr lang="en-US" sz="1400" b="0" u="none" strike="noStrike">
              <a:solidFill>
                <a:srgbClr val="000000"/>
              </a:solidFill>
              <a:effectLst/>
              <a:uFillTx/>
              <a:latin typeface="Arial"/>
            </a:endParaRPr>
          </a:p>
        </p:txBody>
      </p:sp>
      <p:sp>
        <p:nvSpPr>
          <p:cNvPr id="39" name="Text 25"/>
          <p:cNvSpPr/>
          <p:nvPr/>
        </p:nvSpPr>
        <p:spPr>
          <a:xfrm>
            <a:off x="6858000" y="1838880"/>
            <a:ext cx="33303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Skill-uri custom: </a:t>
            </a:r>
            <a:r>
              <a:rPr lang="en-US" sz="1400" b="0" u="none" strike="noStrike">
                <a:solidFill>
                  <a:srgbClr val="131A2A"/>
                </a:solidFill>
                <a:effectLst/>
                <a:uFillTx/>
                <a:latin typeface="IBM Plex Sans"/>
                <a:ea typeface="IBM Plex Sans"/>
              </a:rPr>
              <a:t>„Make this a skill”</a:t>
            </a:r>
            <a:endParaRPr lang="en-US" sz="1400" b="0" u="none" strike="noStrike">
              <a:solidFill>
                <a:srgbClr val="000000"/>
              </a:solidFill>
              <a:effectLst/>
              <a:uFillTx/>
              <a:latin typeface="Arial"/>
            </a:endParaRPr>
          </a:p>
        </p:txBody>
      </p:sp>
      <p:sp>
        <p:nvSpPr>
          <p:cNvPr id="40" name="Shape 26"/>
          <p:cNvSpPr/>
          <p:nvPr/>
        </p:nvSpPr>
        <p:spPr>
          <a:xfrm>
            <a:off x="6400440" y="25956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1" name="Text 27"/>
          <p:cNvSpPr/>
          <p:nvPr/>
        </p:nvSpPr>
        <p:spPr>
          <a:xfrm>
            <a:off x="6400800" y="22813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09</a:t>
            </a:r>
            <a:endParaRPr lang="en-US" sz="1400" b="0" u="none" strike="noStrike">
              <a:solidFill>
                <a:srgbClr val="000000"/>
              </a:solidFill>
              <a:effectLst/>
              <a:uFillTx/>
              <a:latin typeface="Arial"/>
            </a:endParaRPr>
          </a:p>
        </p:txBody>
      </p:sp>
      <p:sp>
        <p:nvSpPr>
          <p:cNvPr id="42" name="Text 28"/>
          <p:cNvSpPr/>
          <p:nvPr/>
        </p:nvSpPr>
        <p:spPr>
          <a:xfrm>
            <a:off x="6858000" y="2276280"/>
            <a:ext cx="60372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Hooks</a:t>
            </a:r>
            <a:endParaRPr lang="en-US" sz="1400" b="0" u="none" strike="noStrike">
              <a:solidFill>
                <a:srgbClr val="000000"/>
              </a:solidFill>
              <a:effectLst/>
              <a:uFillTx/>
              <a:latin typeface="Arial"/>
            </a:endParaRPr>
          </a:p>
        </p:txBody>
      </p:sp>
      <p:sp>
        <p:nvSpPr>
          <p:cNvPr id="43" name="Shape 29"/>
          <p:cNvSpPr/>
          <p:nvPr/>
        </p:nvSpPr>
        <p:spPr>
          <a:xfrm>
            <a:off x="6400440" y="30330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4" name="Text 30"/>
          <p:cNvSpPr/>
          <p:nvPr/>
        </p:nvSpPr>
        <p:spPr>
          <a:xfrm>
            <a:off x="6400800" y="27187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10</a:t>
            </a:r>
            <a:endParaRPr lang="en-US" sz="1400" b="0" u="none" strike="noStrike">
              <a:solidFill>
                <a:srgbClr val="000000"/>
              </a:solidFill>
              <a:effectLst/>
              <a:uFillTx/>
              <a:latin typeface="Arial"/>
            </a:endParaRPr>
          </a:p>
        </p:txBody>
      </p:sp>
      <p:sp>
        <p:nvSpPr>
          <p:cNvPr id="45" name="Text 31"/>
          <p:cNvSpPr/>
          <p:nvPr/>
        </p:nvSpPr>
        <p:spPr>
          <a:xfrm>
            <a:off x="6858000" y="2713320"/>
            <a:ext cx="151740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Alte unelte utile</a:t>
            </a:r>
            <a:endParaRPr lang="en-US" sz="1400" b="0" u="none" strike="noStrike">
              <a:solidFill>
                <a:srgbClr val="000000"/>
              </a:solidFill>
              <a:effectLst/>
              <a:uFillTx/>
              <a:latin typeface="Arial"/>
            </a:endParaRPr>
          </a:p>
        </p:txBody>
      </p:sp>
      <p:sp>
        <p:nvSpPr>
          <p:cNvPr id="46" name="Shape 32"/>
          <p:cNvSpPr/>
          <p:nvPr/>
        </p:nvSpPr>
        <p:spPr>
          <a:xfrm>
            <a:off x="6400440" y="34704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7" name="Text 33"/>
          <p:cNvSpPr/>
          <p:nvPr/>
        </p:nvSpPr>
        <p:spPr>
          <a:xfrm>
            <a:off x="6400800" y="31561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11</a:t>
            </a:r>
            <a:endParaRPr lang="en-US" sz="1400" b="0" u="none" strike="noStrike">
              <a:solidFill>
                <a:srgbClr val="000000"/>
              </a:solidFill>
              <a:effectLst/>
              <a:uFillTx/>
              <a:latin typeface="Arial"/>
            </a:endParaRPr>
          </a:p>
        </p:txBody>
      </p:sp>
      <p:sp>
        <p:nvSpPr>
          <p:cNvPr id="48" name="Text 34"/>
          <p:cNvSpPr/>
          <p:nvPr/>
        </p:nvSpPr>
        <p:spPr>
          <a:xfrm>
            <a:off x="6858000" y="3150720"/>
            <a:ext cx="154152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Tokeni și costuri</a:t>
            </a:r>
            <a:endParaRPr lang="en-US" sz="1400" b="0" u="none" strike="noStrike">
              <a:solidFill>
                <a:srgbClr val="000000"/>
              </a:solidFill>
              <a:effectLst/>
              <a:uFillTx/>
              <a:latin typeface="Arial"/>
            </a:endParaRPr>
          </a:p>
        </p:txBody>
      </p:sp>
      <p:sp>
        <p:nvSpPr>
          <p:cNvPr id="49" name="Shape 35"/>
          <p:cNvSpPr/>
          <p:nvPr/>
        </p:nvSpPr>
        <p:spPr>
          <a:xfrm>
            <a:off x="6400440" y="39074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0" name="Text 36"/>
          <p:cNvSpPr/>
          <p:nvPr/>
        </p:nvSpPr>
        <p:spPr>
          <a:xfrm>
            <a:off x="6400800" y="359316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12</a:t>
            </a:r>
            <a:endParaRPr lang="en-US" sz="1400" b="0" u="none" strike="noStrike">
              <a:solidFill>
                <a:srgbClr val="000000"/>
              </a:solidFill>
              <a:effectLst/>
              <a:uFillTx/>
              <a:latin typeface="Arial"/>
            </a:endParaRPr>
          </a:p>
        </p:txBody>
      </p:sp>
      <p:sp>
        <p:nvSpPr>
          <p:cNvPr id="51" name="Text 37"/>
          <p:cNvSpPr/>
          <p:nvPr/>
        </p:nvSpPr>
        <p:spPr>
          <a:xfrm>
            <a:off x="6858000" y="3587760"/>
            <a:ext cx="329004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Context: smart zone vs dumb zone</a:t>
            </a:r>
            <a:endParaRPr lang="en-US" sz="1400" b="0" u="none" strike="noStrike">
              <a:solidFill>
                <a:srgbClr val="000000"/>
              </a:solidFill>
              <a:effectLst/>
              <a:uFillTx/>
              <a:latin typeface="Arial"/>
            </a:endParaRPr>
          </a:p>
        </p:txBody>
      </p:sp>
      <p:sp>
        <p:nvSpPr>
          <p:cNvPr id="52" name="Shape 38"/>
          <p:cNvSpPr/>
          <p:nvPr/>
        </p:nvSpPr>
        <p:spPr>
          <a:xfrm>
            <a:off x="6400440" y="43448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3" name="Text 39"/>
          <p:cNvSpPr/>
          <p:nvPr/>
        </p:nvSpPr>
        <p:spPr>
          <a:xfrm>
            <a:off x="6400800" y="403056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13</a:t>
            </a:r>
            <a:endParaRPr lang="en-US" sz="1400" b="0" u="none" strike="noStrike">
              <a:solidFill>
                <a:srgbClr val="000000"/>
              </a:solidFill>
              <a:effectLst/>
              <a:uFillTx/>
              <a:latin typeface="Arial"/>
            </a:endParaRPr>
          </a:p>
        </p:txBody>
      </p:sp>
      <p:sp>
        <p:nvSpPr>
          <p:cNvPr id="54" name="Text 40"/>
          <p:cNvSpPr/>
          <p:nvPr/>
        </p:nvSpPr>
        <p:spPr>
          <a:xfrm>
            <a:off x="6858000" y="4025160"/>
            <a:ext cx="33868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Cum economisești context și tokeni</a:t>
            </a:r>
            <a:endParaRPr lang="en-US" sz="1400" b="0" u="none" strike="noStrike">
              <a:solidFill>
                <a:srgbClr val="000000"/>
              </a:solidFill>
              <a:effectLst/>
              <a:uFillTx/>
              <a:latin typeface="Arial"/>
            </a:endParaRPr>
          </a:p>
        </p:txBody>
      </p:sp>
      <p:sp>
        <p:nvSpPr>
          <p:cNvPr id="55" name="Shape 41"/>
          <p:cNvSpPr/>
          <p:nvPr/>
        </p:nvSpPr>
        <p:spPr>
          <a:xfrm>
            <a:off x="6400440" y="47822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6" name="Text 42"/>
          <p:cNvSpPr/>
          <p:nvPr/>
        </p:nvSpPr>
        <p:spPr>
          <a:xfrm>
            <a:off x="6400800" y="446760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14</a:t>
            </a:r>
            <a:endParaRPr lang="en-US" sz="1400" b="0" u="none" strike="noStrike">
              <a:solidFill>
                <a:srgbClr val="000000"/>
              </a:solidFill>
              <a:effectLst/>
              <a:uFillTx/>
              <a:latin typeface="Arial"/>
            </a:endParaRPr>
          </a:p>
        </p:txBody>
      </p:sp>
      <p:sp>
        <p:nvSpPr>
          <p:cNvPr id="57" name="Text 43"/>
          <p:cNvSpPr/>
          <p:nvPr/>
        </p:nvSpPr>
        <p:spPr>
          <a:xfrm>
            <a:off x="6858000" y="4462560"/>
            <a:ext cx="19623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Bonus: bune practici</a:t>
            </a:r>
            <a:endParaRPr lang="en-US" sz="1400" b="0" u="none" strike="noStrike">
              <a:solidFill>
                <a:srgbClr val="000000"/>
              </a:solidFill>
              <a:effectLst/>
              <a:uFillTx/>
              <a:latin typeface="Arial"/>
            </a:endParaRPr>
          </a:p>
        </p:txBody>
      </p:sp>
      <p:sp>
        <p:nvSpPr>
          <p:cNvPr id="58" name="Text 44"/>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59" name="Text 45"/>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02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5"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01 · MODELE</a:t>
            </a:r>
            <a:endParaRPr lang="en-US" sz="1200" b="0" u="none" strike="noStrike">
              <a:solidFill>
                <a:srgbClr val="000000"/>
              </a:solidFill>
              <a:effectLst/>
              <a:uFillTx/>
              <a:latin typeface="Arial"/>
            </a:endParaRPr>
          </a:p>
        </p:txBody>
      </p:sp>
      <p:sp>
        <p:nvSpPr>
          <p:cNvPr id="76"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Ce model pentru ce task</a:t>
            </a:r>
            <a:endParaRPr lang="en-US" sz="3000" b="0" u="none" strike="noStrike">
              <a:solidFill>
                <a:schemeClr val="dk1"/>
              </a:solidFill>
              <a:effectLst/>
              <a:uFillTx/>
              <a:latin typeface="IBM Plex Sans"/>
            </a:endParaRPr>
          </a:p>
        </p:txBody>
      </p:sp>
      <p:sp>
        <p:nvSpPr>
          <p:cNvPr id="77" name="Shape 2"/>
          <p:cNvSpPr/>
          <p:nvPr/>
        </p:nvSpPr>
        <p:spPr>
          <a:xfrm>
            <a:off x="816120" y="1778400"/>
            <a:ext cx="3413880" cy="1913760"/>
          </a:xfrm>
          <a:prstGeom prst="roundRect">
            <a:avLst>
              <a:gd name="adj" fmla="val 514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8" name="Image 0" descr="Lightning"/>
          <p:cNvPicPr/>
          <p:nvPr/>
        </p:nvPicPr>
        <p:blipFill>
          <a:blip r:embed="rId1"/>
          <a:stretch/>
        </p:blipFill>
        <p:spPr>
          <a:xfrm>
            <a:off x="1021320" y="1983960"/>
            <a:ext cx="228240" cy="228240"/>
          </a:xfrm>
          <a:prstGeom prst="rect">
            <a:avLst/>
          </a:prstGeom>
          <a:noFill/>
          <a:ln w="0">
            <a:noFill/>
          </a:ln>
        </p:spPr>
      </p:pic>
      <p:sp>
        <p:nvSpPr>
          <p:cNvPr id="79" name="Text 3"/>
          <p:cNvSpPr/>
          <p:nvPr/>
        </p:nvSpPr>
        <p:spPr>
          <a:xfrm>
            <a:off x="1325880" y="1991520"/>
            <a:ext cx="21067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IBM Plex Sans"/>
                <a:ea typeface="IBM Plex Sans"/>
              </a:rPr>
              <a:t>Haiku 4.5 · GPT-5.6 Luna</a:t>
            </a:r>
            <a:endParaRPr lang="en-US" sz="1200" b="0" u="none" strike="noStrike">
              <a:solidFill>
                <a:srgbClr val="000000"/>
              </a:solidFill>
              <a:effectLst/>
              <a:uFillTx/>
              <a:latin typeface="Arial"/>
            </a:endParaRPr>
          </a:p>
        </p:txBody>
      </p:sp>
      <p:sp>
        <p:nvSpPr>
          <p:cNvPr id="80" name="Text 4"/>
          <p:cNvSpPr/>
          <p:nvPr/>
        </p:nvSpPr>
        <p:spPr>
          <a:xfrm>
            <a:off x="1021320" y="2301120"/>
            <a:ext cx="30934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Rapid &amp; ieftin</a:t>
            </a:r>
            <a:endParaRPr lang="en-US" sz="1600" b="0" u="none" strike="noStrike">
              <a:solidFill>
                <a:srgbClr val="000000"/>
              </a:solidFill>
              <a:effectLst/>
              <a:uFillTx/>
              <a:latin typeface="Arial"/>
            </a:endParaRPr>
          </a:p>
        </p:txBody>
      </p:sp>
      <p:sp>
        <p:nvSpPr>
          <p:cNvPr id="81" name="Text 5"/>
          <p:cNvSpPr/>
          <p:nvPr/>
        </p:nvSpPr>
        <p:spPr>
          <a:xfrm>
            <a:off x="1119960" y="2634120"/>
            <a:ext cx="2986920" cy="87840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Redenumiri, formatare, boilerplate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Explică o eroare sau o funcție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Generează date de test</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Subagenți care explorează codul</a:t>
            </a:r>
            <a:endParaRPr lang="en-US" sz="1200" b="0" u="none" strike="noStrike">
              <a:solidFill>
                <a:srgbClr val="000000"/>
              </a:solidFill>
              <a:effectLst/>
              <a:uFillTx/>
              <a:latin typeface="Arial"/>
            </a:endParaRPr>
          </a:p>
        </p:txBody>
      </p:sp>
      <p:sp>
        <p:nvSpPr>
          <p:cNvPr id="82" name="Shape 6"/>
          <p:cNvSpPr/>
          <p:nvPr/>
        </p:nvSpPr>
        <p:spPr>
          <a:xfrm>
            <a:off x="4388760" y="1743840"/>
            <a:ext cx="3413880" cy="1913760"/>
          </a:xfrm>
          <a:prstGeom prst="roundRect">
            <a:avLst>
              <a:gd name="adj" fmla="val 514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3" name="Image 1" descr="Tool"/>
          <p:cNvPicPr/>
          <p:nvPr/>
        </p:nvPicPr>
        <p:blipFill>
          <a:blip r:embed="rId2"/>
          <a:stretch/>
        </p:blipFill>
        <p:spPr>
          <a:xfrm>
            <a:off x="4594320" y="1983960"/>
            <a:ext cx="228240" cy="228240"/>
          </a:xfrm>
          <a:prstGeom prst="rect">
            <a:avLst/>
          </a:prstGeom>
          <a:noFill/>
          <a:ln w="0">
            <a:noFill/>
          </a:ln>
        </p:spPr>
      </p:pic>
      <p:sp>
        <p:nvSpPr>
          <p:cNvPr id="84" name="Text 7"/>
          <p:cNvSpPr/>
          <p:nvPr/>
        </p:nvSpPr>
        <p:spPr>
          <a:xfrm>
            <a:off x="4898880" y="1991520"/>
            <a:ext cx="29005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IBM Plex Sans"/>
                <a:ea typeface="IBM Plex Sans"/>
              </a:rPr>
              <a:t>Sonnet 5.5 · GPT-5.6 Terra · Grok 4.7</a:t>
            </a:r>
            <a:endParaRPr lang="en-US" sz="1200" b="0" u="none" strike="noStrike">
              <a:solidFill>
                <a:srgbClr val="000000"/>
              </a:solidFill>
              <a:effectLst/>
              <a:uFillTx/>
              <a:latin typeface="Arial"/>
            </a:endParaRPr>
          </a:p>
        </p:txBody>
      </p:sp>
      <p:sp>
        <p:nvSpPr>
          <p:cNvPr id="85" name="Text 8"/>
          <p:cNvSpPr/>
          <p:nvPr/>
        </p:nvSpPr>
        <p:spPr>
          <a:xfrm>
            <a:off x="4594320" y="2301120"/>
            <a:ext cx="30934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Echilibrat</a:t>
            </a:r>
            <a:endParaRPr lang="en-US" sz="1600" b="0" u="none" strike="noStrike">
              <a:solidFill>
                <a:srgbClr val="000000"/>
              </a:solidFill>
              <a:effectLst/>
              <a:uFillTx/>
              <a:latin typeface="Arial"/>
            </a:endParaRPr>
          </a:p>
        </p:txBody>
      </p:sp>
      <p:sp>
        <p:nvSpPr>
          <p:cNvPr id="86" name="Text 9"/>
          <p:cNvSpPr/>
          <p:nvPr/>
        </p:nvSpPr>
        <p:spPr>
          <a:xfrm>
            <a:off x="4692960" y="2634120"/>
            <a:ext cx="2986920" cy="87840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Feature-uri obișnuite, end-to-end</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Refactorizări pe câteva fișiere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Teste unitare și de integrare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Code review de zi cu zi</a:t>
            </a:r>
            <a:endParaRPr lang="en-US" sz="1200" b="0" u="none" strike="noStrike">
              <a:solidFill>
                <a:srgbClr val="000000"/>
              </a:solidFill>
              <a:effectLst/>
              <a:uFillTx/>
              <a:latin typeface="Arial"/>
            </a:endParaRPr>
          </a:p>
        </p:txBody>
      </p:sp>
      <p:sp>
        <p:nvSpPr>
          <p:cNvPr id="87" name="Shape 10"/>
          <p:cNvSpPr/>
          <p:nvPr/>
        </p:nvSpPr>
        <p:spPr>
          <a:xfrm>
            <a:off x="7961760" y="1778400"/>
            <a:ext cx="3413880" cy="1913760"/>
          </a:xfrm>
          <a:prstGeom prst="roundRect">
            <a:avLst>
              <a:gd name="adj" fmla="val 514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8" name="Image 2" descr="Star"/>
          <p:cNvPicPr/>
          <p:nvPr/>
        </p:nvPicPr>
        <p:blipFill>
          <a:blip r:embed="rId3"/>
          <a:stretch/>
        </p:blipFill>
        <p:spPr>
          <a:xfrm>
            <a:off x="8167320" y="1983960"/>
            <a:ext cx="228240" cy="228240"/>
          </a:xfrm>
          <a:prstGeom prst="rect">
            <a:avLst/>
          </a:prstGeom>
          <a:noFill/>
          <a:ln w="0">
            <a:noFill/>
          </a:ln>
        </p:spPr>
      </p:pic>
      <p:sp>
        <p:nvSpPr>
          <p:cNvPr id="89" name="Text 11"/>
          <p:cNvSpPr/>
          <p:nvPr/>
        </p:nvSpPr>
        <p:spPr>
          <a:xfrm>
            <a:off x="8471880" y="1991520"/>
            <a:ext cx="1910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IBM Plex Sans"/>
                <a:ea typeface="IBM Plex Sans"/>
              </a:rPr>
              <a:t>Opus 5.5 · GPT-5.6 Sol</a:t>
            </a:r>
            <a:endParaRPr lang="en-US" sz="1200" b="0" u="none" strike="noStrike">
              <a:solidFill>
                <a:srgbClr val="000000"/>
              </a:solidFill>
              <a:effectLst/>
              <a:uFillTx/>
              <a:latin typeface="Arial"/>
            </a:endParaRPr>
          </a:p>
        </p:txBody>
      </p:sp>
      <p:sp>
        <p:nvSpPr>
          <p:cNvPr id="90" name="Text 12"/>
          <p:cNvSpPr/>
          <p:nvPr/>
        </p:nvSpPr>
        <p:spPr>
          <a:xfrm>
            <a:off x="8167320" y="2301120"/>
            <a:ext cx="30934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Maxim</a:t>
            </a:r>
            <a:endParaRPr lang="en-US" sz="1600" b="0" u="none" strike="noStrike">
              <a:solidFill>
                <a:srgbClr val="000000"/>
              </a:solidFill>
              <a:effectLst/>
              <a:uFillTx/>
              <a:latin typeface="Arial"/>
            </a:endParaRPr>
          </a:p>
        </p:txBody>
      </p:sp>
      <p:sp>
        <p:nvSpPr>
          <p:cNvPr id="91" name="Text 13"/>
          <p:cNvSpPr/>
          <p:nvPr/>
        </p:nvSpPr>
        <p:spPr>
          <a:xfrm>
            <a:off x="8265960" y="2634120"/>
            <a:ext cx="2986920" cy="87840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Planuri și decizii de arhitectură</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Bug-uri grele, concurență, perf</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Codebase mare, necunoscut</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Când modelul echilibrat a eșuat</a:t>
            </a:r>
            <a:endParaRPr lang="en-US" sz="1200" b="0" u="none" strike="noStrike">
              <a:solidFill>
                <a:srgbClr val="000000"/>
              </a:solidFill>
              <a:effectLst/>
              <a:uFillTx/>
              <a:latin typeface="Arial"/>
            </a:endParaRPr>
          </a:p>
        </p:txBody>
      </p:sp>
      <p:sp>
        <p:nvSpPr>
          <p:cNvPr id="92" name="Text 14"/>
          <p:cNvSpPr/>
          <p:nvPr/>
        </p:nvSpPr>
        <p:spPr>
          <a:xfrm>
            <a:off x="812880" y="3949920"/>
            <a:ext cx="10883160" cy="273960"/>
          </a:xfrm>
          <a:prstGeom prst="rect">
            <a:avLst/>
          </a:prstGeom>
          <a:noFill/>
          <a:ln w="0">
            <a:noFill/>
          </a:ln>
        </p:spPr>
        <p:style>
          <a:lnRef idx="0"/>
          <a:fillRef idx="0"/>
          <a:effectRef idx="0"/>
          <a:fontRef idx="minor"/>
        </p:style>
        <p:txBody>
          <a:bodyPr lIns="0" tIns="0" rIns="0" bIns="0" anchor="t">
            <a:normAutofit fontScale="77500" lnSpcReduction="19999"/>
          </a:bodyPr>
          <a:p>
            <a:pPr defTabSz="914400">
              <a:lnSpc>
                <a:spcPts val="1959"/>
              </a:lnSpc>
              <a:tabLst>
                <a:tab pos="0" algn="l"/>
              </a:tabLst>
            </a:pPr>
            <a:r>
              <a:rPr lang="en-US" sz="1400" b="1" u="none" strike="noStrike">
                <a:solidFill>
                  <a:srgbClr val="444C5C"/>
                </a:solidFill>
                <a:effectLst/>
                <a:uFillTx/>
                <a:latin typeface="IBM Plex Sans"/>
                <a:ea typeface="IBM Plex Sans"/>
              </a:rPr>
              <a:t>Auto</a:t>
            </a:r>
            <a:r>
              <a:rPr lang="en-US" sz="1400" b="0" u="none" strike="noStrike">
                <a:solidFill>
                  <a:srgbClr val="444C5C"/>
                </a:solidFill>
                <a:effectLst/>
                <a:uFillTx/>
                <a:latin typeface="IBM Plex Sans"/>
                <a:ea typeface="IBM Plex Sans"/>
              </a:rPr>
              <a:t> în model picker: Copilot alege modelul — un punct de plecare bun dacă nu știi ce să alegi. Dezavantaj: nu e garantat că o să primești modelul de care ai nevoie.</a:t>
            </a:r>
            <a:endParaRPr lang="en-US" sz="1400" b="0" u="none" strike="noStrike">
              <a:solidFill>
                <a:srgbClr val="000000"/>
              </a:solidFill>
              <a:effectLst/>
              <a:uFillTx/>
              <a:latin typeface="Arial"/>
            </a:endParaRPr>
          </a:p>
        </p:txBody>
      </p:sp>
      <p:sp>
        <p:nvSpPr>
          <p:cNvPr id="93" name="Text 15"/>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94" name="Text 16"/>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03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22"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02 · PLAN VS AGENT VS ASK</a:t>
            </a:r>
            <a:endParaRPr lang="en-US" sz="1200" b="0" u="none" strike="noStrike">
              <a:solidFill>
                <a:srgbClr val="000000"/>
              </a:solidFill>
              <a:effectLst/>
              <a:uFillTx/>
              <a:latin typeface="Arial"/>
            </a:endParaRPr>
          </a:p>
        </p:txBody>
      </p:sp>
      <p:sp>
        <p:nvSpPr>
          <p:cNvPr id="123"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Trei moduri de lucru</a:t>
            </a:r>
            <a:endParaRPr lang="en-US" sz="3000" b="0" u="none" strike="noStrike">
              <a:solidFill>
                <a:schemeClr val="dk1"/>
              </a:solidFill>
              <a:effectLst/>
              <a:uFillTx/>
              <a:latin typeface="IBM Plex Sans"/>
            </a:endParaRPr>
          </a:p>
        </p:txBody>
      </p:sp>
      <p:sp>
        <p:nvSpPr>
          <p:cNvPr id="124" name="Shape 2"/>
          <p:cNvSpPr/>
          <p:nvPr/>
        </p:nvSpPr>
        <p:spPr>
          <a:xfrm>
            <a:off x="816120" y="1778400"/>
            <a:ext cx="3413880" cy="2721240"/>
          </a:xfrm>
          <a:prstGeom prst="roundRect">
            <a:avLst>
              <a:gd name="adj" fmla="val 361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25" name="Image 0" descr="Chat"/>
          <p:cNvPicPr/>
          <p:nvPr/>
        </p:nvPicPr>
        <p:blipFill>
          <a:blip r:embed="rId1"/>
          <a:stretch/>
        </p:blipFill>
        <p:spPr>
          <a:xfrm>
            <a:off x="1021320" y="1991520"/>
            <a:ext cx="228240" cy="228240"/>
          </a:xfrm>
          <a:prstGeom prst="rect">
            <a:avLst/>
          </a:prstGeom>
          <a:noFill/>
          <a:ln w="0">
            <a:noFill/>
          </a:ln>
        </p:spPr>
      </p:pic>
      <p:sp>
        <p:nvSpPr>
          <p:cNvPr id="126" name="Text 3"/>
          <p:cNvSpPr/>
          <p:nvPr/>
        </p:nvSpPr>
        <p:spPr>
          <a:xfrm>
            <a:off x="1351440" y="1983960"/>
            <a:ext cx="41796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Ask</a:t>
            </a:r>
            <a:endParaRPr lang="en-US" sz="1600" b="0" u="none" strike="noStrike">
              <a:solidFill>
                <a:srgbClr val="000000"/>
              </a:solidFill>
              <a:effectLst/>
              <a:uFillTx/>
              <a:latin typeface="Arial"/>
            </a:endParaRPr>
          </a:p>
        </p:txBody>
      </p:sp>
      <p:sp>
        <p:nvSpPr>
          <p:cNvPr id="127" name="Text 4"/>
          <p:cNvSpPr/>
          <p:nvPr/>
        </p:nvSpPr>
        <p:spPr>
          <a:xfrm>
            <a:off x="1021320" y="2329200"/>
            <a:ext cx="3093480" cy="52272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Răspunde la întrebări despre cod, concepte, erori. Citește, nu scrie.</a:t>
            </a:r>
            <a:endParaRPr lang="en-US" sz="1400" b="0" u="none" strike="noStrike">
              <a:solidFill>
                <a:srgbClr val="000000"/>
              </a:solidFill>
              <a:effectLst/>
              <a:uFillTx/>
              <a:latin typeface="Arial"/>
            </a:endParaRPr>
          </a:p>
        </p:txBody>
      </p:sp>
      <p:sp>
        <p:nvSpPr>
          <p:cNvPr id="128" name="Text 5"/>
          <p:cNvSpPr/>
          <p:nvPr/>
        </p:nvSpPr>
        <p:spPr>
          <a:xfrm>
            <a:off x="1021320" y="2928600"/>
            <a:ext cx="3003120" cy="273960"/>
          </a:xfrm>
          <a:prstGeom prst="roundRect">
            <a:avLst>
              <a:gd name="adj" fmla="val 50000"/>
            </a:avLst>
          </a:prstGeom>
          <a:solidFill>
            <a:srgbClr val="DCE8F5"/>
          </a:solidFill>
          <a:ln w="0">
            <a:noFill/>
          </a:ln>
        </p:spPr>
        <p:style>
          <a:lnRef idx="0"/>
          <a:fillRef idx="0"/>
          <a:effectRef idx="0"/>
          <a:fontRef idx="minor"/>
        </p:style>
        <p:txBody>
          <a:bodyPr lIns="61560" tIns="0" rIns="0" bIns="0" anchor="t">
            <a:normAutofit/>
          </a:bodyPr>
          <a:p>
            <a:pPr defTabSz="914400">
              <a:lnSpc>
                <a:spcPts val="1559"/>
              </a:lnSpc>
              <a:tabLst>
                <a:tab pos="0" algn="l"/>
              </a:tabLst>
            </a:pPr>
            <a:r>
              <a:rPr lang="en-US" sz="1200" b="1" u="none" strike="noStrike">
                <a:solidFill>
                  <a:srgbClr val="131A2A"/>
                </a:solidFill>
                <a:effectLst/>
                <a:uFillTx/>
                <a:latin typeface="IBM Plex Sans"/>
                <a:ea typeface="IBM Plex Sans"/>
              </a:rPr>
              <a:t>Nu modifică fișiere</a:t>
            </a:r>
            <a:endParaRPr lang="en-US" sz="1200" b="0" u="none" strike="noStrike">
              <a:solidFill>
                <a:srgbClr val="000000"/>
              </a:solidFill>
              <a:effectLst/>
              <a:uFillTx/>
              <a:latin typeface="Arial"/>
            </a:endParaRPr>
          </a:p>
        </p:txBody>
      </p:sp>
      <p:sp>
        <p:nvSpPr>
          <p:cNvPr id="129" name="Text 6"/>
          <p:cNvSpPr/>
          <p:nvPr/>
        </p:nvSpPr>
        <p:spPr>
          <a:xfrm>
            <a:off x="1021320" y="330444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5E6677"/>
                </a:solidFill>
                <a:effectLst/>
                <a:uFillTx/>
                <a:latin typeface="IBM Plex Sans"/>
                <a:ea typeface="IBM Plex Sans"/>
              </a:rPr>
              <a:t>Exemplu:</a:t>
            </a:r>
            <a:endParaRPr lang="en-US" sz="1200" b="0" u="none" strike="noStrike">
              <a:solidFill>
                <a:srgbClr val="000000"/>
              </a:solidFill>
              <a:effectLst/>
              <a:uFillTx/>
              <a:latin typeface="Arial"/>
            </a:endParaRPr>
          </a:p>
        </p:txBody>
      </p:sp>
      <p:sp>
        <p:nvSpPr>
          <p:cNvPr id="130" name="Text 7"/>
          <p:cNvSpPr/>
          <p:nvPr/>
        </p:nvSpPr>
        <p:spPr>
          <a:xfrm>
            <a:off x="1021320" y="361944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„Cum ajunge un request de la /login la baza de date?”</a:t>
            </a:r>
            <a:endParaRPr lang="en-US" sz="1200" b="0" u="none" strike="noStrike">
              <a:solidFill>
                <a:srgbClr val="000000"/>
              </a:solidFill>
              <a:effectLst/>
              <a:uFillTx/>
              <a:latin typeface="Arial"/>
            </a:endParaRPr>
          </a:p>
        </p:txBody>
      </p:sp>
      <p:sp>
        <p:nvSpPr>
          <p:cNvPr id="131" name="Shape 8"/>
          <p:cNvSpPr/>
          <p:nvPr/>
        </p:nvSpPr>
        <p:spPr>
          <a:xfrm>
            <a:off x="4388760" y="1778400"/>
            <a:ext cx="3413880" cy="2721240"/>
          </a:xfrm>
          <a:prstGeom prst="roundRect">
            <a:avLst>
              <a:gd name="adj" fmla="val 361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32" name="Image 1" descr="Book"/>
          <p:cNvPicPr/>
          <p:nvPr/>
        </p:nvPicPr>
        <p:blipFill>
          <a:blip r:embed="rId2"/>
          <a:stretch/>
        </p:blipFill>
        <p:spPr>
          <a:xfrm>
            <a:off x="4594320" y="1991520"/>
            <a:ext cx="228240" cy="228240"/>
          </a:xfrm>
          <a:prstGeom prst="rect">
            <a:avLst/>
          </a:prstGeom>
          <a:noFill/>
          <a:ln w="0">
            <a:noFill/>
          </a:ln>
        </p:spPr>
      </p:pic>
      <p:sp>
        <p:nvSpPr>
          <p:cNvPr id="133" name="Text 9"/>
          <p:cNvSpPr/>
          <p:nvPr/>
        </p:nvSpPr>
        <p:spPr>
          <a:xfrm>
            <a:off x="4924440" y="1983960"/>
            <a:ext cx="5011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Plan</a:t>
            </a:r>
            <a:endParaRPr lang="en-US" sz="1600" b="0" u="none" strike="noStrike">
              <a:solidFill>
                <a:srgbClr val="000000"/>
              </a:solidFill>
              <a:effectLst/>
              <a:uFillTx/>
              <a:latin typeface="Arial"/>
            </a:endParaRPr>
          </a:p>
        </p:txBody>
      </p:sp>
      <p:sp>
        <p:nvSpPr>
          <p:cNvPr id="134" name="Text 10"/>
          <p:cNvSpPr/>
          <p:nvPr/>
        </p:nvSpPr>
        <p:spPr>
          <a:xfrm>
            <a:off x="4594320" y="2329200"/>
            <a:ext cx="3093480" cy="77184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Cercetează codul, îți pune întrebări și scrie un plan pas cu pas pe care îl revizuiești.</a:t>
            </a:r>
            <a:endParaRPr lang="en-US" sz="1400" b="0" u="none" strike="noStrike">
              <a:solidFill>
                <a:srgbClr val="000000"/>
              </a:solidFill>
              <a:effectLst/>
              <a:uFillTx/>
              <a:latin typeface="Arial"/>
            </a:endParaRPr>
          </a:p>
        </p:txBody>
      </p:sp>
      <p:sp>
        <p:nvSpPr>
          <p:cNvPr id="135" name="Text 11"/>
          <p:cNvSpPr/>
          <p:nvPr/>
        </p:nvSpPr>
        <p:spPr>
          <a:xfrm>
            <a:off x="4594320" y="3177720"/>
            <a:ext cx="3003120" cy="273960"/>
          </a:xfrm>
          <a:prstGeom prst="roundRect">
            <a:avLst>
              <a:gd name="adj" fmla="val 50000"/>
            </a:avLst>
          </a:prstGeom>
          <a:solidFill>
            <a:srgbClr val="DCE8F5"/>
          </a:solidFill>
          <a:ln w="0">
            <a:noFill/>
          </a:ln>
        </p:spPr>
        <p:style>
          <a:lnRef idx="0"/>
          <a:fillRef idx="0"/>
          <a:effectRef idx="0"/>
          <a:fontRef idx="minor"/>
        </p:style>
        <p:txBody>
          <a:bodyPr lIns="61560" tIns="0" rIns="0" bIns="0" anchor="t">
            <a:normAutofit/>
          </a:bodyPr>
          <a:p>
            <a:pPr defTabSz="914400">
              <a:lnSpc>
                <a:spcPts val="1559"/>
              </a:lnSpc>
              <a:tabLst>
                <a:tab pos="0" algn="l"/>
              </a:tabLst>
            </a:pPr>
            <a:r>
              <a:rPr lang="en-US" sz="1200" b="1" u="none" strike="noStrike">
                <a:solidFill>
                  <a:srgbClr val="131A2A"/>
                </a:solidFill>
                <a:effectLst/>
                <a:uFillTx/>
                <a:latin typeface="IBM Plex Sans"/>
                <a:ea typeface="IBM Plex Sans"/>
              </a:rPr>
              <a:t>Nu modifică cod — produce planul</a:t>
            </a:r>
            <a:endParaRPr lang="en-US" sz="1200" b="0" u="none" strike="noStrike">
              <a:solidFill>
                <a:srgbClr val="000000"/>
              </a:solidFill>
              <a:effectLst/>
              <a:uFillTx/>
              <a:latin typeface="Arial"/>
            </a:endParaRPr>
          </a:p>
        </p:txBody>
      </p:sp>
      <p:sp>
        <p:nvSpPr>
          <p:cNvPr id="136" name="Text 12"/>
          <p:cNvSpPr/>
          <p:nvPr/>
        </p:nvSpPr>
        <p:spPr>
          <a:xfrm>
            <a:off x="4594320" y="355320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5E6677"/>
                </a:solidFill>
                <a:effectLst/>
                <a:uFillTx/>
                <a:latin typeface="IBM Plex Sans"/>
                <a:ea typeface="IBM Plex Sans"/>
              </a:rPr>
              <a:t>Exemplu:</a:t>
            </a:r>
            <a:endParaRPr lang="en-US" sz="1200" b="0" u="none" strike="noStrike">
              <a:solidFill>
                <a:srgbClr val="000000"/>
              </a:solidFill>
              <a:effectLst/>
              <a:uFillTx/>
              <a:latin typeface="Arial"/>
            </a:endParaRPr>
          </a:p>
        </p:txBody>
      </p:sp>
      <p:sp>
        <p:nvSpPr>
          <p:cNvPr id="137" name="Text 13"/>
          <p:cNvSpPr/>
          <p:nvPr/>
        </p:nvSpPr>
        <p:spPr>
          <a:xfrm>
            <a:off x="4594320" y="386820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„Planifică rate limiting pe /api/login.”</a:t>
            </a:r>
            <a:endParaRPr lang="en-US" sz="1200" b="0" u="none" strike="noStrike">
              <a:solidFill>
                <a:srgbClr val="000000"/>
              </a:solidFill>
              <a:effectLst/>
              <a:uFillTx/>
              <a:latin typeface="Arial"/>
            </a:endParaRPr>
          </a:p>
        </p:txBody>
      </p:sp>
      <p:sp>
        <p:nvSpPr>
          <p:cNvPr id="138" name="Shape 14"/>
          <p:cNvSpPr/>
          <p:nvPr/>
        </p:nvSpPr>
        <p:spPr>
          <a:xfrm>
            <a:off x="7961760" y="1778400"/>
            <a:ext cx="3413880" cy="2721240"/>
          </a:xfrm>
          <a:prstGeom prst="roundRect">
            <a:avLst>
              <a:gd name="adj" fmla="val 361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39" name="Image 2" descr="Wrench"/>
          <p:cNvPicPr/>
          <p:nvPr/>
        </p:nvPicPr>
        <p:blipFill>
          <a:blip r:embed="rId3"/>
          <a:stretch/>
        </p:blipFill>
        <p:spPr>
          <a:xfrm>
            <a:off x="8167320" y="1991520"/>
            <a:ext cx="228240" cy="228240"/>
          </a:xfrm>
          <a:prstGeom prst="rect">
            <a:avLst/>
          </a:prstGeom>
          <a:noFill/>
          <a:ln w="0">
            <a:noFill/>
          </a:ln>
        </p:spPr>
      </p:pic>
      <p:sp>
        <p:nvSpPr>
          <p:cNvPr id="140" name="Text 15"/>
          <p:cNvSpPr/>
          <p:nvPr/>
        </p:nvSpPr>
        <p:spPr>
          <a:xfrm>
            <a:off x="8497440" y="1983960"/>
            <a:ext cx="70956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Agent</a:t>
            </a:r>
            <a:endParaRPr lang="en-US" sz="1600" b="0" u="none" strike="noStrike">
              <a:solidFill>
                <a:srgbClr val="000000"/>
              </a:solidFill>
              <a:effectLst/>
              <a:uFillTx/>
              <a:latin typeface="Arial"/>
            </a:endParaRPr>
          </a:p>
        </p:txBody>
      </p:sp>
      <p:sp>
        <p:nvSpPr>
          <p:cNvPr id="141" name="Text 16"/>
          <p:cNvSpPr/>
          <p:nvPr/>
        </p:nvSpPr>
        <p:spPr>
          <a:xfrm>
            <a:off x="8167320" y="2329200"/>
            <a:ext cx="3093480" cy="77184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Lucrează autonom: editează fișiere, rulează comenzi și teste, iterează până termină.</a:t>
            </a:r>
            <a:endParaRPr lang="en-US" sz="1400" b="0" u="none" strike="noStrike">
              <a:solidFill>
                <a:srgbClr val="000000"/>
              </a:solidFill>
              <a:effectLst/>
              <a:uFillTx/>
              <a:latin typeface="Arial"/>
            </a:endParaRPr>
          </a:p>
        </p:txBody>
      </p:sp>
      <p:sp>
        <p:nvSpPr>
          <p:cNvPr id="142" name="Text 17"/>
          <p:cNvSpPr/>
          <p:nvPr/>
        </p:nvSpPr>
        <p:spPr>
          <a:xfrm>
            <a:off x="8167320" y="3177720"/>
            <a:ext cx="3003120" cy="273960"/>
          </a:xfrm>
          <a:prstGeom prst="roundRect">
            <a:avLst>
              <a:gd name="adj" fmla="val 50000"/>
            </a:avLst>
          </a:prstGeom>
          <a:solidFill>
            <a:srgbClr val="DCE8F5"/>
          </a:solidFill>
          <a:ln w="0">
            <a:noFill/>
          </a:ln>
        </p:spPr>
        <p:style>
          <a:lnRef idx="0"/>
          <a:fillRef idx="0"/>
          <a:effectRef idx="0"/>
          <a:fontRef idx="minor"/>
        </p:style>
        <p:txBody>
          <a:bodyPr lIns="61560" tIns="0" rIns="0" bIns="0" anchor="t">
            <a:normAutofit/>
          </a:bodyPr>
          <a:p>
            <a:pPr defTabSz="914400">
              <a:lnSpc>
                <a:spcPts val="1559"/>
              </a:lnSpc>
              <a:tabLst>
                <a:tab pos="0" algn="l"/>
              </a:tabLst>
            </a:pPr>
            <a:r>
              <a:rPr lang="en-US" sz="1200" b="1" u="none" strike="noStrike">
                <a:solidFill>
                  <a:srgbClr val="131A2A"/>
                </a:solidFill>
                <a:effectLst/>
                <a:uFillTx/>
                <a:latin typeface="IBM Plex Sans"/>
                <a:ea typeface="IBM Plex Sans"/>
              </a:rPr>
              <a:t>Modifică fișiere, rulează comenzi</a:t>
            </a:r>
            <a:endParaRPr lang="en-US" sz="1200" b="0" u="none" strike="noStrike">
              <a:solidFill>
                <a:srgbClr val="000000"/>
              </a:solidFill>
              <a:effectLst/>
              <a:uFillTx/>
              <a:latin typeface="Arial"/>
            </a:endParaRPr>
          </a:p>
        </p:txBody>
      </p:sp>
      <p:sp>
        <p:nvSpPr>
          <p:cNvPr id="143" name="Text 18"/>
          <p:cNvSpPr/>
          <p:nvPr/>
        </p:nvSpPr>
        <p:spPr>
          <a:xfrm>
            <a:off x="8167320" y="355320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5E6677"/>
                </a:solidFill>
                <a:effectLst/>
                <a:uFillTx/>
                <a:latin typeface="IBM Plex Sans"/>
                <a:ea typeface="IBM Plex Sans"/>
              </a:rPr>
              <a:t>Exemplu:</a:t>
            </a:r>
            <a:endParaRPr lang="en-US" sz="1200" b="0" u="none" strike="noStrike">
              <a:solidFill>
                <a:srgbClr val="000000"/>
              </a:solidFill>
              <a:effectLst/>
              <a:uFillTx/>
              <a:latin typeface="Arial"/>
            </a:endParaRPr>
          </a:p>
        </p:txBody>
      </p:sp>
      <p:sp>
        <p:nvSpPr>
          <p:cNvPr id="144" name="Text 19"/>
          <p:cNvSpPr/>
          <p:nvPr/>
        </p:nvSpPr>
        <p:spPr>
          <a:xfrm>
            <a:off x="8167320" y="386820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„Implementează planul. Rulează testele după fiecare pas.”</a:t>
            </a:r>
            <a:endParaRPr lang="en-US" sz="1200" b="0" u="none" strike="noStrike">
              <a:solidFill>
                <a:srgbClr val="000000"/>
              </a:solidFill>
              <a:effectLst/>
              <a:uFillTx/>
              <a:latin typeface="Arial"/>
            </a:endParaRPr>
          </a:p>
        </p:txBody>
      </p:sp>
      <p:sp>
        <p:nvSpPr>
          <p:cNvPr id="145" name="Text 20"/>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146" name="Text 21"/>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04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8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03 · HARNESS</a:t>
            </a:r>
            <a:endParaRPr lang="en-US" sz="1200" b="0" u="none" strike="noStrike">
              <a:solidFill>
                <a:srgbClr val="000000"/>
              </a:solidFill>
              <a:effectLst/>
              <a:uFillTx/>
              <a:latin typeface="Arial"/>
            </a:endParaRPr>
          </a:p>
        </p:txBody>
      </p:sp>
      <p:sp>
        <p:nvSpPr>
          <p:cNvPr id="189"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Local vs Copilot CLI vs Cloud agent</a:t>
            </a:r>
            <a:endParaRPr lang="en-US" sz="3000" b="0" u="none" strike="noStrike">
              <a:solidFill>
                <a:schemeClr val="dk1"/>
              </a:solidFill>
              <a:effectLst/>
              <a:uFillTx/>
              <a:latin typeface="IBM Plex Sans"/>
            </a:endParaRPr>
          </a:p>
        </p:txBody>
      </p:sp>
      <p:sp>
        <p:nvSpPr>
          <p:cNvPr id="190" name="Shape 2"/>
          <p:cNvSpPr/>
          <p:nvPr/>
        </p:nvSpPr>
        <p:spPr>
          <a:xfrm>
            <a:off x="11376000" y="1775160"/>
            <a:ext cx="360" cy="2426040"/>
          </a:xfrm>
          <a:prstGeom prst="line">
            <a:avLst/>
          </a:prstGeom>
          <a:ln w="6350">
            <a:solidFill>
              <a:srgbClr val="E0DAC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91" name="Shape 3"/>
          <p:cNvSpPr/>
          <p:nvPr/>
        </p:nvSpPr>
        <p:spPr>
          <a:xfrm>
            <a:off x="812520" y="4197960"/>
            <a:ext cx="1056636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graphicFrame>
        <p:nvGraphicFramePr>
          <p:cNvPr id="192" name="Table 0"/>
          <p:cNvGraphicFramePr/>
          <p:nvPr/>
        </p:nvGraphicFramePr>
        <p:xfrm>
          <a:off x="823320" y="1785960"/>
          <a:ext cx="10550160" cy="2409840"/>
        </p:xfrm>
        <a:graphic>
          <a:graphicData uri="http://schemas.openxmlformats.org/drawingml/2006/table">
            <a:tbl>
              <a:tblPr/>
              <a:tblGrid>
                <a:gridCol w="1688040"/>
                <a:gridCol w="2954160"/>
                <a:gridCol w="2954160"/>
                <a:gridCol w="2954160"/>
              </a:tblGrid>
              <a:tr h="330480">
                <a:tc>
                  <a:txBody>
                    <a:bodyPr lIns="53280" tIns="53280" rIns="53280" bIns="53280" anchor="t">
                      <a:noAutofit/>
                    </a:bodyPr>
                    <a:p>
                      <a:endParaRPr lang="en-US" sz="1200" b="0" u="none" strike="noStrike">
                        <a:solidFill>
                          <a:schemeClr val="dk1"/>
                        </a:solidFill>
                        <a:effectLst/>
                        <a:uFillTx/>
                        <a:latin typeface="IBM Plex Sans"/>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Local (VS Code)</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Copilot CLI</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Cloud agent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Unde rulează</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în VS Code, pe mașina ta</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în terminal / Agent Host, pe mașina ta</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pe infrastructura GitHub, sandbox Linux</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Ce vede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workspace-ul, tool-urile VS Code, extensii, MCP</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folderul curent sau un git worktree izolat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repo-ul clonat; rezultatul e un pull request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Interacțiune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interactiv, aprobi pas cu pas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interactiv sau autopilot, poate rula în fundal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asincron: pornești și revii la PR</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Ideal pentru</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lucru zilnic, debugging, UI</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task-uri lungi, scripting, sesiuni paralele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issue-uri clare, refactor mecanic, teste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Pornești cu</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panoul Chat → Local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copilot în terminal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assign issue la Copilot sau /delegate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bl>
          </a:graphicData>
        </a:graphic>
      </p:graphicFrame>
      <p:sp>
        <p:nvSpPr>
          <p:cNvPr id="193" name="Text 4"/>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194" name="Text 5"/>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05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223"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04 · AGENTS.MD</a:t>
            </a:r>
            <a:endParaRPr lang="en-US" sz="1200" b="0" u="none" strike="noStrike">
              <a:solidFill>
                <a:srgbClr val="000000"/>
              </a:solidFill>
              <a:effectLst/>
              <a:uFillTx/>
              <a:latin typeface="Arial"/>
            </a:endParaRPr>
          </a:p>
        </p:txBody>
      </p:sp>
      <p:sp>
        <p:nvSpPr>
          <p:cNvPr id="224"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Ce este AGENTS.md</a:t>
            </a:r>
            <a:endParaRPr lang="en-US" sz="3000" b="0" u="none" strike="noStrike">
              <a:solidFill>
                <a:schemeClr val="dk1"/>
              </a:solidFill>
              <a:effectLst/>
              <a:uFillTx/>
              <a:latin typeface="IBM Plex Sans"/>
            </a:endParaRPr>
          </a:p>
        </p:txBody>
      </p:sp>
      <p:sp>
        <p:nvSpPr>
          <p:cNvPr id="225" name="Text 2"/>
          <p:cNvSpPr/>
          <p:nvPr/>
        </p:nvSpPr>
        <p:spPr>
          <a:xfrm>
            <a:off x="891000" y="1775520"/>
            <a:ext cx="3969000" cy="2514240"/>
          </a:xfrm>
          <a:prstGeom prst="rect">
            <a:avLst/>
          </a:prstGeom>
          <a:noFill/>
          <a:ln w="0">
            <a:noFill/>
          </a:ln>
        </p:spPr>
        <p:style>
          <a:lnRef idx="0"/>
          <a:fillRef idx="0"/>
          <a:effectRef idx="0"/>
          <a:fontRef idx="minor"/>
        </p:style>
        <p:txBody>
          <a:bodyPr lIns="0" tIns="0" rIns="0" bIns="0" anchor="t">
            <a:normAutofit/>
          </a:bodyPr>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Un fișier Markdown în rădăcina repo-ului — standard deschis (agents.md).</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Copilot îl citește automat în VS Code, CLI, cloud agent și code review. La fel Claude Code, Codex, Cursor.</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Intră în context la </a:t>
            </a:r>
            <a:r>
              <a:rPr lang="en-US" sz="1400" b="1" u="none" strike="noStrike">
                <a:solidFill>
                  <a:srgbClr val="444C5C"/>
                </a:solidFill>
                <a:effectLst/>
                <a:uFillTx/>
                <a:latin typeface="IBM Plex Sans"/>
                <a:ea typeface="IBM Plex Sans"/>
              </a:rPr>
              <a:t>fiecare</a:t>
            </a:r>
            <a:r>
              <a:rPr lang="en-US" sz="1400" b="0" u="none" strike="noStrike">
                <a:solidFill>
                  <a:srgbClr val="444C5C"/>
                </a:solidFill>
                <a:effectLst/>
                <a:uFillTx/>
                <a:latin typeface="IBM Plex Sans"/>
                <a:ea typeface="IBM Plex Sans"/>
              </a:rPr>
              <a:t> cerere → scurt și la obiect.</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Variante Copilot: </a:t>
            </a:r>
            <a:r>
              <a:rPr lang="en-US" sz="1400" b="0" u="none" strike="noStrike">
                <a:solidFill>
                  <a:srgbClr val="2B5E96"/>
                </a:solidFill>
                <a:effectLst/>
                <a:uFillTx/>
                <a:latin typeface="IBM Plex Sans"/>
                <a:ea typeface="IBM Plex Sans"/>
              </a:rPr>
              <a:t>.github/copilot-instructions.md</a:t>
            </a:r>
            <a:r>
              <a:rPr lang="en-US" sz="1400" b="0" u="none" strike="noStrike">
                <a:solidFill>
                  <a:srgbClr val="444C5C"/>
                </a:solidFill>
                <a:effectLst/>
                <a:uFillTx/>
                <a:latin typeface="IBM Plex Sans"/>
                <a:ea typeface="IBM Plex Sans"/>
              </a:rPr>
              <a:t> și </a:t>
            </a:r>
            <a:r>
              <a:rPr lang="en-US" sz="1400" b="0" u="none" strike="noStrike">
                <a:solidFill>
                  <a:srgbClr val="2B5E96"/>
                </a:solidFill>
                <a:effectLst/>
                <a:uFillTx/>
                <a:latin typeface="IBM Plex Sans"/>
                <a:ea typeface="IBM Plex Sans"/>
              </a:rPr>
              <a:t>*.instructions.md</a:t>
            </a:r>
            <a:r>
              <a:rPr lang="en-US" sz="1400" b="0" u="none" strike="noStrike">
                <a:solidFill>
                  <a:srgbClr val="444C5C"/>
                </a:solidFill>
                <a:effectLst/>
                <a:uFillTx/>
                <a:latin typeface="IBM Plex Sans"/>
                <a:ea typeface="IBM Plex Sans"/>
              </a:rPr>
              <a:t> cu </a:t>
            </a:r>
            <a:r>
              <a:rPr lang="en-US" sz="1400" b="0" u="none" strike="noStrike">
                <a:solidFill>
                  <a:srgbClr val="2B5E96"/>
                </a:solidFill>
                <a:effectLst/>
                <a:uFillTx/>
                <a:latin typeface="IBM Plex Sans"/>
                <a:ea typeface="IBM Plex Sans"/>
              </a:rPr>
              <a:t>applyTo</a:t>
            </a:r>
            <a:r>
              <a:rPr lang="en-US" sz="1400" b="0" u="none" strike="noStrike">
                <a:solidFill>
                  <a:srgbClr val="444C5C"/>
                </a:solidFill>
                <a:effectLst/>
                <a:uFillTx/>
                <a:latin typeface="IBM Plex Sans"/>
                <a:ea typeface="IBM Plex Sans"/>
              </a:rPr>
              <a:t> pe tipuri de fișiere.</a:t>
            </a:r>
            <a:endParaRPr lang="en-US" sz="1400" b="0" u="none" strike="noStrike">
              <a:solidFill>
                <a:srgbClr val="000000"/>
              </a:solidFill>
              <a:effectLst/>
              <a:uFillTx/>
              <a:latin typeface="Arial"/>
            </a:endParaRPr>
          </a:p>
        </p:txBody>
      </p:sp>
      <p:sp>
        <p:nvSpPr>
          <p:cNvPr id="226" name="Shape 3"/>
          <p:cNvSpPr/>
          <p:nvPr/>
        </p:nvSpPr>
        <p:spPr>
          <a:xfrm>
            <a:off x="5054400" y="1775520"/>
            <a:ext cx="6324480" cy="3450600"/>
          </a:xfrm>
          <a:prstGeom prst="roundRect">
            <a:avLst>
              <a:gd name="adj" fmla="val 2944"/>
            </a:avLst>
          </a:prstGeom>
          <a:solidFill>
            <a:srgbClr val="131A2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7" name="Text 4"/>
          <p:cNvSpPr/>
          <p:nvPr/>
        </p:nvSpPr>
        <p:spPr>
          <a:xfrm>
            <a:off x="5257800" y="1927800"/>
            <a:ext cx="6095520" cy="223200"/>
          </a:xfrm>
          <a:prstGeom prst="rect">
            <a:avLst/>
          </a:prstGeom>
          <a:noFill/>
          <a:ln w="0">
            <a:noFill/>
          </a:ln>
        </p:spPr>
        <p:style>
          <a:lnRef idx="0"/>
          <a:fillRef idx="0"/>
          <a:effectRef idx="0"/>
          <a:fontRef idx="minor"/>
        </p:style>
        <p:txBody>
          <a:bodyPr lIns="0" tIns="0" rIns="0" bIns="0" anchor="t">
            <a:normAutofit/>
          </a:bodyPr>
          <a:p>
            <a:pPr defTabSz="914400">
              <a:lnSpc>
                <a:spcPts val="1559"/>
              </a:lnSpc>
              <a:tabLst>
                <a:tab pos="0" algn="l"/>
              </a:tabLst>
            </a:pPr>
            <a:r>
              <a:rPr lang="en-US" sz="1200" b="0" u="none" strike="noStrike">
                <a:solidFill>
                  <a:srgbClr val="F2A66B"/>
                </a:solidFill>
                <a:effectLst/>
                <a:uFillTx/>
                <a:latin typeface="JetBrains Mono"/>
                <a:ea typeface="JetBrains Mono"/>
              </a:rPr>
              <a:t>AGENTS.md</a:t>
            </a:r>
            <a:endParaRPr lang="en-US" sz="1200" b="0" u="none" strike="noStrike">
              <a:solidFill>
                <a:srgbClr val="000000"/>
              </a:solidFill>
              <a:effectLst/>
              <a:uFillTx/>
              <a:latin typeface="Arial"/>
            </a:endParaRPr>
          </a:p>
        </p:txBody>
      </p:sp>
      <p:sp>
        <p:nvSpPr>
          <p:cNvPr id="228" name="Text 5"/>
          <p:cNvSpPr/>
          <p:nvPr/>
        </p:nvSpPr>
        <p:spPr>
          <a:xfrm>
            <a:off x="5257800" y="2202120"/>
            <a:ext cx="6095520" cy="2896920"/>
          </a:xfrm>
          <a:prstGeom prst="rect">
            <a:avLst/>
          </a:prstGeom>
          <a:noFill/>
          <a:ln w="0">
            <a:noFill/>
          </a:ln>
        </p:spPr>
        <p:style>
          <a:lnRef idx="0"/>
          <a:fillRef idx="0"/>
          <a:effectRef idx="0"/>
          <a:fontRef idx="minor"/>
        </p:style>
        <p:txBody>
          <a:bodyPr wrap="none" lIns="0" tIns="0" rIns="0" bIns="0" anchor="t">
            <a:normAutofit/>
          </a:bodyPr>
          <a:p>
            <a:pPr defTabSz="914400">
              <a:lnSpc>
                <a:spcPts val="1740"/>
              </a:lnSpc>
              <a:tabLst>
                <a:tab pos="0" algn="l"/>
              </a:tabLst>
            </a:pPr>
            <a:r>
              <a:rPr lang="en-US" sz="1200" b="0" u="none" strike="noStrike">
                <a:solidFill>
                  <a:srgbClr val="F2A66B"/>
                </a:solidFill>
                <a:effectLst/>
                <a:uFillTx/>
                <a:latin typeface="JetBrains Mono"/>
                <a:ea typeface="JetBrains Mono"/>
              </a:rPr>
              <a:t># AGENTS.md</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Proiect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API facturare (Spring Boot, PostgreSQL), UI în /web (React).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Comenzi</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Build: `maven build`</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Teste: `mvn test --filter Category!=Slow`</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Lint web: `cd web &amp;&amp; npm run lint`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Convenții</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Fără logică în controllere; totul în /Services.</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Migrațiile entităților se generează, nu se scriu de mână.</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Commit-uri: Conventional Commits.</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Nu face</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Nu modifica /Legacy fără să întrebi.</a:t>
            </a:r>
            <a:endParaRPr lang="en-US" sz="1200" b="0" u="none" strike="noStrike">
              <a:solidFill>
                <a:srgbClr val="000000"/>
              </a:solidFill>
              <a:effectLst/>
              <a:uFillTx/>
              <a:latin typeface="Arial"/>
            </a:endParaRPr>
          </a:p>
        </p:txBody>
      </p:sp>
      <p:sp>
        <p:nvSpPr>
          <p:cNvPr id="229" name="Text 6"/>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230" name="Text 7"/>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06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231"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04 · AGENTS.MD</a:t>
            </a:r>
            <a:endParaRPr lang="en-US" sz="1200" b="0" u="none" strike="noStrike">
              <a:solidFill>
                <a:srgbClr val="000000"/>
              </a:solidFill>
              <a:effectLst/>
              <a:uFillTx/>
              <a:latin typeface="Arial"/>
            </a:endParaRPr>
          </a:p>
        </p:txBody>
      </p:sp>
      <p:sp>
        <p:nvSpPr>
          <p:cNvPr id="232"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User vs repo vs ierarhie de foldere</a:t>
            </a:r>
            <a:endParaRPr lang="en-US" sz="3000" b="0" u="none" strike="noStrike">
              <a:solidFill>
                <a:schemeClr val="dk1"/>
              </a:solidFill>
              <a:effectLst/>
              <a:uFillTx/>
              <a:latin typeface="IBM Plex Sans"/>
            </a:endParaRPr>
          </a:p>
        </p:txBody>
      </p:sp>
      <p:sp>
        <p:nvSpPr>
          <p:cNvPr id="233" name="Shape 2"/>
          <p:cNvSpPr/>
          <p:nvPr/>
        </p:nvSpPr>
        <p:spPr>
          <a:xfrm>
            <a:off x="816120" y="1778400"/>
            <a:ext cx="3413880" cy="2678040"/>
          </a:xfrm>
          <a:prstGeom prst="roundRect">
            <a:avLst>
              <a:gd name="adj" fmla="val 367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34" name="Image 0" descr="Users"/>
          <p:cNvPicPr/>
          <p:nvPr/>
        </p:nvPicPr>
        <p:blipFill>
          <a:blip r:embed="rId1"/>
          <a:stretch/>
        </p:blipFill>
        <p:spPr>
          <a:xfrm>
            <a:off x="1021320" y="1991520"/>
            <a:ext cx="228240" cy="228240"/>
          </a:xfrm>
          <a:prstGeom prst="rect">
            <a:avLst/>
          </a:prstGeom>
          <a:noFill/>
          <a:ln w="0">
            <a:noFill/>
          </a:ln>
        </p:spPr>
      </p:pic>
      <p:sp>
        <p:nvSpPr>
          <p:cNvPr id="235" name="Text 3"/>
          <p:cNvSpPr/>
          <p:nvPr/>
        </p:nvSpPr>
        <p:spPr>
          <a:xfrm>
            <a:off x="1351440" y="1983960"/>
            <a:ext cx="18025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User (personal)</a:t>
            </a:r>
            <a:endParaRPr lang="en-US" sz="1600" b="0" u="none" strike="noStrike">
              <a:solidFill>
                <a:srgbClr val="000000"/>
              </a:solidFill>
              <a:effectLst/>
              <a:uFillTx/>
              <a:latin typeface="Arial"/>
            </a:endParaRPr>
          </a:p>
        </p:txBody>
      </p:sp>
      <p:sp>
        <p:nvSpPr>
          <p:cNvPr id="236" name="Text 4"/>
          <p:cNvSpPr/>
          <p:nvPr/>
        </p:nvSpPr>
        <p:spPr>
          <a:xfrm>
            <a:off x="1021320" y="2219760"/>
            <a:ext cx="3093480" cy="878400"/>
          </a:xfrm>
          <a:prstGeom prst="rect">
            <a:avLst/>
          </a:prstGeom>
          <a:noFill/>
          <a:ln w="0">
            <a:noFill/>
          </a:ln>
        </p:spPr>
        <p:style>
          <a:lnRef idx="0"/>
          <a:fillRef idx="0"/>
          <a:effectRef idx="0"/>
          <a:fontRef idx="minor"/>
        </p:style>
        <p:txBody>
          <a:bodyPr lIns="0" tIns="0" rIns="0" bIns="0" anchor="t">
            <a:normAutofit fontScale="77500" lnSpcReduction="19999"/>
          </a:bodyPr>
          <a:p>
            <a:pPr defTabSz="914400">
              <a:lnSpc>
                <a:spcPts val="1681"/>
              </a:lnSpc>
              <a:tabLst>
                <a:tab pos="0" algn="l"/>
              </a:tabLst>
            </a:pPr>
            <a:r>
              <a:rPr lang="en-US" sz="1200" b="0" u="none" strike="noStrike">
                <a:solidFill>
                  <a:srgbClr val="2B5E96"/>
                </a:solidFill>
                <a:effectLst/>
                <a:uFillTx/>
                <a:latin typeface="JetBrains Mono"/>
                <a:ea typeface="JetBrains Mono"/>
              </a:rPr>
              <a:t>~/.copilot/</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copilot-instructions.md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~/.copilot/instructions/</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*.instructions.md (testing.instructions.md, code-style.instructions.md)</a:t>
            </a:r>
            <a:endParaRPr lang="en-US" sz="1200" b="0" u="none" strike="noStrike">
              <a:solidFill>
                <a:srgbClr val="000000"/>
              </a:solidFill>
              <a:effectLst/>
              <a:uFillTx/>
              <a:latin typeface="Arial"/>
            </a:endParaRPr>
          </a:p>
        </p:txBody>
      </p:sp>
      <p:sp>
        <p:nvSpPr>
          <p:cNvPr id="237" name="Text 5"/>
          <p:cNvSpPr/>
          <p:nvPr/>
        </p:nvSpPr>
        <p:spPr>
          <a:xfrm>
            <a:off x="1021320" y="325872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Preferințele tale, în toate proiectele. Nu ajung în git.</a:t>
            </a:r>
            <a:endParaRPr lang="en-US" sz="1200" b="0" u="none" strike="noStrike">
              <a:solidFill>
                <a:srgbClr val="000000"/>
              </a:solidFill>
              <a:effectLst/>
              <a:uFillTx/>
              <a:latin typeface="Arial"/>
            </a:endParaRPr>
          </a:p>
        </p:txBody>
      </p:sp>
      <p:sp>
        <p:nvSpPr>
          <p:cNvPr id="238" name="Shape 6"/>
          <p:cNvSpPr/>
          <p:nvPr/>
        </p:nvSpPr>
        <p:spPr>
          <a:xfrm>
            <a:off x="1033920" y="3773880"/>
            <a:ext cx="360" cy="477720"/>
          </a:xfrm>
          <a:prstGeom prst="line">
            <a:avLst/>
          </a:prstGeom>
          <a:ln w="25400">
            <a:solidFill>
              <a:srgbClr val="E8823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39" name="Text 7"/>
          <p:cNvSpPr/>
          <p:nvPr/>
        </p:nvSpPr>
        <p:spPr>
          <a:xfrm>
            <a:off x="1146600" y="3799800"/>
            <a:ext cx="29642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i="1" u="none" strike="noStrike">
                <a:solidFill>
                  <a:srgbClr val="131A2A"/>
                </a:solidFill>
                <a:effectLst/>
                <a:uFillTx/>
                <a:latin typeface="IBM Plex Sans"/>
                <a:ea typeface="IBM Plex Sans"/>
              </a:rPr>
              <a:t>„Răspunde în română. Explică pe scurt înainte de modificări mari.”</a:t>
            </a:r>
            <a:endParaRPr lang="en-US" sz="1200" b="0" u="none" strike="noStrike">
              <a:solidFill>
                <a:srgbClr val="000000"/>
              </a:solidFill>
              <a:effectLst/>
              <a:uFillTx/>
              <a:latin typeface="Arial"/>
            </a:endParaRPr>
          </a:p>
        </p:txBody>
      </p:sp>
      <p:sp>
        <p:nvSpPr>
          <p:cNvPr id="240" name="Shape 8"/>
          <p:cNvSpPr/>
          <p:nvPr/>
        </p:nvSpPr>
        <p:spPr>
          <a:xfrm>
            <a:off x="4388760" y="1778400"/>
            <a:ext cx="3413880" cy="2678040"/>
          </a:xfrm>
          <a:prstGeom prst="roundRect">
            <a:avLst>
              <a:gd name="adj" fmla="val 367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41" name="Image 1" descr="Home"/>
          <p:cNvPicPr/>
          <p:nvPr/>
        </p:nvPicPr>
        <p:blipFill>
          <a:blip r:embed="rId2"/>
          <a:stretch/>
        </p:blipFill>
        <p:spPr>
          <a:xfrm>
            <a:off x="4594320" y="1991520"/>
            <a:ext cx="228240" cy="228240"/>
          </a:xfrm>
          <a:prstGeom prst="rect">
            <a:avLst/>
          </a:prstGeom>
          <a:noFill/>
          <a:ln w="0">
            <a:noFill/>
          </a:ln>
        </p:spPr>
      </p:pic>
      <p:sp>
        <p:nvSpPr>
          <p:cNvPr id="242" name="Text 9"/>
          <p:cNvSpPr/>
          <p:nvPr/>
        </p:nvSpPr>
        <p:spPr>
          <a:xfrm>
            <a:off x="4924440" y="1983960"/>
            <a:ext cx="164016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Repo (echipa)</a:t>
            </a:r>
            <a:endParaRPr lang="en-US" sz="1600" b="0" u="none" strike="noStrike">
              <a:solidFill>
                <a:srgbClr val="000000"/>
              </a:solidFill>
              <a:effectLst/>
              <a:uFillTx/>
              <a:latin typeface="Arial"/>
            </a:endParaRPr>
          </a:p>
        </p:txBody>
      </p:sp>
      <p:sp>
        <p:nvSpPr>
          <p:cNvPr id="243" name="Text 10"/>
          <p:cNvSpPr/>
          <p:nvPr/>
        </p:nvSpPr>
        <p:spPr>
          <a:xfrm>
            <a:off x="4594320" y="2316600"/>
            <a:ext cx="309348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.github/</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copilot-instructions.md</a:t>
            </a:r>
            <a:endParaRPr lang="en-US" sz="1200" b="0" u="none" strike="noStrike">
              <a:solidFill>
                <a:srgbClr val="000000"/>
              </a:solidFill>
              <a:effectLst/>
              <a:uFillTx/>
              <a:latin typeface="Arial"/>
            </a:endParaRPr>
          </a:p>
        </p:txBody>
      </p:sp>
      <p:sp>
        <p:nvSpPr>
          <p:cNvPr id="244" name="Text 11"/>
          <p:cNvSpPr/>
          <p:nvPr/>
        </p:nvSpPr>
        <p:spPr>
          <a:xfrm>
            <a:off x="4594320" y="304524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Regulile echipei, versionate în git, aceleași pentru toți.</a:t>
            </a:r>
            <a:endParaRPr lang="en-US" sz="1200" b="0" u="none" strike="noStrike">
              <a:solidFill>
                <a:srgbClr val="000000"/>
              </a:solidFill>
              <a:effectLst/>
              <a:uFillTx/>
              <a:latin typeface="Arial"/>
            </a:endParaRPr>
          </a:p>
        </p:txBody>
      </p:sp>
      <p:sp>
        <p:nvSpPr>
          <p:cNvPr id="245" name="Shape 12"/>
          <p:cNvSpPr/>
          <p:nvPr/>
        </p:nvSpPr>
        <p:spPr>
          <a:xfrm>
            <a:off x="4606560" y="3560760"/>
            <a:ext cx="360" cy="477360"/>
          </a:xfrm>
          <a:prstGeom prst="line">
            <a:avLst/>
          </a:prstGeom>
          <a:ln w="25400">
            <a:solidFill>
              <a:srgbClr val="E8823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46" name="Text 13"/>
          <p:cNvSpPr/>
          <p:nvPr/>
        </p:nvSpPr>
        <p:spPr>
          <a:xfrm>
            <a:off x="4719600" y="3586320"/>
            <a:ext cx="29642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i="1" u="none" strike="noStrike">
                <a:solidFill>
                  <a:srgbClr val="131A2A"/>
                </a:solidFill>
                <a:effectLst/>
                <a:uFillTx/>
                <a:latin typeface="IBM Plex Sans"/>
                <a:ea typeface="IBM Plex Sans"/>
              </a:rPr>
              <a:t>Comenzi de build/test, structura repo-ului, convenții.</a:t>
            </a:r>
            <a:endParaRPr lang="en-US" sz="1200" b="0" u="none" strike="noStrike">
              <a:solidFill>
                <a:srgbClr val="000000"/>
              </a:solidFill>
              <a:effectLst/>
              <a:uFillTx/>
              <a:latin typeface="Arial"/>
            </a:endParaRPr>
          </a:p>
        </p:txBody>
      </p:sp>
      <p:sp>
        <p:nvSpPr>
          <p:cNvPr id="247" name="Shape 14"/>
          <p:cNvSpPr/>
          <p:nvPr/>
        </p:nvSpPr>
        <p:spPr>
          <a:xfrm>
            <a:off x="7961760" y="1778400"/>
            <a:ext cx="3413880" cy="2678040"/>
          </a:xfrm>
          <a:prstGeom prst="roundRect">
            <a:avLst>
              <a:gd name="adj" fmla="val 367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48" name="Image 2" descr="Code"/>
          <p:cNvPicPr/>
          <p:nvPr/>
        </p:nvPicPr>
        <p:blipFill>
          <a:blip r:embed="rId3"/>
          <a:stretch/>
        </p:blipFill>
        <p:spPr>
          <a:xfrm>
            <a:off x="8167320" y="1991520"/>
            <a:ext cx="228240" cy="228240"/>
          </a:xfrm>
          <a:prstGeom prst="rect">
            <a:avLst/>
          </a:prstGeom>
          <a:noFill/>
          <a:ln w="0">
            <a:noFill/>
          </a:ln>
        </p:spPr>
      </p:pic>
      <p:sp>
        <p:nvSpPr>
          <p:cNvPr id="249" name="Text 15"/>
          <p:cNvSpPr/>
          <p:nvPr/>
        </p:nvSpPr>
        <p:spPr>
          <a:xfrm>
            <a:off x="8497440" y="1983960"/>
            <a:ext cx="184680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Ierarhie (folder)</a:t>
            </a:r>
            <a:endParaRPr lang="en-US" sz="1600" b="0" u="none" strike="noStrike">
              <a:solidFill>
                <a:srgbClr val="000000"/>
              </a:solidFill>
              <a:effectLst/>
              <a:uFillTx/>
              <a:latin typeface="Arial"/>
            </a:endParaRPr>
          </a:p>
        </p:txBody>
      </p:sp>
      <p:sp>
        <p:nvSpPr>
          <p:cNvPr id="250" name="Text 16"/>
          <p:cNvSpPr/>
          <p:nvPr/>
        </p:nvSpPr>
        <p:spPr>
          <a:xfrm>
            <a:off x="8167320" y="2316600"/>
            <a:ext cx="309348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web/AGENTS.md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api/AGENTS.md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packages/x/AGENTS.md</a:t>
            </a:r>
            <a:endParaRPr lang="en-US" sz="1200" b="0" u="none" strike="noStrike">
              <a:solidFill>
                <a:srgbClr val="000000"/>
              </a:solidFill>
              <a:effectLst/>
              <a:uFillTx/>
              <a:latin typeface="Arial"/>
            </a:endParaRPr>
          </a:p>
        </p:txBody>
      </p:sp>
      <p:sp>
        <p:nvSpPr>
          <p:cNvPr id="251" name="Text 17"/>
          <p:cNvSpPr/>
          <p:nvPr/>
        </p:nvSpPr>
        <p:spPr>
          <a:xfrm>
            <a:off x="8167320" y="304524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Reguli locale pentru un pachet sau un </a:t>
            </a:r>
            <a:r>
              <a:rPr lang="en-US" sz="1200" b="0" u="none" strike="noStrike">
                <a:solidFill>
                  <a:srgbClr val="444C5C"/>
                </a:solidFill>
                <a:effectLst/>
                <a:uFillTx/>
                <a:latin typeface="IBM Plex Sans"/>
                <a:ea typeface="IBM Plex Sans"/>
              </a:rPr>
              <a:t>monorepo.</a:t>
            </a:r>
            <a:endParaRPr lang="en-US" sz="1200" b="0" u="none" strike="noStrike">
              <a:solidFill>
                <a:srgbClr val="000000"/>
              </a:solidFill>
              <a:effectLst/>
              <a:uFillTx/>
              <a:latin typeface="Arial"/>
            </a:endParaRPr>
          </a:p>
        </p:txBody>
      </p:sp>
      <p:sp>
        <p:nvSpPr>
          <p:cNvPr id="252" name="Shape 18"/>
          <p:cNvSpPr/>
          <p:nvPr/>
        </p:nvSpPr>
        <p:spPr>
          <a:xfrm>
            <a:off x="8179560" y="3560760"/>
            <a:ext cx="360" cy="477360"/>
          </a:xfrm>
          <a:prstGeom prst="line">
            <a:avLst/>
          </a:prstGeom>
          <a:ln w="25400">
            <a:solidFill>
              <a:srgbClr val="E8823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53" name="Text 19"/>
          <p:cNvSpPr/>
          <p:nvPr/>
        </p:nvSpPr>
        <p:spPr>
          <a:xfrm>
            <a:off x="8292600" y="3586320"/>
            <a:ext cx="29642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i="1" u="none" strike="noStrike">
                <a:solidFill>
                  <a:srgbClr val="131A2A"/>
                </a:solidFill>
                <a:effectLst/>
                <a:uFillTx/>
                <a:latin typeface="IBM Plex Sans"/>
                <a:ea typeface="IBM Plex Sans"/>
              </a:rPr>
              <a:t>„În /web: componente funcționale, Tailwind, teste cu Vitest.”</a:t>
            </a:r>
            <a:endParaRPr lang="en-US" sz="1200" b="0" u="none" strike="noStrike">
              <a:solidFill>
                <a:srgbClr val="000000"/>
              </a:solidFill>
              <a:effectLst/>
              <a:uFillTx/>
              <a:latin typeface="Arial"/>
            </a:endParaRPr>
          </a:p>
        </p:txBody>
      </p:sp>
      <p:sp>
        <p:nvSpPr>
          <p:cNvPr id="254" name="Text 20"/>
          <p:cNvSpPr/>
          <p:nvPr/>
        </p:nvSpPr>
        <p:spPr>
          <a:xfrm>
            <a:off x="812880" y="4714200"/>
            <a:ext cx="10883160" cy="52272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Nivelurile se adună. Pe același subiect, </a:t>
            </a:r>
            <a:r>
              <a:rPr lang="en-US" sz="1400" b="1" u="none" strike="noStrike">
                <a:solidFill>
                  <a:srgbClr val="444C5C"/>
                </a:solidFill>
                <a:effectLst/>
                <a:uFillTx/>
                <a:latin typeface="IBM Plex Sans"/>
                <a:ea typeface="IBM Plex Sans"/>
              </a:rPr>
              <a:t>cel mai apropiat AGENTS.md de fișierul editat câștigă</a:t>
            </a:r>
            <a:r>
              <a:rPr lang="en-US" sz="1400" b="0" u="none" strike="noStrike">
                <a:solidFill>
                  <a:srgbClr val="444C5C"/>
                </a:solidFill>
                <a:effectLst/>
                <a:uFillTx/>
                <a:latin typeface="IBM Plex Sans"/>
                <a:ea typeface="IBM Plex Sans"/>
              </a:rPr>
              <a:t>. În VS Code, fișierele din subfoldere se activează cu </a:t>
            </a:r>
            <a:r>
              <a:rPr lang="en-US" sz="1400" b="0" u="none" strike="noStrike">
                <a:solidFill>
                  <a:srgbClr val="2B5E96"/>
                </a:solidFill>
                <a:effectLst/>
                <a:uFillTx/>
                <a:latin typeface="IBM Plex Sans"/>
                <a:ea typeface="IBM Plex Sans"/>
              </a:rPr>
              <a:t>chat.useNestedAgentsMdFiles</a:t>
            </a:r>
            <a:r>
              <a:rPr lang="en-US" sz="1400" b="0" u="none" strike="noStrike">
                <a:solidFill>
                  <a:srgbClr val="444C5C"/>
                </a:solidFill>
                <a:effectLst/>
                <a:uFillTx/>
                <a:latin typeface="IBM Plex Sans"/>
                <a:ea typeface="IBM Plex Sans"/>
              </a:rPr>
              <a:t> (experimental).</a:t>
            </a:r>
            <a:endParaRPr lang="en-US" sz="1400" b="0" u="none" strike="noStrike">
              <a:solidFill>
                <a:srgbClr val="000000"/>
              </a:solidFill>
              <a:effectLst/>
              <a:uFillTx/>
              <a:latin typeface="Arial"/>
            </a:endParaRPr>
          </a:p>
        </p:txBody>
      </p:sp>
      <p:sp>
        <p:nvSpPr>
          <p:cNvPr id="255" name="Text 21"/>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256" name="Text 22"/>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07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276"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05 · TOOL-URI</a:t>
            </a:r>
            <a:endParaRPr lang="en-US" sz="1200" b="0" u="none" strike="noStrike">
              <a:solidFill>
                <a:srgbClr val="000000"/>
              </a:solidFill>
              <a:effectLst/>
              <a:uFillTx/>
              <a:latin typeface="Arial"/>
            </a:endParaRPr>
          </a:p>
        </p:txBody>
      </p:sp>
      <p:sp>
        <p:nvSpPr>
          <p:cNvPr id="277"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Trusa agentului în VS Code</a:t>
            </a:r>
            <a:endParaRPr lang="en-US" sz="3000" b="0" u="none" strike="noStrike">
              <a:solidFill>
                <a:schemeClr val="dk1"/>
              </a:solidFill>
              <a:effectLst/>
              <a:uFillTx/>
              <a:latin typeface="IBM Plex Sans"/>
            </a:endParaRPr>
          </a:p>
        </p:txBody>
      </p:sp>
      <p:sp>
        <p:nvSpPr>
          <p:cNvPr id="278" name="Shape 2"/>
          <p:cNvSpPr/>
          <p:nvPr/>
        </p:nvSpPr>
        <p:spPr>
          <a:xfrm>
            <a:off x="816120" y="177840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79" name="Image 0" descr="Book"/>
          <p:cNvPicPr/>
          <p:nvPr/>
        </p:nvPicPr>
        <p:blipFill>
          <a:blip r:embed="rId1"/>
          <a:stretch/>
        </p:blipFill>
        <p:spPr>
          <a:xfrm>
            <a:off x="995760" y="1965960"/>
            <a:ext cx="228240" cy="228240"/>
          </a:xfrm>
          <a:prstGeom prst="rect">
            <a:avLst/>
          </a:prstGeom>
          <a:noFill/>
          <a:ln w="0">
            <a:noFill/>
          </a:ln>
        </p:spPr>
      </p:pic>
      <p:sp>
        <p:nvSpPr>
          <p:cNvPr id="280" name="Text 3"/>
          <p:cNvSpPr/>
          <p:nvPr/>
        </p:nvSpPr>
        <p:spPr>
          <a:xfrm>
            <a:off x="1325880" y="1958400"/>
            <a:ext cx="6278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Citire</a:t>
            </a:r>
            <a:endParaRPr lang="en-US" sz="1600" b="0" u="none" strike="noStrike">
              <a:solidFill>
                <a:srgbClr val="000000"/>
              </a:solidFill>
              <a:effectLst/>
              <a:uFillTx/>
              <a:latin typeface="Arial"/>
            </a:endParaRPr>
          </a:p>
        </p:txBody>
      </p:sp>
      <p:sp>
        <p:nvSpPr>
          <p:cNvPr id="281" name="Text 4"/>
          <p:cNvSpPr/>
          <p:nvPr/>
        </p:nvSpPr>
        <p:spPr>
          <a:xfrm>
            <a:off x="995760" y="2265840"/>
            <a:ext cx="22255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#read</a:t>
            </a:r>
            <a:endParaRPr lang="en-US" sz="1200" b="0" u="none" strike="noStrike">
              <a:solidFill>
                <a:srgbClr val="000000"/>
              </a:solidFill>
              <a:effectLst/>
              <a:uFillTx/>
              <a:latin typeface="Arial"/>
            </a:endParaRPr>
          </a:p>
        </p:txBody>
      </p:sp>
      <p:sp>
        <p:nvSpPr>
          <p:cNvPr id="282" name="Text 5"/>
          <p:cNvSpPr/>
          <p:nvPr/>
        </p:nvSpPr>
        <p:spPr>
          <a:xfrm>
            <a:off x="995760" y="2542680"/>
            <a:ext cx="2225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Citește fișiere și problemele din editor.</a:t>
            </a:r>
            <a:endParaRPr lang="en-US" sz="1200" b="0" u="none" strike="noStrike">
              <a:solidFill>
                <a:srgbClr val="000000"/>
              </a:solidFill>
              <a:effectLst/>
              <a:uFillTx/>
              <a:latin typeface="Arial"/>
            </a:endParaRPr>
          </a:p>
        </p:txBody>
      </p:sp>
      <p:sp>
        <p:nvSpPr>
          <p:cNvPr id="283" name="Shape 6"/>
          <p:cNvSpPr/>
          <p:nvPr/>
        </p:nvSpPr>
        <p:spPr>
          <a:xfrm>
            <a:off x="3495600" y="177840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84" name="Image 1" descr="Search"/>
          <p:cNvPicPr/>
          <p:nvPr/>
        </p:nvPicPr>
        <p:blipFill>
          <a:blip r:embed="rId2"/>
          <a:stretch/>
        </p:blipFill>
        <p:spPr>
          <a:xfrm>
            <a:off x="3675600" y="1965960"/>
            <a:ext cx="228240" cy="228240"/>
          </a:xfrm>
          <a:prstGeom prst="rect">
            <a:avLst/>
          </a:prstGeom>
          <a:noFill/>
          <a:ln w="0">
            <a:noFill/>
          </a:ln>
        </p:spPr>
      </p:pic>
      <p:sp>
        <p:nvSpPr>
          <p:cNvPr id="285" name="Text 7"/>
          <p:cNvSpPr/>
          <p:nvPr/>
        </p:nvSpPr>
        <p:spPr>
          <a:xfrm>
            <a:off x="4005720" y="1958400"/>
            <a:ext cx="9320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Căutare</a:t>
            </a:r>
            <a:endParaRPr lang="en-US" sz="1600" b="0" u="none" strike="noStrike">
              <a:solidFill>
                <a:srgbClr val="000000"/>
              </a:solidFill>
              <a:effectLst/>
              <a:uFillTx/>
              <a:latin typeface="Arial"/>
            </a:endParaRPr>
          </a:p>
        </p:txBody>
      </p:sp>
      <p:sp>
        <p:nvSpPr>
          <p:cNvPr id="286" name="Text 8"/>
          <p:cNvSpPr/>
          <p:nvPr/>
        </p:nvSpPr>
        <p:spPr>
          <a:xfrm>
            <a:off x="3675600" y="2265840"/>
            <a:ext cx="22258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#search/codebase</a:t>
            </a:r>
            <a:endParaRPr lang="en-US" sz="1200" b="0" u="none" strike="noStrike">
              <a:solidFill>
                <a:srgbClr val="000000"/>
              </a:solidFill>
              <a:effectLst/>
              <a:uFillTx/>
              <a:latin typeface="Arial"/>
            </a:endParaRPr>
          </a:p>
        </p:txBody>
      </p:sp>
      <p:sp>
        <p:nvSpPr>
          <p:cNvPr id="287" name="Text 9"/>
          <p:cNvSpPr/>
          <p:nvPr/>
        </p:nvSpPr>
        <p:spPr>
          <a:xfrm>
            <a:off x="3675600" y="2542680"/>
            <a:ext cx="22258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Grep, căutare de fișiere și căutare semantică.</a:t>
            </a:r>
            <a:endParaRPr lang="en-US" sz="1200" b="0" u="none" strike="noStrike">
              <a:solidFill>
                <a:srgbClr val="000000"/>
              </a:solidFill>
              <a:effectLst/>
              <a:uFillTx/>
              <a:latin typeface="Arial"/>
            </a:endParaRPr>
          </a:p>
        </p:txBody>
      </p:sp>
      <p:sp>
        <p:nvSpPr>
          <p:cNvPr id="288" name="Shape 10"/>
          <p:cNvSpPr/>
          <p:nvPr/>
        </p:nvSpPr>
        <p:spPr>
          <a:xfrm>
            <a:off x="6175440" y="177840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89" name="Image 2" descr="Code"/>
          <p:cNvPicPr/>
          <p:nvPr/>
        </p:nvPicPr>
        <p:blipFill>
          <a:blip r:embed="rId3"/>
          <a:stretch/>
        </p:blipFill>
        <p:spPr>
          <a:xfrm>
            <a:off x="6355080" y="1965960"/>
            <a:ext cx="228240" cy="228240"/>
          </a:xfrm>
          <a:prstGeom prst="rect">
            <a:avLst/>
          </a:prstGeom>
          <a:noFill/>
          <a:ln w="0">
            <a:noFill/>
          </a:ln>
        </p:spPr>
      </p:pic>
      <p:sp>
        <p:nvSpPr>
          <p:cNvPr id="290" name="Text 11"/>
          <p:cNvSpPr/>
          <p:nvPr/>
        </p:nvSpPr>
        <p:spPr>
          <a:xfrm>
            <a:off x="6685560" y="1958400"/>
            <a:ext cx="8395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Editare</a:t>
            </a:r>
            <a:endParaRPr lang="en-US" sz="1600" b="0" u="none" strike="noStrike">
              <a:solidFill>
                <a:srgbClr val="000000"/>
              </a:solidFill>
              <a:effectLst/>
              <a:uFillTx/>
              <a:latin typeface="Arial"/>
            </a:endParaRPr>
          </a:p>
        </p:txBody>
      </p:sp>
      <p:sp>
        <p:nvSpPr>
          <p:cNvPr id="291" name="Text 12"/>
          <p:cNvSpPr/>
          <p:nvPr/>
        </p:nvSpPr>
        <p:spPr>
          <a:xfrm>
            <a:off x="6355080" y="2265840"/>
            <a:ext cx="22255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#edit/editFiles</a:t>
            </a:r>
            <a:endParaRPr lang="en-US" sz="1200" b="0" u="none" strike="noStrike">
              <a:solidFill>
                <a:srgbClr val="000000"/>
              </a:solidFill>
              <a:effectLst/>
              <a:uFillTx/>
              <a:latin typeface="Arial"/>
            </a:endParaRPr>
          </a:p>
        </p:txBody>
      </p:sp>
      <p:sp>
        <p:nvSpPr>
          <p:cNvPr id="292" name="Text 13"/>
          <p:cNvSpPr/>
          <p:nvPr/>
        </p:nvSpPr>
        <p:spPr>
          <a:xfrm>
            <a:off x="6355080" y="2542680"/>
            <a:ext cx="2225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Creează și modifică fișiere; vezi diff-ul.</a:t>
            </a:r>
            <a:endParaRPr lang="en-US" sz="1200" b="0" u="none" strike="noStrike">
              <a:solidFill>
                <a:srgbClr val="000000"/>
              </a:solidFill>
              <a:effectLst/>
              <a:uFillTx/>
              <a:latin typeface="Arial"/>
            </a:endParaRPr>
          </a:p>
        </p:txBody>
      </p:sp>
      <p:sp>
        <p:nvSpPr>
          <p:cNvPr id="293" name="Shape 14"/>
          <p:cNvSpPr/>
          <p:nvPr/>
        </p:nvSpPr>
        <p:spPr>
          <a:xfrm>
            <a:off x="8854920" y="177840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94" name="Image 3" descr="Play"/>
          <p:cNvPicPr/>
          <p:nvPr/>
        </p:nvPicPr>
        <p:blipFill>
          <a:blip r:embed="rId4"/>
          <a:stretch/>
        </p:blipFill>
        <p:spPr>
          <a:xfrm>
            <a:off x="9034920" y="1965960"/>
            <a:ext cx="228240" cy="228240"/>
          </a:xfrm>
          <a:prstGeom prst="rect">
            <a:avLst/>
          </a:prstGeom>
          <a:noFill/>
          <a:ln w="0">
            <a:noFill/>
          </a:ln>
        </p:spPr>
      </p:pic>
      <p:sp>
        <p:nvSpPr>
          <p:cNvPr id="295" name="Text 15"/>
          <p:cNvSpPr/>
          <p:nvPr/>
        </p:nvSpPr>
        <p:spPr>
          <a:xfrm>
            <a:off x="9365040" y="1958400"/>
            <a:ext cx="10238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Execuție</a:t>
            </a:r>
            <a:endParaRPr lang="en-US" sz="1600" b="0" u="none" strike="noStrike">
              <a:solidFill>
                <a:srgbClr val="000000"/>
              </a:solidFill>
              <a:effectLst/>
              <a:uFillTx/>
              <a:latin typeface="Arial"/>
            </a:endParaRPr>
          </a:p>
        </p:txBody>
      </p:sp>
      <p:sp>
        <p:nvSpPr>
          <p:cNvPr id="296" name="Text 16"/>
          <p:cNvSpPr/>
          <p:nvPr/>
        </p:nvSpPr>
        <p:spPr>
          <a:xfrm>
            <a:off x="9034920" y="2265840"/>
            <a:ext cx="22258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#execute/runInTerminal</a:t>
            </a:r>
            <a:endParaRPr lang="en-US" sz="1200" b="0" u="none" strike="noStrike">
              <a:solidFill>
                <a:srgbClr val="000000"/>
              </a:solidFill>
              <a:effectLst/>
              <a:uFillTx/>
              <a:latin typeface="Arial"/>
            </a:endParaRPr>
          </a:p>
        </p:txBody>
      </p:sp>
      <p:sp>
        <p:nvSpPr>
          <p:cNvPr id="297" name="Text 17"/>
          <p:cNvSpPr/>
          <p:nvPr/>
        </p:nvSpPr>
        <p:spPr>
          <a:xfrm>
            <a:off x="9034920" y="2542680"/>
            <a:ext cx="22258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Rulează comenzi, build, teste în terminal.</a:t>
            </a:r>
            <a:endParaRPr lang="en-US" sz="1200" b="0" u="none" strike="noStrike">
              <a:solidFill>
                <a:srgbClr val="000000"/>
              </a:solidFill>
              <a:effectLst/>
              <a:uFillTx/>
              <a:latin typeface="Arial"/>
            </a:endParaRPr>
          </a:p>
        </p:txBody>
      </p:sp>
      <p:sp>
        <p:nvSpPr>
          <p:cNvPr id="298" name="Shape 18"/>
          <p:cNvSpPr/>
          <p:nvPr/>
        </p:nvSpPr>
        <p:spPr>
          <a:xfrm>
            <a:off x="816120" y="330768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99" name="Image 4" descr="Globe"/>
          <p:cNvPicPr/>
          <p:nvPr/>
        </p:nvPicPr>
        <p:blipFill>
          <a:blip r:embed="rId5"/>
          <a:stretch/>
        </p:blipFill>
        <p:spPr>
          <a:xfrm>
            <a:off x="995760" y="3495240"/>
            <a:ext cx="228240" cy="228240"/>
          </a:xfrm>
          <a:prstGeom prst="rect">
            <a:avLst/>
          </a:prstGeom>
          <a:noFill/>
          <a:ln w="0">
            <a:noFill/>
          </a:ln>
        </p:spPr>
      </p:pic>
      <p:sp>
        <p:nvSpPr>
          <p:cNvPr id="300" name="Text 19"/>
          <p:cNvSpPr/>
          <p:nvPr/>
        </p:nvSpPr>
        <p:spPr>
          <a:xfrm>
            <a:off x="1325880" y="3487680"/>
            <a:ext cx="51300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Web</a:t>
            </a:r>
            <a:endParaRPr lang="en-US" sz="1600" b="0" u="none" strike="noStrike">
              <a:solidFill>
                <a:srgbClr val="000000"/>
              </a:solidFill>
              <a:effectLst/>
              <a:uFillTx/>
              <a:latin typeface="Arial"/>
            </a:endParaRPr>
          </a:p>
        </p:txBody>
      </p:sp>
      <p:sp>
        <p:nvSpPr>
          <p:cNvPr id="301" name="Text 20"/>
          <p:cNvSpPr/>
          <p:nvPr/>
        </p:nvSpPr>
        <p:spPr>
          <a:xfrm>
            <a:off x="995760" y="3795120"/>
            <a:ext cx="22255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#web/fetch</a:t>
            </a:r>
            <a:endParaRPr lang="en-US" sz="1200" b="0" u="none" strike="noStrike">
              <a:solidFill>
                <a:srgbClr val="000000"/>
              </a:solidFill>
              <a:effectLst/>
              <a:uFillTx/>
              <a:latin typeface="Arial"/>
            </a:endParaRPr>
          </a:p>
        </p:txBody>
      </p:sp>
      <p:sp>
        <p:nvSpPr>
          <p:cNvPr id="302" name="Text 21"/>
          <p:cNvSpPr/>
          <p:nvPr/>
        </p:nvSpPr>
        <p:spPr>
          <a:xfrm>
            <a:off x="995760" y="4071960"/>
            <a:ext cx="2225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Descarcă o pagină: docs, changelog, issue.</a:t>
            </a:r>
            <a:endParaRPr lang="en-US" sz="1200" b="0" u="none" strike="noStrike">
              <a:solidFill>
                <a:srgbClr val="000000"/>
              </a:solidFill>
              <a:effectLst/>
              <a:uFillTx/>
              <a:latin typeface="Arial"/>
            </a:endParaRPr>
          </a:p>
        </p:txBody>
      </p:sp>
      <p:sp>
        <p:nvSpPr>
          <p:cNvPr id="303" name="Shape 22"/>
          <p:cNvSpPr/>
          <p:nvPr/>
        </p:nvSpPr>
        <p:spPr>
          <a:xfrm>
            <a:off x="3495600" y="330768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04" name="Image 5" descr="Activity"/>
          <p:cNvPicPr/>
          <p:nvPr/>
        </p:nvPicPr>
        <p:blipFill>
          <a:blip r:embed="rId6"/>
          <a:stretch/>
        </p:blipFill>
        <p:spPr>
          <a:xfrm>
            <a:off x="3675600" y="3495240"/>
            <a:ext cx="228240" cy="228240"/>
          </a:xfrm>
          <a:prstGeom prst="rect">
            <a:avLst/>
          </a:prstGeom>
          <a:noFill/>
          <a:ln w="0">
            <a:noFill/>
          </a:ln>
        </p:spPr>
      </p:pic>
      <p:sp>
        <p:nvSpPr>
          <p:cNvPr id="305" name="Text 23"/>
          <p:cNvSpPr/>
          <p:nvPr/>
        </p:nvSpPr>
        <p:spPr>
          <a:xfrm>
            <a:off x="4005720" y="3487680"/>
            <a:ext cx="95796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Browser</a:t>
            </a:r>
            <a:endParaRPr lang="en-US" sz="1600" b="0" u="none" strike="noStrike">
              <a:solidFill>
                <a:srgbClr val="000000"/>
              </a:solidFill>
              <a:effectLst/>
              <a:uFillTx/>
              <a:latin typeface="Arial"/>
            </a:endParaRPr>
          </a:p>
        </p:txBody>
      </p:sp>
      <p:sp>
        <p:nvSpPr>
          <p:cNvPr id="306" name="Text 24"/>
          <p:cNvSpPr/>
          <p:nvPr/>
        </p:nvSpPr>
        <p:spPr>
          <a:xfrm>
            <a:off x="3675600" y="3795120"/>
            <a:ext cx="22258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#browser</a:t>
            </a:r>
            <a:endParaRPr lang="en-US" sz="1200" b="0" u="none" strike="noStrike">
              <a:solidFill>
                <a:srgbClr val="000000"/>
              </a:solidFill>
              <a:effectLst/>
              <a:uFillTx/>
              <a:latin typeface="Arial"/>
            </a:endParaRPr>
          </a:p>
        </p:txBody>
      </p:sp>
      <p:sp>
        <p:nvSpPr>
          <p:cNvPr id="307" name="Text 25"/>
          <p:cNvSpPr/>
          <p:nvPr/>
        </p:nvSpPr>
        <p:spPr>
          <a:xfrm>
            <a:off x="3675600" y="4071960"/>
            <a:ext cx="22258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Navighează și testează UI-ul aplicației.</a:t>
            </a:r>
            <a:endParaRPr lang="en-US" sz="1200" b="0" u="none" strike="noStrike">
              <a:solidFill>
                <a:srgbClr val="000000"/>
              </a:solidFill>
              <a:effectLst/>
              <a:uFillTx/>
              <a:latin typeface="Arial"/>
            </a:endParaRPr>
          </a:p>
        </p:txBody>
      </p:sp>
      <p:sp>
        <p:nvSpPr>
          <p:cNvPr id="308" name="Shape 26"/>
          <p:cNvSpPr/>
          <p:nvPr/>
        </p:nvSpPr>
        <p:spPr>
          <a:xfrm>
            <a:off x="6175440" y="330768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09" name="Image 6" descr="Users"/>
          <p:cNvPicPr/>
          <p:nvPr/>
        </p:nvPicPr>
        <p:blipFill>
          <a:blip r:embed="rId7"/>
          <a:stretch/>
        </p:blipFill>
        <p:spPr>
          <a:xfrm>
            <a:off x="6355080" y="3495240"/>
            <a:ext cx="228240" cy="228240"/>
          </a:xfrm>
          <a:prstGeom prst="rect">
            <a:avLst/>
          </a:prstGeom>
          <a:noFill/>
          <a:ln w="0">
            <a:noFill/>
          </a:ln>
        </p:spPr>
      </p:pic>
      <p:sp>
        <p:nvSpPr>
          <p:cNvPr id="310" name="Text 27"/>
          <p:cNvSpPr/>
          <p:nvPr/>
        </p:nvSpPr>
        <p:spPr>
          <a:xfrm>
            <a:off x="6685560" y="3487680"/>
            <a:ext cx="12142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Subagenți</a:t>
            </a:r>
            <a:endParaRPr lang="en-US" sz="1600" b="0" u="none" strike="noStrike">
              <a:solidFill>
                <a:srgbClr val="000000"/>
              </a:solidFill>
              <a:effectLst/>
              <a:uFillTx/>
              <a:latin typeface="Arial"/>
            </a:endParaRPr>
          </a:p>
        </p:txBody>
      </p:sp>
      <p:sp>
        <p:nvSpPr>
          <p:cNvPr id="311" name="Text 28"/>
          <p:cNvSpPr/>
          <p:nvPr/>
        </p:nvSpPr>
        <p:spPr>
          <a:xfrm>
            <a:off x="6355080" y="3795120"/>
            <a:ext cx="22255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#agent/runSubagent</a:t>
            </a:r>
            <a:endParaRPr lang="en-US" sz="1200" b="0" u="none" strike="noStrike">
              <a:solidFill>
                <a:srgbClr val="000000"/>
              </a:solidFill>
              <a:effectLst/>
              <a:uFillTx/>
              <a:latin typeface="Arial"/>
            </a:endParaRPr>
          </a:p>
        </p:txBody>
      </p:sp>
      <p:sp>
        <p:nvSpPr>
          <p:cNvPr id="312" name="Text 29"/>
          <p:cNvSpPr/>
          <p:nvPr/>
        </p:nvSpPr>
        <p:spPr>
          <a:xfrm>
            <a:off x="6355080" y="4071960"/>
            <a:ext cx="2225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Deleagă o sub-sarcină într-un context nou.</a:t>
            </a:r>
            <a:endParaRPr lang="en-US" sz="1200" b="0" u="none" strike="noStrike">
              <a:solidFill>
                <a:srgbClr val="000000"/>
              </a:solidFill>
              <a:effectLst/>
              <a:uFillTx/>
              <a:latin typeface="Arial"/>
            </a:endParaRPr>
          </a:p>
        </p:txBody>
      </p:sp>
      <p:sp>
        <p:nvSpPr>
          <p:cNvPr id="313" name="Shape 30"/>
          <p:cNvSpPr/>
          <p:nvPr/>
        </p:nvSpPr>
        <p:spPr>
          <a:xfrm>
            <a:off x="8854920" y="330768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14" name="Image 7" descr="Link"/>
          <p:cNvPicPr/>
          <p:nvPr/>
        </p:nvPicPr>
        <p:blipFill>
          <a:blip r:embed="rId8"/>
          <a:stretch/>
        </p:blipFill>
        <p:spPr>
          <a:xfrm>
            <a:off x="9034920" y="3495240"/>
            <a:ext cx="228240" cy="228240"/>
          </a:xfrm>
          <a:prstGeom prst="rect">
            <a:avLst/>
          </a:prstGeom>
          <a:noFill/>
          <a:ln w="0">
            <a:noFill/>
          </a:ln>
        </p:spPr>
      </p:pic>
      <p:sp>
        <p:nvSpPr>
          <p:cNvPr id="315" name="Text 31"/>
          <p:cNvSpPr/>
          <p:nvPr/>
        </p:nvSpPr>
        <p:spPr>
          <a:xfrm>
            <a:off x="9365040" y="3487680"/>
            <a:ext cx="5176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MCP</a:t>
            </a:r>
            <a:endParaRPr lang="en-US" sz="1600" b="0" u="none" strike="noStrike">
              <a:solidFill>
                <a:srgbClr val="000000"/>
              </a:solidFill>
              <a:effectLst/>
              <a:uFillTx/>
              <a:latin typeface="Arial"/>
            </a:endParaRPr>
          </a:p>
        </p:txBody>
      </p:sp>
      <p:sp>
        <p:nvSpPr>
          <p:cNvPr id="316" name="Text 32"/>
          <p:cNvSpPr/>
          <p:nvPr/>
        </p:nvSpPr>
        <p:spPr>
          <a:xfrm>
            <a:off x="9034920" y="3795120"/>
            <a:ext cx="22258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GitHub · Jira · DB</a:t>
            </a:r>
            <a:endParaRPr lang="en-US" sz="1200" b="0" u="none" strike="noStrike">
              <a:solidFill>
                <a:srgbClr val="000000"/>
              </a:solidFill>
              <a:effectLst/>
              <a:uFillTx/>
              <a:latin typeface="Arial"/>
            </a:endParaRPr>
          </a:p>
        </p:txBody>
      </p:sp>
      <p:sp>
        <p:nvSpPr>
          <p:cNvPr id="317" name="Text 33"/>
          <p:cNvSpPr/>
          <p:nvPr/>
        </p:nvSpPr>
        <p:spPr>
          <a:xfrm>
            <a:off x="9034920" y="4071960"/>
            <a:ext cx="22258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Tool-uri externe prin Model Context Protocol.</a:t>
            </a:r>
            <a:endParaRPr lang="en-US" sz="1200" b="0" u="none" strike="noStrike">
              <a:solidFill>
                <a:srgbClr val="000000"/>
              </a:solidFill>
              <a:effectLst/>
              <a:uFillTx/>
              <a:latin typeface="Arial"/>
            </a:endParaRPr>
          </a:p>
        </p:txBody>
      </p:sp>
      <p:sp>
        <p:nvSpPr>
          <p:cNvPr id="318" name="Text 34"/>
          <p:cNvSpPr/>
          <p:nvPr/>
        </p:nvSpPr>
        <p:spPr>
          <a:xfrm>
            <a:off x="812880" y="493560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Copilot CLI are echivalente: view, edit, create, bash/powershell, grep, glob, web_fetch, task (subagent) + MCP.</a:t>
            </a:r>
            <a:endParaRPr lang="en-US" sz="1200" b="0" u="none" strike="noStrike">
              <a:solidFill>
                <a:srgbClr val="000000"/>
              </a:solidFill>
              <a:effectLst/>
              <a:uFillTx/>
              <a:latin typeface="Arial"/>
            </a:endParaRPr>
          </a:p>
        </p:txBody>
      </p:sp>
      <p:sp>
        <p:nvSpPr>
          <p:cNvPr id="319" name="Text 35"/>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320" name="Text 36"/>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08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34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06 · SKILLS</a:t>
            </a:r>
            <a:endParaRPr lang="en-US" sz="1200" b="0" u="none" strike="noStrike">
              <a:solidFill>
                <a:srgbClr val="000000"/>
              </a:solidFill>
              <a:effectLst/>
              <a:uFillTx/>
              <a:latin typeface="Arial"/>
            </a:endParaRPr>
          </a:p>
        </p:txBody>
      </p:sp>
      <p:sp>
        <p:nvSpPr>
          <p:cNvPr id="349"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Ce este un skill</a:t>
            </a:r>
            <a:endParaRPr lang="en-US" sz="3000" b="0" u="none" strike="noStrike">
              <a:solidFill>
                <a:schemeClr val="dk1"/>
              </a:solidFill>
              <a:effectLst/>
              <a:uFillTx/>
              <a:latin typeface="IBM Plex Sans"/>
            </a:endParaRPr>
          </a:p>
        </p:txBody>
      </p:sp>
      <p:sp>
        <p:nvSpPr>
          <p:cNvPr id="350" name="Text 2"/>
          <p:cNvSpPr/>
          <p:nvPr/>
        </p:nvSpPr>
        <p:spPr>
          <a:xfrm>
            <a:off x="812880" y="1775520"/>
            <a:ext cx="5990760" cy="77184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Un </a:t>
            </a:r>
            <a:r>
              <a:rPr lang="en-US" sz="1400" b="1" u="none" strike="noStrike">
                <a:solidFill>
                  <a:srgbClr val="444C5C"/>
                </a:solidFill>
                <a:effectLst/>
                <a:uFillTx/>
                <a:latin typeface="IBM Plex Sans"/>
                <a:ea typeface="IBM Plex Sans"/>
              </a:rPr>
              <a:t>folder</a:t>
            </a:r>
            <a:r>
              <a:rPr lang="en-US" sz="1400" b="0" u="none" strike="noStrike">
                <a:solidFill>
                  <a:srgbClr val="444C5C"/>
                </a:solidFill>
                <a:effectLst/>
                <a:uFillTx/>
                <a:latin typeface="IBM Plex Sans"/>
                <a:ea typeface="IBM Plex Sans"/>
              </a:rPr>
              <a:t> cu un fișier </a:t>
            </a:r>
            <a:r>
              <a:rPr lang="en-US" sz="1400" b="0" u="none" strike="noStrike">
                <a:solidFill>
                  <a:srgbClr val="2B5E96"/>
                </a:solidFill>
                <a:effectLst/>
                <a:uFillTx/>
                <a:latin typeface="IBM Plex Sans"/>
                <a:ea typeface="IBM Plex Sans"/>
              </a:rPr>
              <a:t>SKILL.md</a:t>
            </a:r>
            <a:r>
              <a:rPr lang="en-US" sz="1400" b="0" u="none" strike="noStrike">
                <a:solidFill>
                  <a:srgbClr val="444C5C"/>
                </a:solidFill>
                <a:effectLst/>
                <a:uFillTx/>
                <a:latin typeface="IBM Plex Sans"/>
                <a:ea typeface="IBM Plex Sans"/>
              </a:rPr>
              <a:t> (nume, descriere, instrucțiuni) și, opțional, scripturi și documente de referință. Standard deschis: agentskills.io.</a:t>
            </a:r>
            <a:endParaRPr lang="en-US" sz="1400" b="0" u="none" strike="noStrike">
              <a:solidFill>
                <a:srgbClr val="000000"/>
              </a:solidFill>
              <a:effectLst/>
              <a:uFillTx/>
              <a:latin typeface="Arial"/>
            </a:endParaRPr>
          </a:p>
        </p:txBody>
      </p:sp>
      <p:sp>
        <p:nvSpPr>
          <p:cNvPr id="351" name="Text 3"/>
          <p:cNvSpPr/>
          <p:nvPr/>
        </p:nvSpPr>
        <p:spPr>
          <a:xfrm>
            <a:off x="812880" y="2649240"/>
            <a:ext cx="5816160" cy="1630080"/>
          </a:xfrm>
          <a:prstGeom prst="roundRect">
            <a:avLst>
              <a:gd name="adj" fmla="val 6232"/>
            </a:avLst>
          </a:prstGeom>
          <a:solidFill>
            <a:srgbClr val="131A2A"/>
          </a:solidFill>
          <a:ln w="0">
            <a:noFill/>
          </a:ln>
        </p:spPr>
        <p:style>
          <a:lnRef idx="0"/>
          <a:fillRef idx="0"/>
          <a:effectRef idx="0"/>
          <a:fontRef idx="minor"/>
        </p:style>
        <p:txBody>
          <a:bodyPr wrap="none" lIns="173520" tIns="122760" rIns="11160" bIns="9720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.github/skills/create-migration/</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SKILL.md        </a:t>
            </a:r>
            <a:r>
              <a:rPr lang="en-US" sz="1200" b="0" u="none" strike="noStrike">
                <a:solidFill>
                  <a:srgbClr val="8A93A6"/>
                </a:solidFill>
                <a:effectLst/>
                <a:uFillTx/>
                <a:latin typeface="JetBrains Mono"/>
                <a:ea typeface="JetBrains Mono"/>
              </a:rPr>
              <a:t>  # nume, descriere, pași</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references/</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 conventions.md</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scripts/</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 new-migration.sh</a:t>
            </a:r>
            <a:endParaRPr lang="en-US" sz="1200" b="0" u="none" strike="noStrike">
              <a:solidFill>
                <a:srgbClr val="FFFFFF"/>
              </a:solidFill>
              <a:effectLst/>
              <a:uFillTx/>
              <a:latin typeface="Arial"/>
            </a:endParaRPr>
          </a:p>
        </p:txBody>
      </p:sp>
      <p:sp>
        <p:nvSpPr>
          <p:cNvPr id="352" name="Text 4"/>
          <p:cNvSpPr/>
          <p:nvPr/>
        </p:nvSpPr>
        <p:spPr>
          <a:xfrm>
            <a:off x="812880" y="4406400"/>
            <a:ext cx="599076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444C5C"/>
                </a:solidFill>
                <a:effectLst/>
                <a:uFillTx/>
                <a:latin typeface="IBM Plex Sans"/>
                <a:ea typeface="IBM Plex Sans"/>
              </a:rPr>
              <a:t>Unde:</a:t>
            </a:r>
            <a:r>
              <a:rPr lang="en-US" sz="1200" b="0" u="none" strike="noStrike">
                <a:solidFill>
                  <a:srgbClr val="444C5C"/>
                </a:solidFill>
                <a:effectLst/>
                <a:uFillTx/>
                <a:latin typeface="IBM Plex Sans"/>
                <a:ea typeface="IBM Plex Sans"/>
              </a:rPr>
              <a:t> </a:t>
            </a:r>
            <a:r>
              <a:rPr lang="en-US" sz="1200" b="0" u="none" strike="noStrike">
                <a:solidFill>
                  <a:srgbClr val="2B5E96"/>
                </a:solidFill>
                <a:effectLst/>
                <a:uFillTx/>
                <a:latin typeface="IBM Plex Sans"/>
                <a:ea typeface="IBM Plex Sans"/>
              </a:rPr>
              <a:t>.github/skills/</a:t>
            </a:r>
            <a:r>
              <a:rPr lang="en-US" sz="1200" b="0" u="none" strike="noStrike">
                <a:solidFill>
                  <a:srgbClr val="444C5C"/>
                </a:solidFill>
                <a:effectLst/>
                <a:uFillTx/>
                <a:latin typeface="IBM Plex Sans"/>
                <a:ea typeface="IBM Plex Sans"/>
              </a:rPr>
              <a:t>, </a:t>
            </a:r>
            <a:r>
              <a:rPr lang="en-US" sz="1200" b="0" u="none" strike="noStrike">
                <a:solidFill>
                  <a:srgbClr val="2B5E96"/>
                </a:solidFill>
                <a:effectLst/>
                <a:uFillTx/>
                <a:latin typeface="IBM Plex Sans"/>
                <a:ea typeface="IBM Plex Sans"/>
              </a:rPr>
              <a:t>.agents/skills/</a:t>
            </a:r>
            <a:r>
              <a:rPr lang="en-US" sz="1200" b="0" u="none" strike="noStrike">
                <a:solidFill>
                  <a:srgbClr val="444C5C"/>
                </a:solidFill>
                <a:effectLst/>
                <a:uFillTx/>
                <a:latin typeface="IBM Plex Sans"/>
                <a:ea typeface="IBM Plex Sans"/>
              </a:rPr>
              <a:t>, </a:t>
            </a:r>
            <a:r>
              <a:rPr lang="en-US" sz="1200" b="0" u="none" strike="noStrike">
                <a:solidFill>
                  <a:srgbClr val="2B5E96"/>
                </a:solidFill>
                <a:effectLst/>
                <a:uFillTx/>
                <a:latin typeface="IBM Plex Sans"/>
                <a:ea typeface="IBM Plex Sans"/>
              </a:rPr>
              <a:t>.claude/skills/</a:t>
            </a:r>
            <a:r>
              <a:rPr lang="en-US" sz="1200" b="0" u="none" strike="noStrike">
                <a:solidFill>
                  <a:srgbClr val="444C5C"/>
                </a:solidFill>
                <a:effectLst/>
                <a:uFillTx/>
                <a:latin typeface="IBM Plex Sans"/>
                <a:ea typeface="IBM Plex Sans"/>
              </a:rPr>
              <a:t> (proiect) · </a:t>
            </a:r>
            <a:r>
              <a:rPr lang="en-US" sz="1200" b="0" u="none" strike="noStrike">
                <a:solidFill>
                  <a:srgbClr val="2B5E96"/>
                </a:solidFill>
                <a:effectLst/>
                <a:uFillTx/>
                <a:latin typeface="IBM Plex Sans"/>
                <a:ea typeface="IBM Plex Sans"/>
              </a:rPr>
              <a:t>~/.copilot/skills/</a:t>
            </a:r>
            <a:r>
              <a:rPr lang="en-US" sz="1200" b="0" u="none" strike="noStrike">
                <a:solidFill>
                  <a:srgbClr val="444C5C"/>
                </a:solidFill>
                <a:effectLst/>
                <a:uFillTx/>
                <a:latin typeface="IBM Plex Sans"/>
                <a:ea typeface="IBM Plex Sans"/>
              </a:rPr>
              <a:t> (personal). Merg în VS Code, Copilot CLI și cloud agent.</a:t>
            </a:r>
            <a:endParaRPr lang="en-US" sz="1200" b="0" u="none" strike="noStrike">
              <a:solidFill>
                <a:srgbClr val="000000"/>
              </a:solidFill>
              <a:effectLst/>
              <a:uFillTx/>
              <a:latin typeface="Arial"/>
            </a:endParaRPr>
          </a:p>
        </p:txBody>
      </p:sp>
      <p:sp>
        <p:nvSpPr>
          <p:cNvPr id="353" name="Text 5"/>
          <p:cNvSpPr/>
          <p:nvPr/>
        </p:nvSpPr>
        <p:spPr>
          <a:xfrm>
            <a:off x="6934320" y="1775520"/>
            <a:ext cx="457812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31A2A"/>
                </a:solidFill>
                <a:effectLst/>
                <a:uFillTx/>
                <a:latin typeface="IBM Plex Sans"/>
                <a:ea typeface="IBM Plex Sans"/>
              </a:rPr>
              <a:t>Progressive disclosure</a:t>
            </a:r>
            <a:endParaRPr lang="en-US" sz="1400" b="0" u="none" strike="noStrike">
              <a:solidFill>
                <a:srgbClr val="000000"/>
              </a:solidFill>
              <a:effectLst/>
              <a:uFillTx/>
              <a:latin typeface="Arial"/>
            </a:endParaRPr>
          </a:p>
        </p:txBody>
      </p:sp>
      <p:sp>
        <p:nvSpPr>
          <p:cNvPr id="354" name="Shape 6"/>
          <p:cNvSpPr/>
          <p:nvPr/>
        </p:nvSpPr>
        <p:spPr>
          <a:xfrm>
            <a:off x="6934320" y="2125800"/>
            <a:ext cx="4444560" cy="766800"/>
          </a:xfrm>
          <a:prstGeom prst="roundRect">
            <a:avLst>
              <a:gd name="adj" fmla="val 13246"/>
            </a:avLst>
          </a:prstGeom>
          <a:solidFill>
            <a:srgbClr val="DCE8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5" name="Text 7"/>
          <p:cNvSpPr/>
          <p:nvPr/>
        </p:nvSpPr>
        <p:spPr>
          <a:xfrm>
            <a:off x="7112160" y="2252880"/>
            <a:ext cx="421164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31A2A"/>
                </a:solidFill>
                <a:effectLst/>
                <a:uFillTx/>
                <a:latin typeface="IBM Plex Sans"/>
                <a:ea typeface="IBM Plex Sans"/>
              </a:rPr>
              <a:t>1</a:t>
            </a:r>
            <a:r>
              <a:rPr lang="en-US" sz="1400" b="0" u="none" strike="noStrike">
                <a:solidFill>
                  <a:srgbClr val="131A2A"/>
                </a:solidFill>
                <a:effectLst/>
                <a:uFillTx/>
                <a:latin typeface="IBM Plex Sans"/>
                <a:ea typeface="IBM Plex Sans"/>
              </a:rPr>
              <a:t> · mereu în context</a:t>
            </a:r>
            <a:endParaRPr lang="en-US" sz="1400" b="0" u="none" strike="noStrike">
              <a:solidFill>
                <a:srgbClr val="000000"/>
              </a:solidFill>
              <a:effectLst/>
              <a:uFillTx/>
              <a:latin typeface="Arial"/>
            </a:endParaRPr>
          </a:p>
        </p:txBody>
      </p:sp>
      <p:sp>
        <p:nvSpPr>
          <p:cNvPr id="356" name="Text 8"/>
          <p:cNvSpPr/>
          <p:nvPr/>
        </p:nvSpPr>
        <p:spPr>
          <a:xfrm>
            <a:off x="7112160" y="2552400"/>
            <a:ext cx="42116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Doar </a:t>
            </a:r>
            <a:r>
              <a:rPr lang="en-US" sz="1200" b="1" u="none" strike="noStrike">
                <a:solidFill>
                  <a:srgbClr val="444C5C"/>
                </a:solidFill>
                <a:effectLst/>
                <a:uFillTx/>
                <a:latin typeface="IBM Plex Sans"/>
                <a:ea typeface="IBM Plex Sans"/>
              </a:rPr>
              <a:t>name + description</a:t>
            </a:r>
            <a:r>
              <a:rPr lang="en-US" sz="1200" b="0" u="none" strike="noStrike">
                <a:solidFill>
                  <a:srgbClr val="444C5C"/>
                </a:solidFill>
                <a:effectLst/>
                <a:uFillTx/>
                <a:latin typeface="IBM Plex Sans"/>
                <a:ea typeface="IBM Plex Sans"/>
              </a:rPr>
              <a:t> — câteva zeci de tokeni per skill.</a:t>
            </a:r>
            <a:endParaRPr lang="en-US" sz="1200" b="0" u="none" strike="noStrike">
              <a:solidFill>
                <a:srgbClr val="000000"/>
              </a:solidFill>
              <a:effectLst/>
              <a:uFillTx/>
              <a:latin typeface="Arial"/>
            </a:endParaRPr>
          </a:p>
        </p:txBody>
      </p:sp>
      <p:sp>
        <p:nvSpPr>
          <p:cNvPr id="357" name="Shape 9"/>
          <p:cNvSpPr/>
          <p:nvPr/>
        </p:nvSpPr>
        <p:spPr>
          <a:xfrm>
            <a:off x="6934320" y="2994480"/>
            <a:ext cx="4444560" cy="979920"/>
          </a:xfrm>
          <a:prstGeom prst="roundRect">
            <a:avLst>
              <a:gd name="adj" fmla="val 10364"/>
            </a:avLst>
          </a:prstGeom>
          <a:solidFill>
            <a:srgbClr val="FBF9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8" name="Text 10"/>
          <p:cNvSpPr/>
          <p:nvPr/>
        </p:nvSpPr>
        <p:spPr>
          <a:xfrm>
            <a:off x="7112160" y="3121560"/>
            <a:ext cx="421164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31A2A"/>
                </a:solidFill>
                <a:effectLst/>
                <a:uFillTx/>
                <a:latin typeface="IBM Plex Sans"/>
                <a:ea typeface="IBM Plex Sans"/>
              </a:rPr>
              <a:t>2</a:t>
            </a:r>
            <a:r>
              <a:rPr lang="en-US" sz="1400" b="0" u="none" strike="noStrike">
                <a:solidFill>
                  <a:srgbClr val="131A2A"/>
                </a:solidFill>
                <a:effectLst/>
                <a:uFillTx/>
                <a:latin typeface="IBM Plex Sans"/>
                <a:ea typeface="IBM Plex Sans"/>
              </a:rPr>
              <a:t> · când task-ul se potrivește</a:t>
            </a:r>
            <a:endParaRPr lang="en-US" sz="1400" b="0" u="none" strike="noStrike">
              <a:solidFill>
                <a:srgbClr val="000000"/>
              </a:solidFill>
              <a:effectLst/>
              <a:uFillTx/>
              <a:latin typeface="Arial"/>
            </a:endParaRPr>
          </a:p>
        </p:txBody>
      </p:sp>
      <p:sp>
        <p:nvSpPr>
          <p:cNvPr id="359" name="Text 11"/>
          <p:cNvSpPr/>
          <p:nvPr/>
        </p:nvSpPr>
        <p:spPr>
          <a:xfrm>
            <a:off x="7112160" y="3421080"/>
            <a:ext cx="42116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Agentul încarcă corpul </a:t>
            </a:r>
            <a:r>
              <a:rPr lang="en-US" sz="1200" b="1" u="none" strike="noStrike">
                <a:solidFill>
                  <a:srgbClr val="444C5C"/>
                </a:solidFill>
                <a:effectLst/>
                <a:uFillTx/>
                <a:latin typeface="IBM Plex Sans"/>
                <a:ea typeface="IBM Plex Sans"/>
              </a:rPr>
              <a:t>SKILL.md</a:t>
            </a:r>
            <a:r>
              <a:rPr lang="en-US" sz="1200" b="0" u="none" strike="noStrike">
                <a:solidFill>
                  <a:srgbClr val="444C5C"/>
                </a:solidFill>
                <a:effectLst/>
                <a:uFillTx/>
                <a:latin typeface="IBM Plex Sans"/>
                <a:ea typeface="IBM Plex Sans"/>
              </a:rPr>
              <a:t>. Sau îl </a:t>
            </a:r>
            <a:r>
              <a:rPr lang="en-US" sz="1200" b="0" u="none" strike="noStrike">
                <a:solidFill>
                  <a:srgbClr val="444C5C"/>
                </a:solidFill>
                <a:effectLst/>
                <a:uFillTx/>
                <a:latin typeface="IBM Plex Sans"/>
                <a:ea typeface="IBM Plex Sans"/>
              </a:rPr>
              <a:t>chemi tu: </a:t>
            </a:r>
            <a:r>
              <a:rPr lang="en-US" sz="1200" b="0" u="none" strike="noStrike">
                <a:solidFill>
                  <a:srgbClr val="2B5E96"/>
                </a:solidFill>
                <a:effectLst/>
                <a:uFillTx/>
                <a:latin typeface="IBM Plex Sans"/>
                <a:ea typeface="IBM Plex Sans"/>
              </a:rPr>
              <a:t>/create-</a:t>
            </a:r>
            <a:r>
              <a:rPr lang="en-US" sz="1200" b="0" u="none" strike="noStrike">
                <a:solidFill>
                  <a:srgbClr val="2B5E96"/>
                </a:solidFill>
                <a:effectLst/>
                <a:uFillTx/>
                <a:latin typeface="IBM Plex Sans"/>
                <a:ea typeface="IBM Plex Sans"/>
              </a:rPr>
              <a:t>migration</a:t>
            </a:r>
            <a:r>
              <a:rPr lang="en-US" sz="1200" b="0" u="none" strike="noStrike">
                <a:solidFill>
                  <a:srgbClr val="444C5C"/>
                </a:solidFill>
                <a:effectLst/>
                <a:uFillTx/>
                <a:latin typeface="IBM Plex Sans"/>
                <a:ea typeface="IBM Plex Sans"/>
              </a:rPr>
              <a:t>.</a:t>
            </a:r>
            <a:endParaRPr lang="en-US" sz="1200" b="0" u="none" strike="noStrike">
              <a:solidFill>
                <a:srgbClr val="000000"/>
              </a:solidFill>
              <a:effectLst/>
              <a:uFillTx/>
              <a:latin typeface="Arial"/>
            </a:endParaRPr>
          </a:p>
        </p:txBody>
      </p:sp>
      <p:sp>
        <p:nvSpPr>
          <p:cNvPr id="360" name="Shape 12"/>
          <p:cNvSpPr/>
          <p:nvPr/>
        </p:nvSpPr>
        <p:spPr>
          <a:xfrm>
            <a:off x="6934320" y="4076280"/>
            <a:ext cx="4444560" cy="979920"/>
          </a:xfrm>
          <a:prstGeom prst="roundRect">
            <a:avLst>
              <a:gd name="adj" fmla="val 10364"/>
            </a:avLst>
          </a:prstGeom>
          <a:solidFill>
            <a:srgbClr val="F6E3D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1" name="Text 13"/>
          <p:cNvSpPr/>
          <p:nvPr/>
        </p:nvSpPr>
        <p:spPr>
          <a:xfrm>
            <a:off x="7112160" y="4203360"/>
            <a:ext cx="421164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31A2A"/>
                </a:solidFill>
                <a:effectLst/>
                <a:uFillTx/>
                <a:latin typeface="IBM Plex Sans"/>
                <a:ea typeface="IBM Plex Sans"/>
              </a:rPr>
              <a:t>3</a:t>
            </a:r>
            <a:r>
              <a:rPr lang="en-US" sz="1400" b="0" u="none" strike="noStrike">
                <a:solidFill>
                  <a:srgbClr val="131A2A"/>
                </a:solidFill>
                <a:effectLst/>
                <a:uFillTx/>
                <a:latin typeface="IBM Plex Sans"/>
                <a:ea typeface="IBM Plex Sans"/>
              </a:rPr>
              <a:t> · doar la nevoie</a:t>
            </a:r>
            <a:endParaRPr lang="en-US" sz="1400" b="0" u="none" strike="noStrike">
              <a:solidFill>
                <a:srgbClr val="000000"/>
              </a:solidFill>
              <a:effectLst/>
              <a:uFillTx/>
              <a:latin typeface="Arial"/>
            </a:endParaRPr>
          </a:p>
        </p:txBody>
      </p:sp>
      <p:sp>
        <p:nvSpPr>
          <p:cNvPr id="362" name="Text 14"/>
          <p:cNvSpPr/>
          <p:nvPr/>
        </p:nvSpPr>
        <p:spPr>
          <a:xfrm>
            <a:off x="7112160" y="4502880"/>
            <a:ext cx="42116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444C5C"/>
                </a:solidFill>
                <a:effectLst/>
                <a:uFillTx/>
                <a:latin typeface="IBM Plex Sans"/>
                <a:ea typeface="IBM Plex Sans"/>
              </a:rPr>
              <a:t>references/</a:t>
            </a:r>
            <a:r>
              <a:rPr lang="en-US" sz="1200" b="0" u="none" strike="noStrike">
                <a:solidFill>
                  <a:srgbClr val="444C5C"/>
                </a:solidFill>
                <a:effectLst/>
                <a:uFillTx/>
                <a:latin typeface="IBM Plex Sans"/>
                <a:ea typeface="IBM Plex Sans"/>
              </a:rPr>
              <a:t> se citesc punctual; </a:t>
            </a:r>
            <a:r>
              <a:rPr lang="en-US" sz="1200" b="1" u="none" strike="noStrike">
                <a:solidFill>
                  <a:srgbClr val="444C5C"/>
                </a:solidFill>
                <a:effectLst/>
                <a:uFillTx/>
                <a:latin typeface="IBM Plex Sans"/>
                <a:ea typeface="IBM Plex Sans"/>
              </a:rPr>
              <a:t>scripts/</a:t>
            </a:r>
            <a:r>
              <a:rPr lang="en-US" sz="1200" b="0" u="none" strike="noStrike">
                <a:solidFill>
                  <a:srgbClr val="444C5C"/>
                </a:solidFill>
                <a:effectLst/>
                <a:uFillTx/>
                <a:latin typeface="IBM Plex Sans"/>
                <a:ea typeface="IBM Plex Sans"/>
              </a:rPr>
              <a:t> rulează fără să intre în </a:t>
            </a:r>
            <a:r>
              <a:rPr lang="en-US" sz="1200" b="0" u="none" strike="noStrike">
                <a:solidFill>
                  <a:srgbClr val="444C5C"/>
                </a:solidFill>
                <a:effectLst/>
                <a:uFillTx/>
                <a:latin typeface="IBM Plex Sans"/>
                <a:ea typeface="IBM Plex Sans"/>
              </a:rPr>
              <a:t>context.</a:t>
            </a:r>
            <a:endParaRPr lang="en-US" sz="1200" b="0" u="none" strike="noStrike">
              <a:solidFill>
                <a:srgbClr val="000000"/>
              </a:solidFill>
              <a:effectLst/>
              <a:uFillTx/>
              <a:latin typeface="Arial"/>
            </a:endParaRPr>
          </a:p>
        </p:txBody>
      </p:sp>
      <p:sp>
        <p:nvSpPr>
          <p:cNvPr id="363" name="Text 15"/>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364" name="Text 16"/>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09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365"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06 · SKILLS</a:t>
            </a:r>
            <a:endParaRPr lang="en-US" sz="1200" b="0" u="none" strike="noStrike">
              <a:solidFill>
                <a:srgbClr val="000000"/>
              </a:solidFill>
              <a:effectLst/>
              <a:uFillTx/>
              <a:latin typeface="Arial"/>
            </a:endParaRPr>
          </a:p>
        </p:txBody>
      </p:sp>
      <p:sp>
        <p:nvSpPr>
          <p:cNvPr id="366"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Skill vs instrucțiuni vs prompt vs agent vs </a:t>
            </a:r>
            <a:r>
              <a:rPr lang="en-US" sz="3000" b="1" u="none" strike="noStrike">
                <a:solidFill>
                  <a:srgbClr val="131A2A"/>
                </a:solidFill>
                <a:effectLst/>
                <a:uFillTx/>
                <a:latin typeface="Space Grotesk"/>
                <a:ea typeface="Space Grotesk"/>
              </a:rPr>
              <a:t>hook</a:t>
            </a:r>
            <a:endParaRPr lang="en-US" sz="3000" b="0" u="none" strike="noStrike">
              <a:solidFill>
                <a:schemeClr val="dk1"/>
              </a:solidFill>
              <a:effectLst/>
              <a:uFillTx/>
              <a:latin typeface="IBM Plex Sans"/>
            </a:endParaRPr>
          </a:p>
        </p:txBody>
      </p:sp>
      <p:sp>
        <p:nvSpPr>
          <p:cNvPr id="367" name="Shape 2"/>
          <p:cNvSpPr/>
          <p:nvPr/>
        </p:nvSpPr>
        <p:spPr>
          <a:xfrm>
            <a:off x="11376000" y="1775160"/>
            <a:ext cx="360" cy="2212560"/>
          </a:xfrm>
          <a:prstGeom prst="line">
            <a:avLst/>
          </a:prstGeom>
          <a:ln w="6350">
            <a:solidFill>
              <a:srgbClr val="E0DAC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368" name="Shape 3"/>
          <p:cNvSpPr/>
          <p:nvPr/>
        </p:nvSpPr>
        <p:spPr>
          <a:xfrm>
            <a:off x="812520" y="3984480"/>
            <a:ext cx="1056636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graphicFrame>
        <p:nvGraphicFramePr>
          <p:cNvPr id="369" name="Table 0"/>
          <p:cNvGraphicFramePr/>
          <p:nvPr/>
        </p:nvGraphicFramePr>
        <p:xfrm>
          <a:off x="823320" y="1785960"/>
          <a:ext cx="10550160" cy="2196360"/>
        </p:xfrm>
        <a:graphic>
          <a:graphicData uri="http://schemas.openxmlformats.org/drawingml/2006/table">
            <a:tbl>
              <a:tblPr/>
              <a:tblGrid>
                <a:gridCol w="1688040"/>
                <a:gridCol w="2742840"/>
                <a:gridCol w="3165120"/>
                <a:gridCol w="2954160"/>
              </a:tblGrid>
              <a:tr h="330480">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Tip</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Fișier</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Când intră în context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Folosește pentru</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Instrucțiuni</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AGENTS.md · *.instructions.md</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mereu (sau după applyTo)</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reguli permanente, convenții</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Skill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SKILL.md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când descrierea se potrivește sau </a:t>
                      </a:r>
                      <a:r>
                        <a:rPr lang="en-US" sz="1200" b="1" u="none" strike="noStrike">
                          <a:solidFill>
                            <a:srgbClr val="444C5C"/>
                          </a:solidFill>
                          <a:effectLst/>
                          <a:uFillTx/>
                          <a:latin typeface="IBM Plex Sans"/>
                          <a:ea typeface="IBM Plex Sans"/>
                        </a:rPr>
                        <a:t>/my-skill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workflow-uri repetabile, cu pași și scripturi</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Prompt file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*.prompt.md</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doar când îl rulezi cu </a:t>
                      </a:r>
                      <a:r>
                        <a:rPr lang="en-US" sz="1200" b="1" u="none" strike="noStrike">
                          <a:solidFill>
                            <a:srgbClr val="444C5C"/>
                          </a:solidFill>
                          <a:effectLst/>
                          <a:uFillTx/>
                          <a:latin typeface="IBM Plex Sans"/>
                          <a:ea typeface="IBM Plex Sans"/>
                        </a:rPr>
                        <a:t>/my-skill</a:t>
                      </a:r>
                      <a:r>
                        <a:rPr lang="en-US" sz="1200" b="0" u="none" strike="noStrike">
                          <a:solidFill>
                            <a:srgbClr val="444C5C"/>
                          </a:solidFill>
                          <a:effectLst/>
                          <a:uFillTx/>
                          <a:latin typeface="IBM Plex Sans"/>
                          <a:ea typeface="IBM Plex Sans"/>
                        </a:rPr>
                        <a:t> (VS Code)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un prompt reutilizabil, simplu</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Custom agent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*.agent.md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când îl alegi în picker sau cu /agent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un rol: tool-uri, model și reguli proprii</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Hook</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.github/hooks/*.json</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la evenimente — determinist, nu prin model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reguli care TREBUIE respectate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bl>
          </a:graphicData>
        </a:graphic>
      </p:graphicFrame>
      <p:sp>
        <p:nvSpPr>
          <p:cNvPr id="370" name="Text 4"/>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371" name="Text 5"/>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10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416"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07 · SKILL-URI POPULARE</a:t>
            </a:r>
            <a:endParaRPr lang="en-US" sz="1200" b="0" u="none" strike="noStrike">
              <a:solidFill>
                <a:srgbClr val="000000"/>
              </a:solidFill>
              <a:effectLst/>
              <a:uFillTx/>
              <a:latin typeface="Arial"/>
            </a:endParaRPr>
          </a:p>
        </p:txBody>
      </p:sp>
      <p:sp>
        <p:nvSpPr>
          <p:cNvPr id="417"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Matt Pocock — mattpocock/skills</a:t>
            </a:r>
            <a:endParaRPr lang="en-US" sz="3000" b="0" u="none" strike="noStrike">
              <a:solidFill>
                <a:schemeClr val="dk1"/>
              </a:solidFill>
              <a:effectLst/>
              <a:uFillTx/>
              <a:latin typeface="IBM Plex Sans"/>
            </a:endParaRPr>
          </a:p>
        </p:txBody>
      </p:sp>
      <p:sp>
        <p:nvSpPr>
          <p:cNvPr id="418" name="Text 2"/>
          <p:cNvSpPr/>
          <p:nvPr/>
        </p:nvSpPr>
        <p:spPr>
          <a:xfrm>
            <a:off x="812880" y="1724400"/>
            <a:ext cx="108831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Unul dintre cele mai </a:t>
            </a:r>
            <a:r>
              <a:rPr lang="en-US" sz="1400" b="0" u="none" strike="noStrike">
                <a:solidFill>
                  <a:srgbClr val="444C5C"/>
                </a:solidFill>
                <a:effectLst/>
                <a:uFillTx/>
                <a:latin typeface="IBM Plex Sans"/>
                <a:ea typeface="IBM Plex Sans"/>
              </a:rPr>
              <a:t>instalate pachete </a:t>
            </a:r>
            <a:r>
              <a:rPr lang="en-US" sz="1400" b="0" u="none" strike="noStrike">
                <a:solidFill>
                  <a:srgbClr val="444C5C"/>
                </a:solidFill>
                <a:effectLst/>
                <a:uFillTx/>
                <a:latin typeface="IBM Plex Sans"/>
                <a:ea typeface="IBM Plex Sans"/>
              </a:rPr>
              <a:t>de skills. Fluxul </a:t>
            </a:r>
            <a:r>
              <a:rPr lang="en-US" sz="1400" b="0" u="none" strike="noStrike">
                <a:solidFill>
                  <a:srgbClr val="444C5C"/>
                </a:solidFill>
                <a:effectLst/>
                <a:uFillTx/>
                <a:latin typeface="IBM Plex Sans"/>
                <a:ea typeface="IBM Plex Sans"/>
              </a:rPr>
              <a:t>principal </a:t>
            </a:r>
            <a:r>
              <a:rPr lang="en-US" sz="1400" b="0" u="none" strike="noStrike">
                <a:solidFill>
                  <a:srgbClr val="444C5C"/>
                </a:solidFill>
                <a:effectLst/>
                <a:uFillTx/>
                <a:latin typeface="IBM Plex Sans"/>
                <a:ea typeface="IBM Plex Sans"/>
              </a:rPr>
              <a:t>recomandat de </a:t>
            </a:r>
            <a:r>
              <a:rPr lang="en-US" sz="1400" b="0" u="none" strike="noStrike">
                <a:solidFill>
                  <a:srgbClr val="444C5C"/>
                </a:solidFill>
                <a:effectLst/>
                <a:uFillTx/>
                <a:latin typeface="IBM Plex Sans"/>
                <a:ea typeface="IBM Plex Sans"/>
              </a:rPr>
              <a:t>autor:</a:t>
            </a:r>
            <a:endParaRPr lang="en-US" sz="1400" b="0" u="none" strike="noStrike">
              <a:solidFill>
                <a:srgbClr val="000000"/>
              </a:solidFill>
              <a:effectLst/>
              <a:uFillTx/>
              <a:latin typeface="Arial"/>
            </a:endParaRPr>
          </a:p>
        </p:txBody>
      </p:sp>
      <p:sp>
        <p:nvSpPr>
          <p:cNvPr id="419" name="Shape 3"/>
          <p:cNvSpPr/>
          <p:nvPr/>
        </p:nvSpPr>
        <p:spPr>
          <a:xfrm>
            <a:off x="816120" y="2057400"/>
            <a:ext cx="1801800" cy="137520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0" name="Text 4"/>
          <p:cNvSpPr/>
          <p:nvPr/>
        </p:nvSpPr>
        <p:spPr>
          <a:xfrm>
            <a:off x="945000" y="2309040"/>
            <a:ext cx="159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/grill-with-docs</a:t>
            </a:r>
            <a:endParaRPr lang="en-US" sz="1200" b="0" u="none" strike="noStrike">
              <a:solidFill>
                <a:srgbClr val="000000"/>
              </a:solidFill>
              <a:effectLst/>
              <a:uFillTx/>
              <a:latin typeface="Arial"/>
            </a:endParaRPr>
          </a:p>
        </p:txBody>
      </p:sp>
      <p:sp>
        <p:nvSpPr>
          <p:cNvPr id="421" name="Text 5"/>
          <p:cNvSpPr/>
          <p:nvPr/>
        </p:nvSpPr>
        <p:spPr>
          <a:xfrm>
            <a:off x="945000" y="2572920"/>
            <a:ext cx="1594440" cy="878400"/>
          </a:xfrm>
          <a:prstGeom prst="rect">
            <a:avLst/>
          </a:prstGeom>
          <a:noFill/>
          <a:ln w="0">
            <a:noFill/>
          </a:ln>
        </p:spPr>
        <p:style>
          <a:lnRef idx="0"/>
          <a:fillRef idx="0"/>
          <a:effectRef idx="0"/>
          <a:fontRef idx="minor"/>
        </p:style>
        <p:txBody>
          <a:bodyPr lIns="0" tIns="0" rIns="0" bIns="0" anchor="t">
            <a:normAutofit fontScale="92500" lnSpcReduction="9999"/>
          </a:bodyPr>
          <a:p>
            <a:pPr defTabSz="914400">
              <a:lnSpc>
                <a:spcPts val="1681"/>
              </a:lnSpc>
              <a:tabLst>
                <a:tab pos="0" algn="l"/>
              </a:tabLst>
            </a:pPr>
            <a:r>
              <a:rPr lang="en-US" sz="1200" b="0" u="none" strike="noStrike">
                <a:solidFill>
                  <a:srgbClr val="444C5C"/>
                </a:solidFill>
                <a:effectLst/>
                <a:uFillTx/>
                <a:latin typeface="IBM Plex Sans"/>
                <a:ea typeface="IBM Plex Sans"/>
              </a:rPr>
              <a:t>interviu despre idee; păstrează CONTEXT.md și ADR-uri (architectural decision record)</a:t>
            </a:r>
            <a:endParaRPr lang="en-US" sz="1200" b="0" u="none" strike="noStrike">
              <a:solidFill>
                <a:srgbClr val="000000"/>
              </a:solidFill>
              <a:effectLst/>
              <a:uFillTx/>
              <a:latin typeface="Arial"/>
            </a:endParaRPr>
          </a:p>
        </p:txBody>
      </p:sp>
      <p:pic>
        <p:nvPicPr>
          <p:cNvPr id="422" name="Image 0" descr="arrow-right"/>
          <p:cNvPicPr/>
          <p:nvPr/>
        </p:nvPicPr>
        <p:blipFill>
          <a:blip r:embed="rId1"/>
          <a:stretch/>
        </p:blipFill>
        <p:spPr>
          <a:xfrm>
            <a:off x="2697480" y="2791440"/>
            <a:ext cx="228240" cy="151920"/>
          </a:xfrm>
          <a:prstGeom prst="rect">
            <a:avLst/>
          </a:prstGeom>
          <a:noFill/>
          <a:ln w="0">
            <a:noFill/>
          </a:ln>
        </p:spPr>
      </p:pic>
      <p:sp>
        <p:nvSpPr>
          <p:cNvPr id="423" name="Shape 6"/>
          <p:cNvSpPr/>
          <p:nvPr/>
        </p:nvSpPr>
        <p:spPr>
          <a:xfrm>
            <a:off x="3005280" y="2179800"/>
            <a:ext cx="1801800" cy="137520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4" name="Text 7"/>
          <p:cNvSpPr/>
          <p:nvPr/>
        </p:nvSpPr>
        <p:spPr>
          <a:xfrm>
            <a:off x="3134520" y="2309040"/>
            <a:ext cx="159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/to-spec</a:t>
            </a:r>
            <a:endParaRPr lang="en-US" sz="1200" b="0" u="none" strike="noStrike">
              <a:solidFill>
                <a:srgbClr val="000000"/>
              </a:solidFill>
              <a:effectLst/>
              <a:uFillTx/>
              <a:latin typeface="Arial"/>
            </a:endParaRPr>
          </a:p>
        </p:txBody>
      </p:sp>
      <p:sp>
        <p:nvSpPr>
          <p:cNvPr id="425" name="Text 8"/>
          <p:cNvSpPr/>
          <p:nvPr/>
        </p:nvSpPr>
        <p:spPr>
          <a:xfrm>
            <a:off x="3134520" y="2572920"/>
            <a:ext cx="15944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transformă discuția într-o specificație</a:t>
            </a:r>
            <a:endParaRPr lang="en-US" sz="1200" b="0" u="none" strike="noStrike">
              <a:solidFill>
                <a:srgbClr val="000000"/>
              </a:solidFill>
              <a:effectLst/>
              <a:uFillTx/>
              <a:latin typeface="Arial"/>
            </a:endParaRPr>
          </a:p>
        </p:txBody>
      </p:sp>
      <p:pic>
        <p:nvPicPr>
          <p:cNvPr id="426" name="Image 1" descr="arrow-right"/>
          <p:cNvPicPr/>
          <p:nvPr/>
        </p:nvPicPr>
        <p:blipFill>
          <a:blip r:embed="rId2"/>
          <a:stretch/>
        </p:blipFill>
        <p:spPr>
          <a:xfrm>
            <a:off x="4887000" y="2791440"/>
            <a:ext cx="228240" cy="151920"/>
          </a:xfrm>
          <a:prstGeom prst="rect">
            <a:avLst/>
          </a:prstGeom>
          <a:noFill/>
          <a:ln w="0">
            <a:noFill/>
          </a:ln>
        </p:spPr>
      </p:pic>
      <p:sp>
        <p:nvSpPr>
          <p:cNvPr id="427" name="Shape 9"/>
          <p:cNvSpPr/>
          <p:nvPr/>
        </p:nvSpPr>
        <p:spPr>
          <a:xfrm>
            <a:off x="5194800" y="2179800"/>
            <a:ext cx="1801800" cy="137520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8" name="Text 10"/>
          <p:cNvSpPr/>
          <p:nvPr/>
        </p:nvSpPr>
        <p:spPr>
          <a:xfrm>
            <a:off x="5324040" y="2309040"/>
            <a:ext cx="159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/to-tickets</a:t>
            </a:r>
            <a:endParaRPr lang="en-US" sz="1200" b="0" u="none" strike="noStrike">
              <a:solidFill>
                <a:srgbClr val="000000"/>
              </a:solidFill>
              <a:effectLst/>
              <a:uFillTx/>
              <a:latin typeface="Arial"/>
            </a:endParaRPr>
          </a:p>
        </p:txBody>
      </p:sp>
      <p:sp>
        <p:nvSpPr>
          <p:cNvPr id="429" name="Text 11"/>
          <p:cNvSpPr/>
          <p:nvPr/>
        </p:nvSpPr>
        <p:spPr>
          <a:xfrm>
            <a:off x="5324040" y="2572920"/>
            <a:ext cx="15944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sparge spec-ul în tichete</a:t>
            </a:r>
            <a:endParaRPr lang="en-US" sz="1200" b="0" u="none" strike="noStrike">
              <a:solidFill>
                <a:srgbClr val="000000"/>
              </a:solidFill>
              <a:effectLst/>
              <a:uFillTx/>
              <a:latin typeface="Arial"/>
            </a:endParaRPr>
          </a:p>
        </p:txBody>
      </p:sp>
      <p:pic>
        <p:nvPicPr>
          <p:cNvPr id="430" name="Image 2" descr="arrow-right"/>
          <p:cNvPicPr/>
          <p:nvPr/>
        </p:nvPicPr>
        <p:blipFill>
          <a:blip r:embed="rId3"/>
          <a:stretch/>
        </p:blipFill>
        <p:spPr>
          <a:xfrm>
            <a:off x="7076520" y="2791440"/>
            <a:ext cx="228240" cy="151920"/>
          </a:xfrm>
          <a:prstGeom prst="rect">
            <a:avLst/>
          </a:prstGeom>
          <a:noFill/>
          <a:ln w="0">
            <a:noFill/>
          </a:ln>
        </p:spPr>
      </p:pic>
      <p:sp>
        <p:nvSpPr>
          <p:cNvPr id="431" name="Shape 12"/>
          <p:cNvSpPr/>
          <p:nvPr/>
        </p:nvSpPr>
        <p:spPr>
          <a:xfrm>
            <a:off x="7384320" y="2179800"/>
            <a:ext cx="1801800" cy="137520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2" name="Text 13"/>
          <p:cNvSpPr/>
          <p:nvPr/>
        </p:nvSpPr>
        <p:spPr>
          <a:xfrm>
            <a:off x="7513560" y="2309040"/>
            <a:ext cx="159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/implement</a:t>
            </a:r>
            <a:endParaRPr lang="en-US" sz="1200" b="0" u="none" strike="noStrike">
              <a:solidFill>
                <a:srgbClr val="000000"/>
              </a:solidFill>
              <a:effectLst/>
              <a:uFillTx/>
              <a:latin typeface="Arial"/>
            </a:endParaRPr>
          </a:p>
        </p:txBody>
      </p:sp>
      <p:sp>
        <p:nvSpPr>
          <p:cNvPr id="433" name="Text 14"/>
          <p:cNvSpPr/>
          <p:nvPr/>
        </p:nvSpPr>
        <p:spPr>
          <a:xfrm>
            <a:off x="7513560" y="2572920"/>
            <a:ext cx="15944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implementează, condus de /tdd</a:t>
            </a:r>
            <a:endParaRPr lang="en-US" sz="1200" b="0" u="none" strike="noStrike">
              <a:solidFill>
                <a:srgbClr val="000000"/>
              </a:solidFill>
              <a:effectLst/>
              <a:uFillTx/>
              <a:latin typeface="Arial"/>
            </a:endParaRPr>
          </a:p>
        </p:txBody>
      </p:sp>
      <p:pic>
        <p:nvPicPr>
          <p:cNvPr id="434" name="Image 3" descr="arrow-right"/>
          <p:cNvPicPr/>
          <p:nvPr/>
        </p:nvPicPr>
        <p:blipFill>
          <a:blip r:embed="rId4"/>
          <a:stretch/>
        </p:blipFill>
        <p:spPr>
          <a:xfrm>
            <a:off x="9266040" y="2791440"/>
            <a:ext cx="228240" cy="151920"/>
          </a:xfrm>
          <a:prstGeom prst="rect">
            <a:avLst/>
          </a:prstGeom>
          <a:noFill/>
          <a:ln w="0">
            <a:noFill/>
          </a:ln>
        </p:spPr>
      </p:pic>
      <p:sp>
        <p:nvSpPr>
          <p:cNvPr id="435" name="Shape 15"/>
          <p:cNvSpPr/>
          <p:nvPr/>
        </p:nvSpPr>
        <p:spPr>
          <a:xfrm>
            <a:off x="9573840" y="2179800"/>
            <a:ext cx="1801800" cy="137520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6" name="Text 16"/>
          <p:cNvSpPr/>
          <p:nvPr/>
        </p:nvSpPr>
        <p:spPr>
          <a:xfrm>
            <a:off x="9703080" y="2309040"/>
            <a:ext cx="159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/code-review</a:t>
            </a:r>
            <a:endParaRPr lang="en-US" sz="1200" b="0" u="none" strike="noStrike">
              <a:solidFill>
                <a:srgbClr val="000000"/>
              </a:solidFill>
              <a:effectLst/>
              <a:uFillTx/>
              <a:latin typeface="Arial"/>
            </a:endParaRPr>
          </a:p>
        </p:txBody>
      </p:sp>
      <p:sp>
        <p:nvSpPr>
          <p:cNvPr id="437" name="Text 17"/>
          <p:cNvSpPr/>
          <p:nvPr/>
        </p:nvSpPr>
        <p:spPr>
          <a:xfrm>
            <a:off x="9703080" y="2572920"/>
            <a:ext cx="15944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review înainte de commit</a:t>
            </a:r>
            <a:endParaRPr lang="en-US" sz="1200" b="0" u="none" strike="noStrike">
              <a:solidFill>
                <a:srgbClr val="000000"/>
              </a:solidFill>
              <a:effectLst/>
              <a:uFillTx/>
              <a:latin typeface="Arial"/>
            </a:endParaRPr>
          </a:p>
        </p:txBody>
      </p:sp>
      <p:sp>
        <p:nvSpPr>
          <p:cNvPr id="438" name="Shape 18"/>
          <p:cNvSpPr/>
          <p:nvPr/>
        </p:nvSpPr>
        <p:spPr>
          <a:xfrm>
            <a:off x="816120" y="3764880"/>
            <a:ext cx="3413880" cy="1136520"/>
          </a:xfrm>
          <a:prstGeom prst="roundRect">
            <a:avLst>
              <a:gd name="adj" fmla="val 865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9" name="Text 19"/>
          <p:cNvSpPr/>
          <p:nvPr/>
        </p:nvSpPr>
        <p:spPr>
          <a:xfrm>
            <a:off x="1021320" y="3970440"/>
            <a:ext cx="30934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2B5E96"/>
                </a:solidFill>
                <a:effectLst/>
                <a:uFillTx/>
                <a:latin typeface="JetBrains Mono"/>
                <a:ea typeface="JetBrains Mono"/>
              </a:rPr>
              <a:t>/grill-me</a:t>
            </a:r>
            <a:endParaRPr lang="en-US" sz="1400" b="0" u="none" strike="noStrike">
              <a:solidFill>
                <a:srgbClr val="000000"/>
              </a:solidFill>
              <a:effectLst/>
              <a:uFillTx/>
              <a:latin typeface="Arial"/>
            </a:endParaRPr>
          </a:p>
        </p:txBody>
      </p:sp>
      <p:sp>
        <p:nvSpPr>
          <p:cNvPr id="440" name="Text 20"/>
          <p:cNvSpPr/>
          <p:nvPr/>
        </p:nvSpPr>
        <p:spPr>
          <a:xfrm>
            <a:off x="1021320" y="426996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Același interviu, pentru când nu ai codebase. Nu salvează nimic local.</a:t>
            </a:r>
            <a:endParaRPr lang="en-US" sz="1200" b="0" u="none" strike="noStrike">
              <a:solidFill>
                <a:srgbClr val="000000"/>
              </a:solidFill>
              <a:effectLst/>
              <a:uFillTx/>
              <a:latin typeface="Arial"/>
            </a:endParaRPr>
          </a:p>
        </p:txBody>
      </p:sp>
      <p:sp>
        <p:nvSpPr>
          <p:cNvPr id="441" name="Shape 21"/>
          <p:cNvSpPr/>
          <p:nvPr/>
        </p:nvSpPr>
        <p:spPr>
          <a:xfrm>
            <a:off x="4388760" y="3764880"/>
            <a:ext cx="3413880" cy="1136520"/>
          </a:xfrm>
          <a:prstGeom prst="roundRect">
            <a:avLst>
              <a:gd name="adj" fmla="val 865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2" name="Text 22"/>
          <p:cNvSpPr/>
          <p:nvPr/>
        </p:nvSpPr>
        <p:spPr>
          <a:xfrm>
            <a:off x="4594320" y="3970440"/>
            <a:ext cx="30934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2B5E96"/>
                </a:solidFill>
                <a:effectLst/>
                <a:uFillTx/>
                <a:latin typeface="JetBrains Mono"/>
                <a:ea typeface="JetBrains Mono"/>
              </a:rPr>
              <a:t>/ask-matt</a:t>
            </a:r>
            <a:endParaRPr lang="en-US" sz="1400" b="0" u="none" strike="noStrike">
              <a:solidFill>
                <a:srgbClr val="000000"/>
              </a:solidFill>
              <a:effectLst/>
              <a:uFillTx/>
              <a:latin typeface="Arial"/>
            </a:endParaRPr>
          </a:p>
        </p:txBody>
      </p:sp>
      <p:sp>
        <p:nvSpPr>
          <p:cNvPr id="443" name="Text 23"/>
          <p:cNvSpPr/>
          <p:nvPr/>
        </p:nvSpPr>
        <p:spPr>
          <a:xfrm>
            <a:off x="4594320" y="4269960"/>
            <a:ext cx="3205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Te ajută să alegi skill-ul potrivit din pachet.</a:t>
            </a:r>
            <a:endParaRPr lang="en-US" sz="1200" b="0" u="none" strike="noStrike">
              <a:solidFill>
                <a:srgbClr val="000000"/>
              </a:solidFill>
              <a:effectLst/>
              <a:uFillTx/>
              <a:latin typeface="Arial"/>
            </a:endParaRPr>
          </a:p>
        </p:txBody>
      </p:sp>
      <p:sp>
        <p:nvSpPr>
          <p:cNvPr id="444" name="Text 27"/>
          <p:cNvSpPr/>
          <p:nvPr/>
        </p:nvSpPr>
        <p:spPr>
          <a:xfrm>
            <a:off x="812880" y="5108400"/>
            <a:ext cx="10566000" cy="525240"/>
          </a:xfrm>
          <a:prstGeom prst="roundRect">
            <a:avLst>
              <a:gd name="adj" fmla="val 19327"/>
            </a:avLst>
          </a:prstGeom>
          <a:solidFill>
            <a:srgbClr val="131A2A"/>
          </a:solidFill>
          <a:ln w="0">
            <a:noFill/>
          </a:ln>
        </p:spPr>
        <p:style>
          <a:lnRef idx="0"/>
          <a:fillRef idx="0"/>
          <a:effectRef idx="0"/>
          <a:fontRef idx="minor"/>
        </p:style>
        <p:txBody>
          <a:bodyPr wrap="none" lIns="173520" tIns="122760" rIns="0" bIns="9720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 npx skills@latest add mattpocock/skills </a:t>
            </a:r>
            <a:endParaRPr lang="en-US" sz="1200" b="0" u="none" strike="noStrike">
              <a:solidFill>
                <a:srgbClr val="FFFFFF"/>
              </a:solidFill>
              <a:effectLst/>
              <a:uFillTx/>
              <a:latin typeface="Arial"/>
            </a:endParaRPr>
          </a:p>
        </p:txBody>
      </p:sp>
      <p:sp>
        <p:nvSpPr>
          <p:cNvPr id="445" name="Text 28"/>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a:t>
            </a:r>
            <a:r>
              <a:rPr lang="en-US" sz="1200" b="0" u="none" strike="noStrike">
                <a:solidFill>
                  <a:srgbClr val="5E6677"/>
                </a:solidFill>
                <a:effectLst/>
                <a:uFillTx/>
                <a:latin typeface="IBM Plex Sans"/>
                <a:ea typeface="IBM Plex Sans"/>
              </a:rPr>
              <a:t>Copilot</a:t>
            </a:r>
            <a:endParaRPr lang="en-US" sz="1200" b="0" u="none" strike="noStrike">
              <a:solidFill>
                <a:srgbClr val="000000"/>
              </a:solidFill>
              <a:effectLst/>
              <a:uFillTx/>
              <a:latin typeface="Arial"/>
            </a:endParaRPr>
          </a:p>
        </p:txBody>
      </p:sp>
      <p:sp>
        <p:nvSpPr>
          <p:cNvPr id="446" name="Text 29"/>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11 / 25</a:t>
            </a:r>
            <a:endParaRPr lang="en-US" sz="1200" b="0" u="none" strike="noStrike">
              <a:solidFill>
                <a:srgbClr val="000000"/>
              </a:solidFill>
              <a:effectLst/>
              <a:uFillTx/>
              <a:latin typeface="Arial"/>
            </a:endParaRPr>
          </a:p>
        </p:txBody>
      </p:sp>
      <p:sp>
        <p:nvSpPr>
          <p:cNvPr id="447" name="Text 38"/>
          <p:cNvSpPr/>
          <p:nvPr/>
        </p:nvSpPr>
        <p:spPr>
          <a:xfrm>
            <a:off x="812880" y="5715000"/>
            <a:ext cx="10566000" cy="525240"/>
          </a:xfrm>
          <a:prstGeom prst="roundRect">
            <a:avLst>
              <a:gd name="adj" fmla="val 19327"/>
            </a:avLst>
          </a:prstGeom>
          <a:solidFill>
            <a:srgbClr val="131A2A"/>
          </a:solidFill>
          <a:ln w="0">
            <a:noFill/>
          </a:ln>
        </p:spPr>
        <p:style>
          <a:lnRef idx="0"/>
          <a:fillRef idx="0"/>
          <a:effectRef idx="0"/>
          <a:fontRef idx="minor"/>
        </p:style>
        <p:txBody>
          <a:bodyPr wrap="none" lIns="173520" tIns="122760" rIns="0" bIns="9720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 # sau adaugăm manual skill-ul în folderul ~/.agents/skills</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44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07 · SKILL-URI POPULARE</a:t>
            </a:r>
            <a:endParaRPr lang="en-US" sz="1200" b="0" u="none" strike="noStrike">
              <a:solidFill>
                <a:srgbClr val="000000"/>
              </a:solidFill>
              <a:effectLst/>
              <a:uFillTx/>
              <a:latin typeface="Arial"/>
            </a:endParaRPr>
          </a:p>
        </p:txBody>
      </p:sp>
      <p:sp>
        <p:nvSpPr>
          <p:cNvPr id="449"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/grill-me: lasă agentul să te interogheze</a:t>
            </a:r>
            <a:endParaRPr lang="en-US" sz="3000" b="0" u="none" strike="noStrike">
              <a:solidFill>
                <a:schemeClr val="dk1"/>
              </a:solidFill>
              <a:effectLst/>
              <a:uFillTx/>
              <a:latin typeface="IBM Plex Sans"/>
            </a:endParaRPr>
          </a:p>
        </p:txBody>
      </p:sp>
      <p:sp>
        <p:nvSpPr>
          <p:cNvPr id="450" name="Shape 2"/>
          <p:cNvSpPr/>
          <p:nvPr/>
        </p:nvSpPr>
        <p:spPr>
          <a:xfrm>
            <a:off x="816120" y="1778400"/>
            <a:ext cx="6419520" cy="2640240"/>
          </a:xfrm>
          <a:prstGeom prst="roundRect">
            <a:avLst>
              <a:gd name="adj" fmla="val 372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1" name="Text 3"/>
          <p:cNvSpPr/>
          <p:nvPr/>
        </p:nvSpPr>
        <p:spPr>
          <a:xfrm>
            <a:off x="1021320" y="1983960"/>
            <a:ext cx="61891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Ce îi cere skill-ul agentului</a:t>
            </a:r>
            <a:endParaRPr lang="en-US" sz="1600" b="0" u="none" strike="noStrike">
              <a:solidFill>
                <a:srgbClr val="000000"/>
              </a:solidFill>
              <a:effectLst/>
              <a:uFillTx/>
              <a:latin typeface="Arial"/>
            </a:endParaRPr>
          </a:p>
        </p:txBody>
      </p:sp>
      <p:sp>
        <p:nvSpPr>
          <p:cNvPr id="452" name="Text 4"/>
          <p:cNvSpPr/>
          <p:nvPr/>
        </p:nvSpPr>
        <p:spPr>
          <a:xfrm>
            <a:off x="1099440" y="2329200"/>
            <a:ext cx="6103440" cy="1767600"/>
          </a:xfrm>
          <a:prstGeom prst="rect">
            <a:avLst/>
          </a:prstGeom>
          <a:noFill/>
          <a:ln w="0">
            <a:noFill/>
          </a:ln>
        </p:spPr>
        <p:style>
          <a:lnRef idx="0"/>
          <a:fillRef idx="0"/>
          <a:effectRef idx="0"/>
          <a:fontRef idx="minor"/>
        </p:style>
        <p:txBody>
          <a:bodyPr lIns="0" tIns="0" rIns="0" bIns="0" anchor="t">
            <a:normAutofit/>
          </a:bodyPr>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Să te întrebe neobosit despre plan până ajungeți la o </a:t>
            </a:r>
            <a:r>
              <a:rPr lang="en-US" sz="1400" b="1" u="none" strike="noStrike">
                <a:solidFill>
                  <a:srgbClr val="444C5C"/>
                </a:solidFill>
                <a:effectLst/>
                <a:uFillTx/>
                <a:latin typeface="IBM Plex Sans"/>
                <a:ea typeface="IBM Plex Sans"/>
              </a:rPr>
              <a:t>înțelegere comună</a:t>
            </a:r>
            <a:r>
              <a:rPr lang="en-US" sz="1400" b="0" u="none" strike="noStrike">
                <a:solidFill>
                  <a:srgbClr val="444C5C"/>
                </a:solidFill>
                <a:effectLst/>
                <a:uFillTx/>
                <a:latin typeface="IBM Plex Sans"/>
                <a:ea typeface="IBM Plex Sans"/>
              </a:rPr>
              <a:t>.</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Să parcurgă arborele de decizii ramură cu ramură, rezolvând dependențele.</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1" u="none" strike="noStrike">
                <a:solidFill>
                  <a:srgbClr val="444C5C"/>
                </a:solidFill>
                <a:effectLst/>
                <a:uFillTx/>
                <a:latin typeface="IBM Plex Sans"/>
                <a:ea typeface="IBM Plex Sans"/>
              </a:rPr>
              <a:t>O întrebare pe rând</a:t>
            </a:r>
            <a:r>
              <a:rPr lang="en-US" sz="1400" b="0" u="none" strike="noStrike">
                <a:solidFill>
                  <a:srgbClr val="444C5C"/>
                </a:solidFill>
                <a:effectLst/>
                <a:uFillTx/>
                <a:latin typeface="IBM Plex Sans"/>
                <a:ea typeface="IBM Plex Sans"/>
              </a:rPr>
              <a:t> — și pentru fiecare, răspunsul pe care îl recomandă. </a:t>
            </a:r>
            <a:r>
              <a:rPr lang="en-US" sz="1200" b="0" u="none" strike="noStrike">
                <a:solidFill>
                  <a:srgbClr val="444C5C"/>
                </a:solidFill>
                <a:effectLst/>
                <a:uFillTx/>
                <a:latin typeface="IBM Plex Sans"/>
                <a:ea typeface="IBM Plex Sans"/>
              </a:rPr>
              <a:t>(</a:t>
            </a:r>
            <a:r>
              <a:rPr lang="en-US" sz="1200" b="0" i="1" u="none" strike="noStrike">
                <a:solidFill>
                  <a:srgbClr val="444C5C"/>
                </a:solidFill>
                <a:effectLst/>
                <a:uFillTx/>
                <a:latin typeface="IBM Plex Sans"/>
                <a:ea typeface="IBM Plex Sans"/>
              </a:rPr>
              <a:t>Notă: pre V1.2 – acum poti primi mai multe întrebări deodată</a:t>
            </a:r>
            <a:r>
              <a:rPr lang="en-US" sz="1200" b="0" u="none" strike="noStrike">
                <a:solidFill>
                  <a:srgbClr val="444C5C"/>
                </a:solidFill>
                <a:effectLst/>
                <a:uFillTx/>
                <a:latin typeface="IBM Plex Sans"/>
                <a:ea typeface="IBM Plex Sans"/>
              </a:rPr>
              <a:t>)</a:t>
            </a:r>
            <a:endParaRPr lang="en-US" sz="12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Faptele le caută singur în cod; </a:t>
            </a:r>
            <a:r>
              <a:rPr lang="en-US" sz="1400" b="1" u="none" strike="noStrike">
                <a:solidFill>
                  <a:srgbClr val="444C5C"/>
                </a:solidFill>
                <a:effectLst/>
                <a:uFillTx/>
                <a:latin typeface="IBM Plex Sans"/>
                <a:ea typeface="IBM Plex Sans"/>
              </a:rPr>
              <a:t>deciziile rămân ale tale</a:t>
            </a:r>
            <a:r>
              <a:rPr lang="en-US" sz="1400" b="0" u="none" strike="noStrike">
                <a:solidFill>
                  <a:srgbClr val="444C5C"/>
                </a:solidFill>
                <a:effectLst/>
                <a:uFillTx/>
                <a:latin typeface="IBM Plex Sans"/>
                <a:ea typeface="IBM Plex Sans"/>
              </a:rPr>
              <a:t>.</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Să nu scrie cod până nu confirmi că v-ați înțeles.</a:t>
            </a:r>
            <a:endParaRPr lang="en-US" sz="1400" b="0" u="none" strike="noStrike">
              <a:solidFill>
                <a:srgbClr val="000000"/>
              </a:solidFill>
              <a:effectLst/>
              <a:uFillTx/>
              <a:latin typeface="Arial"/>
            </a:endParaRPr>
          </a:p>
        </p:txBody>
      </p:sp>
      <p:sp>
        <p:nvSpPr>
          <p:cNvPr id="453" name="Shape 5"/>
          <p:cNvSpPr/>
          <p:nvPr/>
        </p:nvSpPr>
        <p:spPr>
          <a:xfrm>
            <a:off x="7445520" y="1778400"/>
            <a:ext cx="3930120" cy="1583640"/>
          </a:xfrm>
          <a:prstGeom prst="roundRect">
            <a:avLst>
              <a:gd name="adj" fmla="val 6214"/>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54" name="Image 0" descr="Lightbulb"/>
          <p:cNvPicPr/>
          <p:nvPr/>
        </p:nvPicPr>
        <p:blipFill>
          <a:blip r:embed="rId1"/>
          <a:stretch/>
        </p:blipFill>
        <p:spPr>
          <a:xfrm>
            <a:off x="7650720" y="1991520"/>
            <a:ext cx="228240" cy="228240"/>
          </a:xfrm>
          <a:prstGeom prst="rect">
            <a:avLst/>
          </a:prstGeom>
          <a:noFill/>
          <a:ln w="0">
            <a:noFill/>
          </a:ln>
        </p:spPr>
      </p:pic>
      <p:sp>
        <p:nvSpPr>
          <p:cNvPr id="455" name="Text 6"/>
          <p:cNvSpPr/>
          <p:nvPr/>
        </p:nvSpPr>
        <p:spPr>
          <a:xfrm>
            <a:off x="7980840" y="1983960"/>
            <a:ext cx="18997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Când îl folosești</a:t>
            </a:r>
            <a:endParaRPr lang="en-US" sz="1600" b="0" u="none" strike="noStrike">
              <a:solidFill>
                <a:srgbClr val="000000"/>
              </a:solidFill>
              <a:effectLst/>
              <a:uFillTx/>
              <a:latin typeface="Arial"/>
            </a:endParaRPr>
          </a:p>
        </p:txBody>
      </p:sp>
      <p:sp>
        <p:nvSpPr>
          <p:cNvPr id="456" name="Text 7"/>
          <p:cNvSpPr/>
          <p:nvPr/>
        </p:nvSpPr>
        <p:spPr>
          <a:xfrm>
            <a:off x="7749360" y="2304000"/>
            <a:ext cx="3519000" cy="87840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Cerințe vagi, feature nou</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Decizii de arhitectură</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Înainte de un refactor mare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Și pentru idei non-cod: design doc, proces</a:t>
            </a:r>
            <a:endParaRPr lang="en-US" sz="1200" b="0" u="none" strike="noStrike">
              <a:solidFill>
                <a:srgbClr val="000000"/>
              </a:solidFill>
              <a:effectLst/>
              <a:uFillTx/>
              <a:latin typeface="Arial"/>
            </a:endParaRPr>
          </a:p>
        </p:txBody>
      </p:sp>
      <p:sp>
        <p:nvSpPr>
          <p:cNvPr id="457" name="Text 8"/>
          <p:cNvSpPr/>
          <p:nvPr/>
        </p:nvSpPr>
        <p:spPr>
          <a:xfrm>
            <a:off x="7442280" y="3517920"/>
            <a:ext cx="3936600" cy="903960"/>
          </a:xfrm>
          <a:prstGeom prst="roundRect">
            <a:avLst>
              <a:gd name="adj" fmla="val 11236"/>
            </a:avLst>
          </a:prstGeom>
          <a:solidFill>
            <a:srgbClr val="F6E3D3"/>
          </a:solidFill>
          <a:ln w="0">
            <a:noFill/>
          </a:ln>
        </p:spPr>
        <p:style>
          <a:lnRef idx="0"/>
          <a:fillRef idx="0"/>
          <a:effectRef idx="0"/>
          <a:fontRef idx="minor"/>
        </p:style>
        <p:txBody>
          <a:bodyPr lIns="173520" tIns="173520" rIns="67680" bIns="14796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O jumătate de oră de întrebări bate zile de refăcut cod scris pe o înțelegere greșită.</a:t>
            </a:r>
            <a:endParaRPr lang="en-US" sz="1400" b="0" u="none" strike="noStrike">
              <a:solidFill>
                <a:srgbClr val="000000"/>
              </a:solidFill>
              <a:effectLst/>
              <a:uFillTx/>
              <a:latin typeface="Arial"/>
            </a:endParaRPr>
          </a:p>
        </p:txBody>
      </p:sp>
      <p:sp>
        <p:nvSpPr>
          <p:cNvPr id="458" name="Text 9"/>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459" name="Text 10"/>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12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493"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07 · SKILL-URI POPULARE</a:t>
            </a:r>
            <a:endParaRPr lang="en-US" sz="1200" b="0" u="none" strike="noStrike">
              <a:solidFill>
                <a:srgbClr val="000000"/>
              </a:solidFill>
              <a:effectLst/>
              <a:uFillTx/>
              <a:latin typeface="Arial"/>
            </a:endParaRPr>
          </a:p>
        </p:txBody>
      </p:sp>
      <p:sp>
        <p:nvSpPr>
          <p:cNvPr id="494"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Superpowers — obra/superpowers</a:t>
            </a:r>
            <a:endParaRPr lang="en-US" sz="3000" b="0" u="none" strike="noStrike">
              <a:solidFill>
                <a:schemeClr val="dk1"/>
              </a:solidFill>
              <a:effectLst/>
              <a:uFillTx/>
              <a:latin typeface="IBM Plex Sans"/>
            </a:endParaRPr>
          </a:p>
        </p:txBody>
      </p:sp>
      <p:sp>
        <p:nvSpPr>
          <p:cNvPr id="495" name="Text 2"/>
          <p:cNvSpPr/>
          <p:nvPr/>
        </p:nvSpPr>
        <p:spPr>
          <a:xfrm>
            <a:off x="812880" y="1775520"/>
            <a:ext cx="108831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De la Jesse Vincent: o metodologie completă de dezvoltare. Skill-urile se activează singure, în ordinea potrivită.</a:t>
            </a:r>
            <a:endParaRPr lang="en-US" sz="1400" b="0" u="none" strike="noStrike">
              <a:solidFill>
                <a:srgbClr val="000000"/>
              </a:solidFill>
              <a:effectLst/>
              <a:uFillTx/>
              <a:latin typeface="Arial"/>
            </a:endParaRPr>
          </a:p>
        </p:txBody>
      </p:sp>
      <p:sp>
        <p:nvSpPr>
          <p:cNvPr id="496" name="Shape 3"/>
          <p:cNvSpPr/>
          <p:nvPr/>
        </p:nvSpPr>
        <p:spPr>
          <a:xfrm>
            <a:off x="816120" y="2281320"/>
            <a:ext cx="3261600" cy="948600"/>
          </a:xfrm>
          <a:prstGeom prst="roundRect">
            <a:avLst>
              <a:gd name="adj" fmla="val 1037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7" name="Text 4"/>
          <p:cNvSpPr/>
          <p:nvPr/>
        </p:nvSpPr>
        <p:spPr>
          <a:xfrm>
            <a:off x="945000" y="241056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brainstorming</a:t>
            </a:r>
            <a:endParaRPr lang="en-US" sz="1200" b="0" u="none" strike="noStrike">
              <a:solidFill>
                <a:srgbClr val="000000"/>
              </a:solidFill>
              <a:effectLst/>
              <a:uFillTx/>
              <a:latin typeface="Arial"/>
            </a:endParaRPr>
          </a:p>
        </p:txBody>
      </p:sp>
      <p:sp>
        <p:nvSpPr>
          <p:cNvPr id="498" name="Text 5"/>
          <p:cNvSpPr/>
          <p:nvPr/>
        </p:nvSpPr>
        <p:spPr>
          <a:xfrm>
            <a:off x="945000" y="267480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rafinează designul prin întrebări, înainte de cod</a:t>
            </a:r>
            <a:endParaRPr lang="en-US" sz="1200" b="0" u="none" strike="noStrike">
              <a:solidFill>
                <a:srgbClr val="000000"/>
              </a:solidFill>
              <a:effectLst/>
              <a:uFillTx/>
              <a:latin typeface="Arial"/>
            </a:endParaRPr>
          </a:p>
        </p:txBody>
      </p:sp>
      <p:pic>
        <p:nvPicPr>
          <p:cNvPr id="499" name="Image 0" descr="arrow-right"/>
          <p:cNvPicPr/>
          <p:nvPr/>
        </p:nvPicPr>
        <p:blipFill>
          <a:blip r:embed="rId1"/>
          <a:stretch/>
        </p:blipFill>
        <p:spPr>
          <a:xfrm>
            <a:off x="4157280" y="2679840"/>
            <a:ext cx="228240" cy="151920"/>
          </a:xfrm>
          <a:prstGeom prst="rect">
            <a:avLst/>
          </a:prstGeom>
          <a:noFill/>
          <a:ln w="0">
            <a:noFill/>
          </a:ln>
        </p:spPr>
      </p:pic>
      <p:sp>
        <p:nvSpPr>
          <p:cNvPr id="500" name="Shape 6"/>
          <p:cNvSpPr/>
          <p:nvPr/>
        </p:nvSpPr>
        <p:spPr>
          <a:xfrm>
            <a:off x="4465080" y="2281320"/>
            <a:ext cx="3261600" cy="948600"/>
          </a:xfrm>
          <a:prstGeom prst="roundRect">
            <a:avLst>
              <a:gd name="adj" fmla="val 1037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1" name="Text 7"/>
          <p:cNvSpPr/>
          <p:nvPr/>
        </p:nvSpPr>
        <p:spPr>
          <a:xfrm>
            <a:off x="4594320" y="241056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writing-plans</a:t>
            </a:r>
            <a:endParaRPr lang="en-US" sz="1200" b="0" u="none" strike="noStrike">
              <a:solidFill>
                <a:srgbClr val="000000"/>
              </a:solidFill>
              <a:effectLst/>
              <a:uFillTx/>
              <a:latin typeface="Arial"/>
            </a:endParaRPr>
          </a:p>
        </p:txBody>
      </p:sp>
      <p:sp>
        <p:nvSpPr>
          <p:cNvPr id="502" name="Text 8"/>
          <p:cNvSpPr/>
          <p:nvPr/>
        </p:nvSpPr>
        <p:spPr>
          <a:xfrm>
            <a:off x="4594320" y="267480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plan detaliat de implementare, după aprobare</a:t>
            </a:r>
            <a:endParaRPr lang="en-US" sz="1200" b="0" u="none" strike="noStrike">
              <a:solidFill>
                <a:srgbClr val="000000"/>
              </a:solidFill>
              <a:effectLst/>
              <a:uFillTx/>
              <a:latin typeface="Arial"/>
            </a:endParaRPr>
          </a:p>
        </p:txBody>
      </p:sp>
      <p:pic>
        <p:nvPicPr>
          <p:cNvPr id="503" name="Image 1" descr="arrow-right"/>
          <p:cNvPicPr/>
          <p:nvPr/>
        </p:nvPicPr>
        <p:blipFill>
          <a:blip r:embed="rId2"/>
          <a:stretch/>
        </p:blipFill>
        <p:spPr>
          <a:xfrm>
            <a:off x="7806240" y="2679840"/>
            <a:ext cx="228240" cy="151920"/>
          </a:xfrm>
          <a:prstGeom prst="rect">
            <a:avLst/>
          </a:prstGeom>
          <a:noFill/>
          <a:ln w="0">
            <a:noFill/>
          </a:ln>
        </p:spPr>
      </p:pic>
      <p:sp>
        <p:nvSpPr>
          <p:cNvPr id="504" name="Shape 9"/>
          <p:cNvSpPr/>
          <p:nvPr/>
        </p:nvSpPr>
        <p:spPr>
          <a:xfrm>
            <a:off x="8114400" y="2281320"/>
            <a:ext cx="3261600" cy="948600"/>
          </a:xfrm>
          <a:prstGeom prst="roundRect">
            <a:avLst>
              <a:gd name="adj" fmla="val 1037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5" name="Text 10"/>
          <p:cNvSpPr/>
          <p:nvPr/>
        </p:nvSpPr>
        <p:spPr>
          <a:xfrm>
            <a:off x="8243280" y="241056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executing-plans</a:t>
            </a:r>
            <a:endParaRPr lang="en-US" sz="1200" b="0" u="none" strike="noStrike">
              <a:solidFill>
                <a:srgbClr val="000000"/>
              </a:solidFill>
              <a:effectLst/>
              <a:uFillTx/>
              <a:latin typeface="Arial"/>
            </a:endParaRPr>
          </a:p>
        </p:txBody>
      </p:sp>
      <p:sp>
        <p:nvSpPr>
          <p:cNvPr id="506" name="Text 11"/>
          <p:cNvSpPr/>
          <p:nvPr/>
        </p:nvSpPr>
        <p:spPr>
          <a:xfrm>
            <a:off x="8243280" y="267480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execută planul în loturi, cu checkpoint-uri (sau subagent-driven-development)</a:t>
            </a:r>
            <a:endParaRPr lang="en-US" sz="1200" b="0" u="none" strike="noStrike">
              <a:solidFill>
                <a:srgbClr val="000000"/>
              </a:solidFill>
              <a:effectLst/>
              <a:uFillTx/>
              <a:latin typeface="Arial"/>
            </a:endParaRPr>
          </a:p>
        </p:txBody>
      </p:sp>
      <p:sp>
        <p:nvSpPr>
          <p:cNvPr id="507" name="Text 12"/>
          <p:cNvSpPr/>
          <p:nvPr/>
        </p:nvSpPr>
        <p:spPr>
          <a:xfrm>
            <a:off x="812880" y="3487680"/>
            <a:ext cx="15807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5E6677"/>
                </a:solidFill>
                <a:effectLst/>
                <a:uFillTx/>
                <a:latin typeface="IBM Plex Sans"/>
                <a:ea typeface="IBM Plex Sans"/>
              </a:rPr>
              <a:t>Skill-uri de suport:</a:t>
            </a:r>
            <a:endParaRPr lang="en-US" sz="1200" b="0" u="none" strike="noStrike">
              <a:solidFill>
                <a:srgbClr val="000000"/>
              </a:solidFill>
              <a:effectLst/>
              <a:uFillTx/>
              <a:latin typeface="Arial"/>
            </a:endParaRPr>
          </a:p>
        </p:txBody>
      </p:sp>
      <p:sp>
        <p:nvSpPr>
          <p:cNvPr id="508" name="Text 13"/>
          <p:cNvSpPr/>
          <p:nvPr/>
        </p:nvSpPr>
        <p:spPr>
          <a:xfrm>
            <a:off x="812880" y="3764520"/>
            <a:ext cx="1973880" cy="27396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normAutofit/>
          </a:bodyPr>
          <a:p>
            <a:pPr algn="ctr" defTabSz="914400">
              <a:lnSpc>
                <a:spcPts val="1559"/>
              </a:lnSpc>
              <a:tabLst>
                <a:tab pos="0" algn="l"/>
              </a:tabLst>
            </a:pPr>
            <a:r>
              <a:rPr lang="en-US" sz="1200" b="1" u="none" strike="noStrike">
                <a:solidFill>
                  <a:srgbClr val="131A2A"/>
                </a:solidFill>
                <a:effectLst/>
                <a:uFillTx/>
                <a:latin typeface="IBM Plex Sans"/>
                <a:ea typeface="IBM Plex Sans"/>
              </a:rPr>
              <a:t>test-driven-development</a:t>
            </a:r>
            <a:endParaRPr lang="en-US" sz="1200" b="0" u="none" strike="noStrike">
              <a:solidFill>
                <a:srgbClr val="000000"/>
              </a:solidFill>
              <a:effectLst/>
              <a:uFillTx/>
              <a:latin typeface="Arial"/>
            </a:endParaRPr>
          </a:p>
        </p:txBody>
      </p:sp>
      <p:sp>
        <p:nvSpPr>
          <p:cNvPr id="509" name="Text 14"/>
          <p:cNvSpPr/>
          <p:nvPr/>
        </p:nvSpPr>
        <p:spPr>
          <a:xfrm>
            <a:off x="812880" y="4102200"/>
            <a:ext cx="1770480" cy="27396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normAutofit/>
          </a:bodyPr>
          <a:p>
            <a:pPr algn="ctr" defTabSz="914400">
              <a:lnSpc>
                <a:spcPts val="1559"/>
              </a:lnSpc>
              <a:tabLst>
                <a:tab pos="0" algn="l"/>
              </a:tabLst>
            </a:pPr>
            <a:r>
              <a:rPr lang="en-US" sz="1200" b="1" u="none" strike="noStrike">
                <a:solidFill>
                  <a:srgbClr val="131A2A"/>
                </a:solidFill>
                <a:effectLst/>
                <a:uFillTx/>
                <a:latin typeface="IBM Plex Sans"/>
                <a:ea typeface="IBM Plex Sans"/>
              </a:rPr>
              <a:t>systematic-debugging</a:t>
            </a:r>
            <a:endParaRPr lang="en-US" sz="1200" b="0" u="none" strike="noStrike">
              <a:solidFill>
                <a:srgbClr val="000000"/>
              </a:solidFill>
              <a:effectLst/>
              <a:uFillTx/>
              <a:latin typeface="Arial"/>
            </a:endParaRPr>
          </a:p>
        </p:txBody>
      </p:sp>
      <p:sp>
        <p:nvSpPr>
          <p:cNvPr id="510" name="Text 15"/>
          <p:cNvSpPr/>
          <p:nvPr/>
        </p:nvSpPr>
        <p:spPr>
          <a:xfrm>
            <a:off x="812880" y="4439880"/>
            <a:ext cx="2378880" cy="27396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normAutofit/>
          </a:bodyPr>
          <a:p>
            <a:pPr algn="ctr" defTabSz="914400">
              <a:lnSpc>
                <a:spcPts val="1559"/>
              </a:lnSpc>
              <a:tabLst>
                <a:tab pos="0" algn="l"/>
              </a:tabLst>
            </a:pPr>
            <a:r>
              <a:rPr lang="en-US" sz="1200" b="1" u="none" strike="noStrike">
                <a:solidFill>
                  <a:srgbClr val="131A2A"/>
                </a:solidFill>
                <a:effectLst/>
                <a:uFillTx/>
                <a:latin typeface="IBM Plex Sans"/>
                <a:ea typeface="IBM Plex Sans"/>
              </a:rPr>
              <a:t>verification-before-completion</a:t>
            </a:r>
            <a:endParaRPr lang="en-US" sz="1200" b="0" u="none" strike="noStrike">
              <a:solidFill>
                <a:srgbClr val="000000"/>
              </a:solidFill>
              <a:effectLst/>
              <a:uFillTx/>
              <a:latin typeface="Arial"/>
            </a:endParaRPr>
          </a:p>
        </p:txBody>
      </p:sp>
      <p:sp>
        <p:nvSpPr>
          <p:cNvPr id="511" name="Text 16"/>
          <p:cNvSpPr/>
          <p:nvPr/>
        </p:nvSpPr>
        <p:spPr>
          <a:xfrm>
            <a:off x="812880" y="4777560"/>
            <a:ext cx="1600560" cy="27396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normAutofit/>
          </a:bodyPr>
          <a:p>
            <a:pPr algn="ctr" defTabSz="914400">
              <a:lnSpc>
                <a:spcPts val="1559"/>
              </a:lnSpc>
              <a:tabLst>
                <a:tab pos="0" algn="l"/>
              </a:tabLst>
            </a:pPr>
            <a:r>
              <a:rPr lang="en-US" sz="1200" b="1" u="none" strike="noStrike">
                <a:solidFill>
                  <a:srgbClr val="131A2A"/>
                </a:solidFill>
                <a:effectLst/>
                <a:uFillTx/>
                <a:latin typeface="IBM Plex Sans"/>
                <a:ea typeface="IBM Plex Sans"/>
              </a:rPr>
              <a:t>using-git-worktrees</a:t>
            </a:r>
            <a:endParaRPr lang="en-US" sz="1200" b="0" u="none" strike="noStrike">
              <a:solidFill>
                <a:srgbClr val="000000"/>
              </a:solidFill>
              <a:effectLst/>
              <a:uFillTx/>
              <a:latin typeface="Arial"/>
            </a:endParaRPr>
          </a:p>
        </p:txBody>
      </p:sp>
      <p:sp>
        <p:nvSpPr>
          <p:cNvPr id="512" name="Text 17"/>
          <p:cNvSpPr/>
          <p:nvPr/>
        </p:nvSpPr>
        <p:spPr>
          <a:xfrm>
            <a:off x="812880" y="5115240"/>
            <a:ext cx="1131120" cy="27396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normAutofit/>
          </a:bodyPr>
          <a:p>
            <a:pPr algn="ctr" defTabSz="914400">
              <a:lnSpc>
                <a:spcPts val="1559"/>
              </a:lnSpc>
              <a:tabLst>
                <a:tab pos="0" algn="l"/>
              </a:tabLst>
            </a:pPr>
            <a:r>
              <a:rPr lang="en-US" sz="1200" b="1" u="none" strike="noStrike">
                <a:solidFill>
                  <a:srgbClr val="131A2A"/>
                </a:solidFill>
                <a:effectLst/>
                <a:uFillTx/>
                <a:latin typeface="IBM Plex Sans"/>
                <a:ea typeface="IBM Plex Sans"/>
              </a:rPr>
              <a:t>writing-skills</a:t>
            </a:r>
            <a:endParaRPr lang="en-US" sz="1200" b="0" u="none" strike="noStrike">
              <a:solidFill>
                <a:srgbClr val="000000"/>
              </a:solidFill>
              <a:effectLst/>
              <a:uFillTx/>
              <a:latin typeface="Arial"/>
            </a:endParaRPr>
          </a:p>
        </p:txBody>
      </p:sp>
      <p:sp>
        <p:nvSpPr>
          <p:cNvPr id="513" name="Text 18"/>
          <p:cNvSpPr/>
          <p:nvPr/>
        </p:nvSpPr>
        <p:spPr>
          <a:xfrm>
            <a:off x="4267080" y="3487680"/>
            <a:ext cx="7111800" cy="1409040"/>
          </a:xfrm>
          <a:prstGeom prst="roundRect">
            <a:avLst>
              <a:gd name="adj" fmla="val 7209"/>
            </a:avLst>
          </a:prstGeom>
          <a:solidFill>
            <a:srgbClr val="131A2A"/>
          </a:solidFill>
          <a:ln w="0">
            <a:noFill/>
          </a:ln>
        </p:spPr>
        <p:style>
          <a:lnRef idx="0"/>
          <a:fillRef idx="0"/>
          <a:effectRef idx="0"/>
          <a:fontRef idx="minor"/>
        </p:style>
        <p:txBody>
          <a:bodyPr wrap="none" lIns="173520" tIns="122760" rIns="0" bIns="97200" anchor="t">
            <a:normAutofit/>
          </a:bodyPr>
          <a:p>
            <a:pPr defTabSz="914400">
              <a:lnSpc>
                <a:spcPts val="1740"/>
              </a:lnSpc>
              <a:tabLst>
                <a:tab pos="0" algn="l"/>
              </a:tabLst>
            </a:pPr>
            <a:r>
              <a:rPr lang="en-US" sz="1200" b="0" u="none" strike="noStrike">
                <a:solidFill>
                  <a:srgbClr val="8A93A6"/>
                </a:solidFill>
                <a:effectLst/>
                <a:uFillTx/>
                <a:latin typeface="JetBrains Mono"/>
                <a:ea typeface="JetBrains Mono"/>
              </a:rPr>
              <a:t># Copilot CLI</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copilot plugin marketplace add obra/superpowers-marketplace</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copilot plugin install superpowers@superpowers-marketplace</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8A93A6"/>
                </a:solidFill>
                <a:effectLst/>
                <a:uFillTx/>
                <a:latin typeface="JetBrains Mono"/>
                <a:ea typeface="JetBrains Mono"/>
              </a:rPr>
              <a:t># VS Code (skills în .agents/skills)</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npx skills add obra/superpowers</a:t>
            </a:r>
            <a:endParaRPr lang="en-US" sz="1200" b="0" u="none" strike="noStrike">
              <a:solidFill>
                <a:srgbClr val="FFFFFF"/>
              </a:solidFill>
              <a:effectLst/>
              <a:uFillTx/>
              <a:latin typeface="Arial"/>
            </a:endParaRPr>
          </a:p>
        </p:txBody>
      </p:sp>
      <p:sp>
        <p:nvSpPr>
          <p:cNvPr id="514" name="Text 19"/>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515" name="Text 20"/>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13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522"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08 · SKILL-URI CUSTOM</a:t>
            </a:r>
            <a:endParaRPr lang="en-US" sz="1200" b="0" u="none" strike="noStrike">
              <a:solidFill>
                <a:srgbClr val="000000"/>
              </a:solidFill>
              <a:effectLst/>
              <a:uFillTx/>
              <a:latin typeface="Arial"/>
            </a:endParaRPr>
          </a:p>
        </p:txBody>
      </p:sp>
      <p:sp>
        <p:nvSpPr>
          <p:cNvPr id="523"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De la o conversație la un skill</a:t>
            </a:r>
            <a:endParaRPr lang="en-US" sz="3000" b="0" u="none" strike="noStrike">
              <a:solidFill>
                <a:schemeClr val="dk1"/>
              </a:solidFill>
              <a:effectLst/>
              <a:uFillTx/>
              <a:latin typeface="IBM Plex Sans"/>
            </a:endParaRPr>
          </a:p>
        </p:txBody>
      </p:sp>
      <p:sp>
        <p:nvSpPr>
          <p:cNvPr id="524" name="Shape 2"/>
          <p:cNvSpPr/>
          <p:nvPr/>
        </p:nvSpPr>
        <p:spPr>
          <a:xfrm>
            <a:off x="816120" y="1727640"/>
            <a:ext cx="2273040" cy="134496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5" name="Text 3"/>
          <p:cNvSpPr/>
          <p:nvPr/>
        </p:nvSpPr>
        <p:spPr>
          <a:xfrm>
            <a:off x="1021320" y="1933200"/>
            <a:ext cx="19184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1</a:t>
            </a:r>
            <a:endParaRPr lang="en-US" sz="1600" b="0" u="none" strike="noStrike">
              <a:solidFill>
                <a:srgbClr val="000000"/>
              </a:solidFill>
              <a:effectLst/>
              <a:uFillTx/>
              <a:latin typeface="Arial"/>
            </a:endParaRPr>
          </a:p>
        </p:txBody>
      </p:sp>
      <p:sp>
        <p:nvSpPr>
          <p:cNvPr id="526" name="Text 4"/>
          <p:cNvSpPr/>
          <p:nvPr/>
        </p:nvSpPr>
        <p:spPr>
          <a:xfrm>
            <a:off x="1021320" y="2227680"/>
            <a:ext cx="191844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Faci task-ul o dată cu agentul. Corectezi, clarifici, ajungi la rezultat bun.</a:t>
            </a:r>
            <a:endParaRPr lang="en-US" sz="1200" b="0" u="none" strike="noStrike">
              <a:solidFill>
                <a:srgbClr val="000000"/>
              </a:solidFill>
              <a:effectLst/>
              <a:uFillTx/>
              <a:latin typeface="Arial"/>
            </a:endParaRPr>
          </a:p>
        </p:txBody>
      </p:sp>
      <p:pic>
        <p:nvPicPr>
          <p:cNvPr id="527" name="Image 0" descr="arrow-right"/>
          <p:cNvPicPr/>
          <p:nvPr/>
        </p:nvPicPr>
        <p:blipFill>
          <a:blip r:embed="rId1"/>
          <a:stretch/>
        </p:blipFill>
        <p:spPr>
          <a:xfrm>
            <a:off x="3193920" y="2311560"/>
            <a:ext cx="279000" cy="177480"/>
          </a:xfrm>
          <a:prstGeom prst="rect">
            <a:avLst/>
          </a:prstGeom>
          <a:noFill/>
          <a:ln w="0">
            <a:noFill/>
          </a:ln>
        </p:spPr>
      </p:pic>
      <p:sp>
        <p:nvSpPr>
          <p:cNvPr id="528" name="Shape 5"/>
          <p:cNvSpPr/>
          <p:nvPr/>
        </p:nvSpPr>
        <p:spPr>
          <a:xfrm>
            <a:off x="3578040" y="1727640"/>
            <a:ext cx="2273040" cy="134496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9" name="Text 6"/>
          <p:cNvSpPr/>
          <p:nvPr/>
        </p:nvSpPr>
        <p:spPr>
          <a:xfrm>
            <a:off x="3783600" y="1933200"/>
            <a:ext cx="19184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2</a:t>
            </a:r>
            <a:endParaRPr lang="en-US" sz="1600" b="0" u="none" strike="noStrike">
              <a:solidFill>
                <a:srgbClr val="000000"/>
              </a:solidFill>
              <a:effectLst/>
              <a:uFillTx/>
              <a:latin typeface="Arial"/>
            </a:endParaRPr>
          </a:p>
        </p:txBody>
      </p:sp>
      <p:sp>
        <p:nvSpPr>
          <p:cNvPr id="530" name="Text 7"/>
          <p:cNvSpPr/>
          <p:nvPr/>
        </p:nvSpPr>
        <p:spPr>
          <a:xfrm>
            <a:off x="3783600" y="2227680"/>
            <a:ext cx="1918440" cy="451800"/>
          </a:xfrm>
          <a:prstGeom prst="rect">
            <a:avLst/>
          </a:prstGeom>
          <a:noFill/>
          <a:ln w="0">
            <a:noFill/>
          </a:ln>
        </p:spPr>
        <p:style>
          <a:lnRef idx="0"/>
          <a:fillRef idx="0"/>
          <a:effectRef idx="0"/>
          <a:fontRef idx="minor"/>
        </p:style>
        <p:txBody>
          <a:bodyPr lIns="0" tIns="0" rIns="0" bIns="0" anchor="t">
            <a:normAutofit fontScale="92500" lnSpcReduction="9999"/>
          </a:bodyPr>
          <a:p>
            <a:pPr defTabSz="914400">
              <a:lnSpc>
                <a:spcPts val="1681"/>
              </a:lnSpc>
              <a:tabLst>
                <a:tab pos="0" algn="l"/>
              </a:tabLst>
            </a:pPr>
            <a:r>
              <a:rPr lang="en-US" sz="1200" b="0" u="none" strike="noStrike">
                <a:solidFill>
                  <a:srgbClr val="444C5C"/>
                </a:solidFill>
                <a:effectLst/>
                <a:uFillTx/>
                <a:latin typeface="IBM Plex Sans"/>
                <a:ea typeface="IBM Plex Sans"/>
              </a:rPr>
              <a:t>Scrii „Make this a skill” sau </a:t>
            </a:r>
            <a:r>
              <a:rPr lang="en-US" sz="1200" b="1" u="none" strike="noStrike">
                <a:solidFill>
                  <a:srgbClr val="444C5C"/>
                </a:solidFill>
                <a:effectLst/>
                <a:uFillTx/>
                <a:latin typeface="IBM Plex Sans"/>
                <a:ea typeface="IBM Plex Sans"/>
              </a:rPr>
              <a:t>/create-skill</a:t>
            </a:r>
            <a:r>
              <a:rPr lang="en-US" sz="1200" b="0" u="none" strike="noStrike">
                <a:solidFill>
                  <a:srgbClr val="444C5C"/>
                </a:solidFill>
                <a:effectLst/>
                <a:uFillTx/>
                <a:latin typeface="IBM Plex Sans"/>
                <a:ea typeface="IBM Plex Sans"/>
              </a:rPr>
              <a:t> în VS Code.</a:t>
            </a:r>
            <a:endParaRPr lang="en-US" sz="1200" b="0" u="none" strike="noStrike">
              <a:solidFill>
                <a:srgbClr val="000000"/>
              </a:solidFill>
              <a:effectLst/>
              <a:uFillTx/>
              <a:latin typeface="Arial"/>
            </a:endParaRPr>
          </a:p>
        </p:txBody>
      </p:sp>
      <p:pic>
        <p:nvPicPr>
          <p:cNvPr id="531" name="Image 1" descr="arrow-right"/>
          <p:cNvPicPr/>
          <p:nvPr/>
        </p:nvPicPr>
        <p:blipFill>
          <a:blip r:embed="rId2"/>
          <a:stretch/>
        </p:blipFill>
        <p:spPr>
          <a:xfrm>
            <a:off x="5956200" y="2311560"/>
            <a:ext cx="279000" cy="177480"/>
          </a:xfrm>
          <a:prstGeom prst="rect">
            <a:avLst/>
          </a:prstGeom>
          <a:noFill/>
          <a:ln w="0">
            <a:noFill/>
          </a:ln>
        </p:spPr>
      </p:pic>
      <p:sp>
        <p:nvSpPr>
          <p:cNvPr id="532" name="Shape 8"/>
          <p:cNvSpPr/>
          <p:nvPr/>
        </p:nvSpPr>
        <p:spPr>
          <a:xfrm>
            <a:off x="6340320" y="1727640"/>
            <a:ext cx="2273040" cy="134496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3" name="Text 9"/>
          <p:cNvSpPr/>
          <p:nvPr/>
        </p:nvSpPr>
        <p:spPr>
          <a:xfrm>
            <a:off x="6545880" y="1933200"/>
            <a:ext cx="19184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3</a:t>
            </a:r>
            <a:endParaRPr lang="en-US" sz="1600" b="0" u="none" strike="noStrike">
              <a:solidFill>
                <a:srgbClr val="000000"/>
              </a:solidFill>
              <a:effectLst/>
              <a:uFillTx/>
              <a:latin typeface="Arial"/>
            </a:endParaRPr>
          </a:p>
        </p:txBody>
      </p:sp>
      <p:sp>
        <p:nvSpPr>
          <p:cNvPr id="534" name="Text 10"/>
          <p:cNvSpPr/>
          <p:nvPr/>
        </p:nvSpPr>
        <p:spPr>
          <a:xfrm>
            <a:off x="6545880" y="2227680"/>
            <a:ext cx="191844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Agentul extrage pașii, deciziile și verificările în SKILL.md.</a:t>
            </a:r>
            <a:endParaRPr lang="en-US" sz="1200" b="0" u="none" strike="noStrike">
              <a:solidFill>
                <a:srgbClr val="000000"/>
              </a:solidFill>
              <a:effectLst/>
              <a:uFillTx/>
              <a:latin typeface="Arial"/>
            </a:endParaRPr>
          </a:p>
        </p:txBody>
      </p:sp>
      <p:pic>
        <p:nvPicPr>
          <p:cNvPr id="535" name="Image 2" descr="arrow-right"/>
          <p:cNvPicPr/>
          <p:nvPr/>
        </p:nvPicPr>
        <p:blipFill>
          <a:blip r:embed="rId3"/>
          <a:stretch/>
        </p:blipFill>
        <p:spPr>
          <a:xfrm>
            <a:off x="8718480" y="2311560"/>
            <a:ext cx="279000" cy="177480"/>
          </a:xfrm>
          <a:prstGeom prst="rect">
            <a:avLst/>
          </a:prstGeom>
          <a:noFill/>
          <a:ln w="0">
            <a:noFill/>
          </a:ln>
        </p:spPr>
      </p:pic>
      <p:sp>
        <p:nvSpPr>
          <p:cNvPr id="536" name="Shape 11"/>
          <p:cNvSpPr/>
          <p:nvPr/>
        </p:nvSpPr>
        <p:spPr>
          <a:xfrm>
            <a:off x="9102600" y="1727640"/>
            <a:ext cx="2273040" cy="134496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7" name="Text 12"/>
          <p:cNvSpPr/>
          <p:nvPr/>
        </p:nvSpPr>
        <p:spPr>
          <a:xfrm>
            <a:off x="9308160" y="1933200"/>
            <a:ext cx="19184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4</a:t>
            </a:r>
            <a:endParaRPr lang="en-US" sz="1600" b="0" u="none" strike="noStrike">
              <a:solidFill>
                <a:srgbClr val="000000"/>
              </a:solidFill>
              <a:effectLst/>
              <a:uFillTx/>
              <a:latin typeface="Arial"/>
            </a:endParaRPr>
          </a:p>
        </p:txBody>
      </p:sp>
      <p:sp>
        <p:nvSpPr>
          <p:cNvPr id="538" name="Text 13"/>
          <p:cNvSpPr/>
          <p:nvPr/>
        </p:nvSpPr>
        <p:spPr>
          <a:xfrm>
            <a:off x="9308160" y="2227680"/>
            <a:ext cx="191844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Îl testezi pe un task nou, ajustezi descrierea, commit în .github/skills.</a:t>
            </a:r>
            <a:endParaRPr lang="en-US" sz="1200" b="0" u="none" strike="noStrike">
              <a:solidFill>
                <a:srgbClr val="000000"/>
              </a:solidFill>
              <a:effectLst/>
              <a:uFillTx/>
              <a:latin typeface="Arial"/>
            </a:endParaRPr>
          </a:p>
        </p:txBody>
      </p:sp>
      <p:sp>
        <p:nvSpPr>
          <p:cNvPr id="539" name="Shape 14"/>
          <p:cNvSpPr/>
          <p:nvPr/>
        </p:nvSpPr>
        <p:spPr>
          <a:xfrm>
            <a:off x="812880" y="3279240"/>
            <a:ext cx="10566000" cy="1241280"/>
          </a:xfrm>
          <a:prstGeom prst="roundRect">
            <a:avLst>
              <a:gd name="adj" fmla="val 8182"/>
            </a:avLst>
          </a:prstGeom>
          <a:solidFill>
            <a:srgbClr val="131A2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0" name="Text 15"/>
          <p:cNvSpPr/>
          <p:nvPr/>
        </p:nvSpPr>
        <p:spPr>
          <a:xfrm>
            <a:off x="1015920" y="3431520"/>
            <a:ext cx="10464480" cy="223200"/>
          </a:xfrm>
          <a:prstGeom prst="rect">
            <a:avLst/>
          </a:prstGeom>
          <a:noFill/>
          <a:ln w="0">
            <a:noFill/>
          </a:ln>
        </p:spPr>
        <p:style>
          <a:lnRef idx="0"/>
          <a:fillRef idx="0"/>
          <a:effectRef idx="0"/>
          <a:fontRef idx="minor"/>
        </p:style>
        <p:txBody>
          <a:bodyPr lIns="0" tIns="0" rIns="0" bIns="0" anchor="t">
            <a:normAutofit/>
          </a:bodyPr>
          <a:p>
            <a:pPr defTabSz="914400">
              <a:lnSpc>
                <a:spcPts val="1559"/>
              </a:lnSpc>
              <a:tabLst>
                <a:tab pos="0" algn="l"/>
              </a:tabLst>
            </a:pPr>
            <a:r>
              <a:rPr lang="en-US" sz="1200" b="0" u="none" strike="noStrike">
                <a:solidFill>
                  <a:srgbClr val="F2A66B"/>
                </a:solidFill>
                <a:effectLst/>
                <a:uFillTx/>
                <a:latin typeface="JetBrains Mono"/>
                <a:ea typeface="JetBrains Mono"/>
              </a:rPr>
              <a:t>Promptul</a:t>
            </a:r>
            <a:endParaRPr lang="en-US" sz="1200" b="0" u="none" strike="noStrike">
              <a:solidFill>
                <a:srgbClr val="000000"/>
              </a:solidFill>
              <a:effectLst/>
              <a:uFillTx/>
              <a:latin typeface="Arial"/>
            </a:endParaRPr>
          </a:p>
        </p:txBody>
      </p:sp>
      <p:sp>
        <p:nvSpPr>
          <p:cNvPr id="541" name="Text 16"/>
          <p:cNvSpPr/>
          <p:nvPr/>
        </p:nvSpPr>
        <p:spPr>
          <a:xfrm>
            <a:off x="1015920" y="3705840"/>
            <a:ext cx="10464480" cy="687960"/>
          </a:xfrm>
          <a:prstGeom prst="rect">
            <a:avLst/>
          </a:prstGeom>
          <a:noFill/>
          <a:ln w="0">
            <a:noFill/>
          </a:ln>
        </p:spPr>
        <p:style>
          <a:lnRef idx="0"/>
          <a:fillRef idx="0"/>
          <a:effectRef idx="0"/>
          <a:fontRef idx="minor"/>
        </p:style>
        <p:txBody>
          <a:bodyPr wrap="none" lIns="0" tIns="0" rIns="0" bIns="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Make this a skill: pașii pe care i-am făcut acum pentru un feature flag</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(config, cod, test, documentație). Salvează-l în .github/skills/add-feature-flag,</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pune convențiile în references/ și include corecturile mele de pe parcurs.</a:t>
            </a:r>
            <a:endParaRPr lang="en-US" sz="1200" b="0" u="none" strike="noStrike">
              <a:solidFill>
                <a:srgbClr val="000000"/>
              </a:solidFill>
              <a:effectLst/>
              <a:uFillTx/>
              <a:latin typeface="Arial"/>
            </a:endParaRPr>
          </a:p>
        </p:txBody>
      </p:sp>
      <p:sp>
        <p:nvSpPr>
          <p:cNvPr id="542" name="Text 17"/>
          <p:cNvSpPr/>
          <p:nvPr/>
        </p:nvSpPr>
        <p:spPr>
          <a:xfrm>
            <a:off x="812880" y="4724280"/>
            <a:ext cx="108831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444C5C"/>
                </a:solidFill>
                <a:effectLst/>
                <a:uFillTx/>
                <a:latin typeface="IBM Plex Sans"/>
                <a:ea typeface="IBM Plex Sans"/>
              </a:rPr>
              <a:t>Semne că ai nevoie de un skill:</a:t>
            </a:r>
            <a:r>
              <a:rPr lang="en-US" sz="1400" b="0" u="none" strike="noStrike">
                <a:solidFill>
                  <a:srgbClr val="444C5C"/>
                </a:solidFill>
                <a:effectLst/>
                <a:uFillTx/>
                <a:latin typeface="IBM Plex Sans"/>
                <a:ea typeface="IBM Plex Sans"/>
              </a:rPr>
              <a:t> ai explicat același lucru de 3 ori · workflow cu pași ficși · colegii fac același task în feluri diferite.</a:t>
            </a:r>
            <a:endParaRPr lang="en-US" sz="1400" b="0" u="none" strike="noStrike">
              <a:solidFill>
                <a:srgbClr val="000000"/>
              </a:solidFill>
              <a:effectLst/>
              <a:uFillTx/>
              <a:latin typeface="Arial"/>
            </a:endParaRPr>
          </a:p>
        </p:txBody>
      </p:sp>
      <p:sp>
        <p:nvSpPr>
          <p:cNvPr id="543" name="Text 18"/>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544" name="Text 19"/>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14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594"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09 · HOOKS</a:t>
            </a:r>
            <a:endParaRPr lang="en-US" sz="1200" b="0" u="none" strike="noStrike">
              <a:solidFill>
                <a:srgbClr val="000000"/>
              </a:solidFill>
              <a:effectLst/>
              <a:uFillTx/>
              <a:latin typeface="Arial"/>
            </a:endParaRPr>
          </a:p>
        </p:txBody>
      </p:sp>
      <p:sp>
        <p:nvSpPr>
          <p:cNvPr id="595"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Ce sunt hook-urile</a:t>
            </a:r>
            <a:endParaRPr lang="en-US" sz="3000" b="0" u="none" strike="noStrike">
              <a:solidFill>
                <a:schemeClr val="dk1"/>
              </a:solidFill>
              <a:effectLst/>
              <a:uFillTx/>
              <a:latin typeface="IBM Plex Sans"/>
            </a:endParaRPr>
          </a:p>
        </p:txBody>
      </p:sp>
      <p:sp>
        <p:nvSpPr>
          <p:cNvPr id="596" name="Text 2"/>
          <p:cNvSpPr/>
          <p:nvPr/>
        </p:nvSpPr>
        <p:spPr>
          <a:xfrm>
            <a:off x="812880" y="1775520"/>
            <a:ext cx="4054680" cy="77184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Scripturi (sau apeluri HTTP) rulate de harness la evenimente din viața agentului. Primesc JSON pe stdin, răspund cu JSON pe stdout.</a:t>
            </a:r>
            <a:endParaRPr lang="en-US" sz="1400" b="0" u="none" strike="noStrike">
              <a:solidFill>
                <a:srgbClr val="000000"/>
              </a:solidFill>
              <a:effectLst/>
              <a:uFillTx/>
              <a:latin typeface="Arial"/>
            </a:endParaRPr>
          </a:p>
        </p:txBody>
      </p:sp>
      <p:sp>
        <p:nvSpPr>
          <p:cNvPr id="597" name="Text 3"/>
          <p:cNvSpPr/>
          <p:nvPr/>
        </p:nvSpPr>
        <p:spPr>
          <a:xfrm>
            <a:off x="812880" y="2649240"/>
            <a:ext cx="4054680" cy="52272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444C5C"/>
                </a:solidFill>
                <a:effectLst/>
                <a:uFillTx/>
                <a:latin typeface="IBM Plex Sans"/>
                <a:ea typeface="IBM Plex Sans"/>
              </a:rPr>
              <a:t>Unde:</a:t>
            </a:r>
            <a:r>
              <a:rPr lang="en-US" sz="1400" b="0" u="none" strike="noStrike">
                <a:solidFill>
                  <a:srgbClr val="444C5C"/>
                </a:solidFill>
                <a:effectLst/>
                <a:uFillTx/>
                <a:latin typeface="IBM Plex Sans"/>
                <a:ea typeface="IBM Plex Sans"/>
              </a:rPr>
              <a:t> </a:t>
            </a:r>
            <a:r>
              <a:rPr lang="en-US" sz="1400" b="0" u="none" strike="noStrike">
                <a:solidFill>
                  <a:srgbClr val="2B5E96"/>
                </a:solidFill>
                <a:effectLst/>
                <a:uFillTx/>
                <a:latin typeface="IBM Plex Sans"/>
                <a:ea typeface="IBM Plex Sans"/>
              </a:rPr>
              <a:t>.github/hooks/*.json</a:t>
            </a:r>
            <a:r>
              <a:rPr lang="en-US" sz="1400" b="0" u="none" strike="noStrike">
                <a:solidFill>
                  <a:srgbClr val="444C5C"/>
                </a:solidFill>
                <a:effectLst/>
                <a:uFillTx/>
                <a:latin typeface="IBM Plex Sans"/>
                <a:ea typeface="IBM Plex Sans"/>
              </a:rPr>
              <a:t> (repo) · </a:t>
            </a:r>
            <a:r>
              <a:rPr lang="en-US" sz="1400" b="0" u="none" strike="noStrike">
                <a:solidFill>
                  <a:srgbClr val="2B5E96"/>
                </a:solidFill>
                <a:effectLst/>
                <a:uFillTx/>
                <a:latin typeface="IBM Plex Sans"/>
                <a:ea typeface="IBM Plex Sans"/>
              </a:rPr>
              <a:t>~/.copilot/hooks/*.json</a:t>
            </a:r>
            <a:r>
              <a:rPr lang="en-US" sz="1400" b="0" u="none" strike="noStrike">
                <a:solidFill>
                  <a:srgbClr val="444C5C"/>
                </a:solidFill>
                <a:effectLst/>
                <a:uFillTx/>
                <a:latin typeface="IBM Plex Sans"/>
                <a:ea typeface="IBM Plex Sans"/>
              </a:rPr>
              <a:t> (personal, CLI).</a:t>
            </a:r>
            <a:endParaRPr lang="en-US" sz="1400" b="0" u="none" strike="noStrike">
              <a:solidFill>
                <a:srgbClr val="000000"/>
              </a:solidFill>
              <a:effectLst/>
              <a:uFillTx/>
              <a:latin typeface="Arial"/>
            </a:endParaRPr>
          </a:p>
        </p:txBody>
      </p:sp>
      <p:sp>
        <p:nvSpPr>
          <p:cNvPr id="598" name="Text 4"/>
          <p:cNvSpPr/>
          <p:nvPr/>
        </p:nvSpPr>
        <p:spPr>
          <a:xfrm>
            <a:off x="812880" y="3273840"/>
            <a:ext cx="4054680" cy="52272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444C5C"/>
                </a:solidFill>
                <a:effectLst/>
                <a:uFillTx/>
                <a:latin typeface="IBM Plex Sans"/>
                <a:ea typeface="IBM Plex Sans"/>
              </a:rPr>
              <a:t>Unde rulează:</a:t>
            </a:r>
            <a:r>
              <a:rPr lang="en-US" sz="1400" b="0" u="none" strike="noStrike">
                <a:solidFill>
                  <a:srgbClr val="444C5C"/>
                </a:solidFill>
                <a:effectLst/>
                <a:uFillTx/>
                <a:latin typeface="IBM Plex Sans"/>
                <a:ea typeface="IBM Plex Sans"/>
              </a:rPr>
              <a:t> Copilot CLI și cloud agent; VS Code are un format compatibil.</a:t>
            </a:r>
            <a:endParaRPr lang="en-US" sz="1400" b="0" u="none" strike="noStrike">
              <a:solidFill>
                <a:srgbClr val="000000"/>
              </a:solidFill>
              <a:effectLst/>
              <a:uFillTx/>
              <a:latin typeface="Arial"/>
            </a:endParaRPr>
          </a:p>
        </p:txBody>
      </p:sp>
      <p:sp>
        <p:nvSpPr>
          <p:cNvPr id="599" name="Text 5"/>
          <p:cNvSpPr/>
          <p:nvPr/>
        </p:nvSpPr>
        <p:spPr>
          <a:xfrm>
            <a:off x="812880" y="3898800"/>
            <a:ext cx="40546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Rapide (câteva secunde), fără secrete </a:t>
            </a:r>
            <a:r>
              <a:rPr lang="en-US" sz="1200" b="0" u="none" strike="noStrike">
                <a:solidFill>
                  <a:srgbClr val="5E6677"/>
                </a:solidFill>
                <a:effectLst/>
                <a:uFillTx/>
                <a:latin typeface="IBM Plex Sans"/>
                <a:ea typeface="IBM Plex Sans"/>
              </a:rPr>
              <a:t>în output.</a:t>
            </a:r>
            <a:endParaRPr lang="en-US" sz="1200" b="0" u="none" strike="noStrike">
              <a:solidFill>
                <a:srgbClr val="000000"/>
              </a:solidFill>
              <a:effectLst/>
              <a:uFillTx/>
              <a:latin typeface="Arial"/>
            </a:endParaRPr>
          </a:p>
        </p:txBody>
      </p:sp>
      <p:sp>
        <p:nvSpPr>
          <p:cNvPr id="600" name="Shape 6"/>
          <p:cNvSpPr/>
          <p:nvPr/>
        </p:nvSpPr>
        <p:spPr>
          <a:xfrm>
            <a:off x="11376000" y="1775160"/>
            <a:ext cx="360" cy="2873880"/>
          </a:xfrm>
          <a:prstGeom prst="line">
            <a:avLst/>
          </a:prstGeom>
          <a:ln w="6350">
            <a:solidFill>
              <a:srgbClr val="E0DAC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1" name="Shape 7"/>
          <p:cNvSpPr/>
          <p:nvPr/>
        </p:nvSpPr>
        <p:spPr>
          <a:xfrm>
            <a:off x="5003640" y="4645800"/>
            <a:ext cx="63752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graphicFrame>
        <p:nvGraphicFramePr>
          <p:cNvPr id="602" name="Table 0"/>
          <p:cNvGraphicFramePr/>
          <p:nvPr/>
        </p:nvGraphicFramePr>
        <p:xfrm>
          <a:off x="5014440" y="1785960"/>
          <a:ext cx="6359400" cy="2857320"/>
        </p:xfrm>
        <a:graphic>
          <a:graphicData uri="http://schemas.openxmlformats.org/drawingml/2006/table">
            <a:tbl>
              <a:tblPr/>
              <a:tblGrid>
                <a:gridCol w="2289240"/>
                <a:gridCol w="2162160"/>
                <a:gridCol w="1907640"/>
              </a:tblGrid>
              <a:tr h="330480">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Eveniment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Când</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Efect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sessionStart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începe / se reia sesiunea</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adaugă context</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userPromptSubmitted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trimiți un prompt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log, audit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preToolUse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înainte de orice tool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allow / deny / ask</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postToolUse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după un tool reușit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adaugă context, modifică rezultatul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agentStop</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agentul zice „gata”</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block = încă o tură</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preCompact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înainte de compactare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notificare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sessionEnd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sesiunea se închide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curățenie, raport</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bl>
          </a:graphicData>
        </a:graphic>
      </p:graphicFrame>
      <p:sp>
        <p:nvSpPr>
          <p:cNvPr id="603" name="Text 8"/>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604" name="Text 9"/>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15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605"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09 · HOOKS · EXEMPLUL 1</a:t>
            </a:r>
            <a:endParaRPr lang="en-US" sz="1200" b="0" u="none" strike="noStrike">
              <a:solidFill>
                <a:srgbClr val="000000"/>
              </a:solidFill>
              <a:effectLst/>
              <a:uFillTx/>
              <a:latin typeface="Arial"/>
            </a:endParaRPr>
          </a:p>
        </p:txBody>
      </p:sp>
      <p:sp>
        <p:nvSpPr>
          <p:cNvPr id="606"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Blochează comenzile distructive (preToolUse)</a:t>
            </a:r>
            <a:endParaRPr lang="en-US" sz="3000" b="0" u="none" strike="noStrike">
              <a:solidFill>
                <a:schemeClr val="dk1"/>
              </a:solidFill>
              <a:effectLst/>
              <a:uFillTx/>
              <a:latin typeface="IBM Plex Sans"/>
            </a:endParaRPr>
          </a:p>
        </p:txBody>
      </p:sp>
      <p:sp>
        <p:nvSpPr>
          <p:cNvPr id="607" name="Shape 2"/>
          <p:cNvSpPr/>
          <p:nvPr/>
        </p:nvSpPr>
        <p:spPr>
          <a:xfrm>
            <a:off x="812880" y="1775520"/>
            <a:ext cx="5206680" cy="3008880"/>
          </a:xfrm>
          <a:prstGeom prst="roundRect">
            <a:avLst>
              <a:gd name="adj" fmla="val 3376"/>
            </a:avLst>
          </a:prstGeom>
          <a:solidFill>
            <a:srgbClr val="131A2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8" name="Text 3"/>
          <p:cNvSpPr/>
          <p:nvPr/>
        </p:nvSpPr>
        <p:spPr>
          <a:xfrm>
            <a:off x="1015920" y="1927800"/>
            <a:ext cx="4944240" cy="223200"/>
          </a:xfrm>
          <a:prstGeom prst="rect">
            <a:avLst/>
          </a:prstGeom>
          <a:noFill/>
          <a:ln w="0">
            <a:noFill/>
          </a:ln>
        </p:spPr>
        <p:style>
          <a:lnRef idx="0"/>
          <a:fillRef idx="0"/>
          <a:effectRef idx="0"/>
          <a:fontRef idx="minor"/>
        </p:style>
        <p:txBody>
          <a:bodyPr lIns="0" tIns="0" rIns="0" bIns="0" anchor="t">
            <a:normAutofit/>
          </a:bodyPr>
          <a:p>
            <a:pPr defTabSz="914400">
              <a:lnSpc>
                <a:spcPts val="1559"/>
              </a:lnSpc>
              <a:tabLst>
                <a:tab pos="0" algn="l"/>
              </a:tabLst>
            </a:pPr>
            <a:r>
              <a:rPr lang="en-US" sz="1200" b="0" u="none" strike="noStrike">
                <a:solidFill>
                  <a:srgbClr val="F2A66B"/>
                </a:solidFill>
                <a:effectLst/>
                <a:uFillTx/>
                <a:latin typeface="JetBrains Mono"/>
                <a:ea typeface="JetBrains Mono"/>
              </a:rPr>
              <a:t>.github/hooks/guardrails.json</a:t>
            </a:r>
            <a:endParaRPr lang="en-US" sz="1200" b="0" u="none" strike="noStrike">
              <a:solidFill>
                <a:srgbClr val="000000"/>
              </a:solidFill>
              <a:effectLst/>
              <a:uFillTx/>
              <a:latin typeface="Arial"/>
            </a:endParaRPr>
          </a:p>
        </p:txBody>
      </p:sp>
      <p:sp>
        <p:nvSpPr>
          <p:cNvPr id="609" name="Text 4"/>
          <p:cNvSpPr/>
          <p:nvPr/>
        </p:nvSpPr>
        <p:spPr>
          <a:xfrm>
            <a:off x="1015920" y="2202120"/>
            <a:ext cx="4944240" cy="2455200"/>
          </a:xfrm>
          <a:prstGeom prst="rect">
            <a:avLst/>
          </a:prstGeom>
          <a:noFill/>
          <a:ln w="0">
            <a:noFill/>
          </a:ln>
        </p:spPr>
        <p:style>
          <a:lnRef idx="0"/>
          <a:fillRef idx="0"/>
          <a:effectRef idx="0"/>
          <a:fontRef idx="minor"/>
        </p:style>
        <p:txBody>
          <a:bodyPr wrap="none" lIns="0" tIns="0" rIns="0" bIns="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"version": 1,</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"hooks":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"preToolUse":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"type": "command",</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"matcher": "bash|powershell",</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"bash": ".github/hooks/block.sh",</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"timeoutSec": 10</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a:t>
            </a:r>
            <a:endParaRPr lang="en-US" sz="1200" b="0" u="none" strike="noStrike">
              <a:solidFill>
                <a:srgbClr val="000000"/>
              </a:solidFill>
              <a:effectLst/>
              <a:uFillTx/>
              <a:latin typeface="Arial"/>
            </a:endParaRPr>
          </a:p>
        </p:txBody>
      </p:sp>
      <p:sp>
        <p:nvSpPr>
          <p:cNvPr id="610" name="Shape 5"/>
          <p:cNvSpPr/>
          <p:nvPr/>
        </p:nvSpPr>
        <p:spPr>
          <a:xfrm>
            <a:off x="6172200" y="1775520"/>
            <a:ext cx="5206680" cy="3008880"/>
          </a:xfrm>
          <a:prstGeom prst="roundRect">
            <a:avLst>
              <a:gd name="adj" fmla="val 3376"/>
            </a:avLst>
          </a:prstGeom>
          <a:solidFill>
            <a:srgbClr val="131A2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1" name="Text 6"/>
          <p:cNvSpPr/>
          <p:nvPr/>
        </p:nvSpPr>
        <p:spPr>
          <a:xfrm>
            <a:off x="6375240" y="1927800"/>
            <a:ext cx="4944240" cy="223200"/>
          </a:xfrm>
          <a:prstGeom prst="rect">
            <a:avLst/>
          </a:prstGeom>
          <a:noFill/>
          <a:ln w="0">
            <a:noFill/>
          </a:ln>
        </p:spPr>
        <p:style>
          <a:lnRef idx="0"/>
          <a:fillRef idx="0"/>
          <a:effectRef idx="0"/>
          <a:fontRef idx="minor"/>
        </p:style>
        <p:txBody>
          <a:bodyPr lIns="0" tIns="0" rIns="0" bIns="0" anchor="t">
            <a:normAutofit/>
          </a:bodyPr>
          <a:p>
            <a:pPr defTabSz="914400">
              <a:lnSpc>
                <a:spcPts val="1559"/>
              </a:lnSpc>
              <a:tabLst>
                <a:tab pos="0" algn="l"/>
              </a:tabLst>
            </a:pPr>
            <a:r>
              <a:rPr lang="en-US" sz="1200" b="0" u="none" strike="noStrike">
                <a:solidFill>
                  <a:srgbClr val="F2A66B"/>
                </a:solidFill>
                <a:effectLst/>
                <a:uFillTx/>
                <a:latin typeface="JetBrains Mono"/>
                <a:ea typeface="JetBrains Mono"/>
              </a:rPr>
              <a:t>.github/hooks/block.sh</a:t>
            </a:r>
            <a:endParaRPr lang="en-US" sz="1200" b="0" u="none" strike="noStrike">
              <a:solidFill>
                <a:srgbClr val="000000"/>
              </a:solidFill>
              <a:effectLst/>
              <a:uFillTx/>
              <a:latin typeface="Arial"/>
            </a:endParaRPr>
          </a:p>
        </p:txBody>
      </p:sp>
      <p:sp>
        <p:nvSpPr>
          <p:cNvPr id="612" name="Text 7"/>
          <p:cNvSpPr/>
          <p:nvPr/>
        </p:nvSpPr>
        <p:spPr>
          <a:xfrm>
            <a:off x="6375240" y="2202120"/>
            <a:ext cx="4944240" cy="2013480"/>
          </a:xfrm>
          <a:prstGeom prst="rect">
            <a:avLst/>
          </a:prstGeom>
          <a:noFill/>
          <a:ln w="0">
            <a:noFill/>
          </a:ln>
        </p:spPr>
        <p:style>
          <a:lnRef idx="0"/>
          <a:fillRef idx="0"/>
          <a:effectRef idx="0"/>
          <a:fontRef idx="minor"/>
        </p:style>
        <p:txBody>
          <a:bodyPr wrap="none" lIns="0" tIns="0" rIns="0" bIns="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#!/usr/bin/env bash</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payload=$(cat)</a:t>
            </a:r>
            <a:r>
              <a:rPr lang="en-US" sz="1200" b="0" u="none" strike="noStrike">
                <a:solidFill>
                  <a:srgbClr val="8A93A6"/>
                </a:solidFill>
                <a:effectLst/>
                <a:uFillTx/>
                <a:latin typeface="JetBrains Mono"/>
                <a:ea typeface="JetBrains Mono"/>
              </a:rPr>
              <a:t>  # evenimentul, JSON pe stdin</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danger='rm -rf|push (-f|--force)|DROP TABLE'</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if grep -Eq "$danger" &lt;&lt;&lt; "$payload"; then</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echo '{"permissionDecision":"deny",</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"permissionDecisionReason":"Blocat de hook"}'</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else</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echo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fi</a:t>
            </a:r>
            <a:endParaRPr lang="en-US" sz="1200" b="0" u="none" strike="noStrike">
              <a:solidFill>
                <a:srgbClr val="000000"/>
              </a:solidFill>
              <a:effectLst/>
              <a:uFillTx/>
              <a:latin typeface="Arial"/>
            </a:endParaRPr>
          </a:p>
        </p:txBody>
      </p:sp>
      <p:sp>
        <p:nvSpPr>
          <p:cNvPr id="613" name="Text 8"/>
          <p:cNvSpPr/>
          <p:nvPr/>
        </p:nvSpPr>
        <p:spPr>
          <a:xfrm>
            <a:off x="812880" y="5038560"/>
            <a:ext cx="10883160" cy="52272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Rulează înaintea fiecărei comenzi de shell. La </a:t>
            </a:r>
            <a:r>
              <a:rPr lang="en-US" sz="1400" b="1" u="none" strike="noStrike">
                <a:solidFill>
                  <a:srgbClr val="444C5C"/>
                </a:solidFill>
                <a:effectLst/>
                <a:uFillTx/>
                <a:latin typeface="IBM Plex Sans"/>
                <a:ea typeface="IBM Plex Sans"/>
              </a:rPr>
              <a:t>deny</a:t>
            </a:r>
            <a:r>
              <a:rPr lang="en-US" sz="1400" b="0" u="none" strike="noStrike">
                <a:solidFill>
                  <a:srgbClr val="444C5C"/>
                </a:solidFill>
                <a:effectLst/>
                <a:uFillTx/>
                <a:latin typeface="IBM Plex Sans"/>
                <a:ea typeface="IBM Plex Sans"/>
              </a:rPr>
              <a:t>, comanda nu se execută, iar agentul </a:t>
            </a:r>
            <a:r>
              <a:rPr lang="en-US" sz="1400" b="0" u="none" strike="noStrike">
                <a:solidFill>
                  <a:srgbClr val="444C5C"/>
                </a:solidFill>
                <a:effectLst/>
                <a:uFillTx/>
                <a:latin typeface="IBM Plex Sans"/>
                <a:ea typeface="IBM Plex Sans"/>
              </a:rPr>
              <a:t>primește motivul. Un crash al hook-ului blochează comanda (fail-closed); un timeout o lasă </a:t>
            </a:r>
            <a:r>
              <a:rPr lang="en-US" sz="1400" b="0" u="none" strike="noStrike">
                <a:solidFill>
                  <a:srgbClr val="444C5C"/>
                </a:solidFill>
                <a:effectLst/>
                <a:uFillTx/>
                <a:latin typeface="IBM Plex Sans"/>
                <a:ea typeface="IBM Plex Sans"/>
              </a:rPr>
              <a:t>să treacă.</a:t>
            </a:r>
            <a:endParaRPr lang="en-US" sz="1400" b="0" u="none" strike="noStrike">
              <a:solidFill>
                <a:srgbClr val="000000"/>
              </a:solidFill>
              <a:effectLst/>
              <a:uFillTx/>
              <a:latin typeface="Arial"/>
            </a:endParaRPr>
          </a:p>
        </p:txBody>
      </p:sp>
      <p:sp>
        <p:nvSpPr>
          <p:cNvPr id="614" name="Text 9"/>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615" name="Text 10"/>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16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659"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10 · ALTE UNELTE</a:t>
            </a:r>
            <a:endParaRPr lang="en-US" sz="1200" b="0" u="none" strike="noStrike">
              <a:solidFill>
                <a:srgbClr val="000000"/>
              </a:solidFill>
              <a:effectLst/>
              <a:uFillTx/>
              <a:latin typeface="Arial"/>
            </a:endParaRPr>
          </a:p>
        </p:txBody>
      </p:sp>
      <p:sp>
        <p:nvSpPr>
          <p:cNvPr id="660"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Merită </a:t>
            </a:r>
            <a:r>
              <a:rPr lang="en-US" sz="3000" b="1" u="none" strike="noStrike">
                <a:solidFill>
                  <a:srgbClr val="131A2A"/>
                </a:solidFill>
                <a:effectLst/>
                <a:uFillTx/>
                <a:latin typeface="Space Grotesk"/>
                <a:ea typeface="Space Grotesk"/>
              </a:rPr>
              <a:t>să le știi</a:t>
            </a:r>
            <a:endParaRPr lang="en-US" sz="3000" b="0" u="none" strike="noStrike">
              <a:solidFill>
                <a:schemeClr val="dk1"/>
              </a:solidFill>
              <a:effectLst/>
              <a:uFillTx/>
              <a:latin typeface="IBM Plex Sans"/>
            </a:endParaRPr>
          </a:p>
        </p:txBody>
      </p:sp>
      <p:sp>
        <p:nvSpPr>
          <p:cNvPr id="661" name="Shape 2"/>
          <p:cNvSpPr/>
          <p:nvPr/>
        </p:nvSpPr>
        <p:spPr>
          <a:xfrm>
            <a:off x="81612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62" name="Image 0" descr="Link"/>
          <p:cNvPicPr/>
          <p:nvPr/>
        </p:nvPicPr>
        <p:blipFill>
          <a:blip r:embed="rId1"/>
          <a:stretch/>
        </p:blipFill>
        <p:spPr>
          <a:xfrm>
            <a:off x="1021320" y="1983960"/>
            <a:ext cx="228240" cy="228240"/>
          </a:xfrm>
          <a:prstGeom prst="rect">
            <a:avLst/>
          </a:prstGeom>
          <a:noFill/>
          <a:ln w="0">
            <a:noFill/>
          </a:ln>
        </p:spPr>
      </p:pic>
      <p:sp>
        <p:nvSpPr>
          <p:cNvPr id="663" name="Text 3"/>
          <p:cNvSpPr/>
          <p:nvPr/>
        </p:nvSpPr>
        <p:spPr>
          <a:xfrm>
            <a:off x="1351440" y="1991520"/>
            <a:ext cx="12567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MCP servers</a:t>
            </a:r>
            <a:endParaRPr lang="en-US" sz="1400" b="0" u="none" strike="noStrike">
              <a:solidFill>
                <a:srgbClr val="000000"/>
              </a:solidFill>
              <a:effectLst/>
              <a:uFillTx/>
              <a:latin typeface="Arial"/>
            </a:endParaRPr>
          </a:p>
        </p:txBody>
      </p:sp>
      <p:sp>
        <p:nvSpPr>
          <p:cNvPr id="664" name="Text 4"/>
          <p:cNvSpPr/>
          <p:nvPr/>
        </p:nvSpPr>
        <p:spPr>
          <a:xfrm>
            <a:off x="1021320" y="2288520"/>
            <a:ext cx="309348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Conectează agentul la GitHub, Jira, baze de date, Playwright, documentație internă. Fiecare server costă context.</a:t>
            </a:r>
            <a:endParaRPr lang="en-US" sz="1200" b="0" u="none" strike="noStrike">
              <a:solidFill>
                <a:srgbClr val="000000"/>
              </a:solidFill>
              <a:effectLst/>
              <a:uFillTx/>
              <a:latin typeface="Arial"/>
            </a:endParaRPr>
          </a:p>
        </p:txBody>
      </p:sp>
      <p:sp>
        <p:nvSpPr>
          <p:cNvPr id="665" name="Shape 5"/>
          <p:cNvSpPr/>
          <p:nvPr/>
        </p:nvSpPr>
        <p:spPr>
          <a:xfrm>
            <a:off x="438876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66" name="Image 1" descr="Book"/>
          <p:cNvPicPr/>
          <p:nvPr/>
        </p:nvPicPr>
        <p:blipFill>
          <a:blip r:embed="rId2"/>
          <a:stretch/>
        </p:blipFill>
        <p:spPr>
          <a:xfrm>
            <a:off x="4594320" y="1983960"/>
            <a:ext cx="228240" cy="228240"/>
          </a:xfrm>
          <a:prstGeom prst="rect">
            <a:avLst/>
          </a:prstGeom>
          <a:noFill/>
          <a:ln w="0">
            <a:noFill/>
          </a:ln>
        </p:spPr>
      </p:pic>
      <p:sp>
        <p:nvSpPr>
          <p:cNvPr id="667" name="Text 6"/>
          <p:cNvSpPr/>
          <p:nvPr/>
        </p:nvSpPr>
        <p:spPr>
          <a:xfrm>
            <a:off x="4924440" y="1991520"/>
            <a:ext cx="1240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Prompt files</a:t>
            </a:r>
            <a:endParaRPr lang="en-US" sz="1400" b="0" u="none" strike="noStrike">
              <a:solidFill>
                <a:srgbClr val="000000"/>
              </a:solidFill>
              <a:effectLst/>
              <a:uFillTx/>
              <a:latin typeface="Arial"/>
            </a:endParaRPr>
          </a:p>
        </p:txBody>
      </p:sp>
      <p:sp>
        <p:nvSpPr>
          <p:cNvPr id="668" name="Text 7"/>
          <p:cNvSpPr/>
          <p:nvPr/>
        </p:nvSpPr>
        <p:spPr>
          <a:xfrm>
            <a:off x="4594320" y="228852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Prompturi reutilizabile (.prompt.md) rulate cu /nume în VS Code.</a:t>
            </a:r>
            <a:endParaRPr lang="en-US" sz="1200" b="0" u="none" strike="noStrike">
              <a:solidFill>
                <a:srgbClr val="000000"/>
              </a:solidFill>
              <a:effectLst/>
              <a:uFillTx/>
              <a:latin typeface="Arial"/>
            </a:endParaRPr>
          </a:p>
        </p:txBody>
      </p:sp>
      <p:sp>
        <p:nvSpPr>
          <p:cNvPr id="669" name="Shape 8"/>
          <p:cNvSpPr/>
          <p:nvPr/>
        </p:nvSpPr>
        <p:spPr>
          <a:xfrm>
            <a:off x="796176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70" name="Image 2" descr="Verified"/>
          <p:cNvPicPr/>
          <p:nvPr/>
        </p:nvPicPr>
        <p:blipFill>
          <a:blip r:embed="rId3"/>
          <a:stretch/>
        </p:blipFill>
        <p:spPr>
          <a:xfrm>
            <a:off x="8167320" y="1983960"/>
            <a:ext cx="228240" cy="228240"/>
          </a:xfrm>
          <a:prstGeom prst="rect">
            <a:avLst/>
          </a:prstGeom>
          <a:noFill/>
          <a:ln w="0">
            <a:noFill/>
          </a:ln>
        </p:spPr>
      </p:pic>
      <p:sp>
        <p:nvSpPr>
          <p:cNvPr id="671" name="Text 9"/>
          <p:cNvSpPr/>
          <p:nvPr/>
        </p:nvSpPr>
        <p:spPr>
          <a:xfrm>
            <a:off x="8497440" y="1991520"/>
            <a:ext cx="20293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Copilot code review</a:t>
            </a:r>
            <a:endParaRPr lang="en-US" sz="1400" b="0" u="none" strike="noStrike">
              <a:solidFill>
                <a:srgbClr val="000000"/>
              </a:solidFill>
              <a:effectLst/>
              <a:uFillTx/>
              <a:latin typeface="Arial"/>
            </a:endParaRPr>
          </a:p>
        </p:txBody>
      </p:sp>
      <p:sp>
        <p:nvSpPr>
          <p:cNvPr id="672" name="Text 10"/>
          <p:cNvSpPr/>
          <p:nvPr/>
        </p:nvSpPr>
        <p:spPr>
          <a:xfrm>
            <a:off x="8167320" y="228852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Review automat pe PR, care respectă instrucțiunile din repo.</a:t>
            </a:r>
            <a:endParaRPr lang="en-US" sz="1200" b="0" u="none" strike="noStrike">
              <a:solidFill>
                <a:srgbClr val="000000"/>
              </a:solidFill>
              <a:effectLst/>
              <a:uFillTx/>
              <a:latin typeface="Arial"/>
            </a:endParaRPr>
          </a:p>
        </p:txBody>
      </p:sp>
      <p:sp>
        <p:nvSpPr>
          <p:cNvPr id="673" name="Shape 11"/>
          <p:cNvSpPr/>
          <p:nvPr/>
        </p:nvSpPr>
        <p:spPr>
          <a:xfrm>
            <a:off x="81612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74" name="Image 3" descr="Database"/>
          <p:cNvPicPr/>
          <p:nvPr/>
        </p:nvPicPr>
        <p:blipFill>
          <a:blip r:embed="rId4"/>
          <a:stretch/>
        </p:blipFill>
        <p:spPr>
          <a:xfrm>
            <a:off x="1021320" y="3497760"/>
            <a:ext cx="228240" cy="228240"/>
          </a:xfrm>
          <a:prstGeom prst="rect">
            <a:avLst/>
          </a:prstGeom>
          <a:noFill/>
          <a:ln w="0">
            <a:noFill/>
          </a:ln>
        </p:spPr>
      </p:pic>
      <p:sp>
        <p:nvSpPr>
          <p:cNvPr id="675" name="Text 12"/>
          <p:cNvSpPr/>
          <p:nvPr/>
        </p:nvSpPr>
        <p:spPr>
          <a:xfrm>
            <a:off x="1351440" y="3505680"/>
            <a:ext cx="16340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Copilot Memory</a:t>
            </a:r>
            <a:endParaRPr lang="en-US" sz="1400" b="0" u="none" strike="noStrike">
              <a:solidFill>
                <a:srgbClr val="000000"/>
              </a:solidFill>
              <a:effectLst/>
              <a:uFillTx/>
              <a:latin typeface="Arial"/>
            </a:endParaRPr>
          </a:p>
        </p:txBody>
      </p:sp>
      <p:sp>
        <p:nvSpPr>
          <p:cNvPr id="676" name="Text 13"/>
          <p:cNvSpPr/>
          <p:nvPr/>
        </p:nvSpPr>
        <p:spPr>
          <a:xfrm>
            <a:off x="1021320" y="380268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Memorie la nivel de repository pe care </a:t>
            </a:r>
            <a:r>
              <a:rPr lang="en-US" sz="1200" b="0" u="none" strike="noStrike">
                <a:solidFill>
                  <a:srgbClr val="444C5C"/>
                </a:solidFill>
                <a:effectLst/>
                <a:uFillTx/>
                <a:latin typeface="IBM Plex Sans"/>
                <a:ea typeface="IBM Plex Sans"/>
              </a:rPr>
              <a:t>agenții o folosesc între sesiuni.</a:t>
            </a:r>
            <a:endParaRPr lang="en-US" sz="1200" b="0" u="none" strike="noStrike">
              <a:solidFill>
                <a:srgbClr val="000000"/>
              </a:solidFill>
              <a:effectLst/>
              <a:uFillTx/>
              <a:latin typeface="Arial"/>
            </a:endParaRPr>
          </a:p>
        </p:txBody>
      </p:sp>
      <p:sp>
        <p:nvSpPr>
          <p:cNvPr id="677" name="Shape 14"/>
          <p:cNvSpPr/>
          <p:nvPr/>
        </p:nvSpPr>
        <p:spPr>
          <a:xfrm>
            <a:off x="438876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78" name="Image 4" descr="Tool"/>
          <p:cNvPicPr/>
          <p:nvPr/>
        </p:nvPicPr>
        <p:blipFill>
          <a:blip r:embed="rId5"/>
          <a:stretch/>
        </p:blipFill>
        <p:spPr>
          <a:xfrm>
            <a:off x="4594320" y="3497760"/>
            <a:ext cx="228240" cy="228240"/>
          </a:xfrm>
          <a:prstGeom prst="rect">
            <a:avLst/>
          </a:prstGeom>
          <a:noFill/>
          <a:ln w="0">
            <a:noFill/>
          </a:ln>
        </p:spPr>
      </p:pic>
      <p:sp>
        <p:nvSpPr>
          <p:cNvPr id="679" name="Text 15"/>
          <p:cNvSpPr/>
          <p:nvPr/>
        </p:nvSpPr>
        <p:spPr>
          <a:xfrm>
            <a:off x="4924440" y="3505680"/>
            <a:ext cx="7506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Plugins</a:t>
            </a:r>
            <a:endParaRPr lang="en-US" sz="1400" b="0" u="none" strike="noStrike">
              <a:solidFill>
                <a:srgbClr val="000000"/>
              </a:solidFill>
              <a:effectLst/>
              <a:uFillTx/>
              <a:latin typeface="Arial"/>
            </a:endParaRPr>
          </a:p>
        </p:txBody>
      </p:sp>
      <p:sp>
        <p:nvSpPr>
          <p:cNvPr id="680" name="Text 16"/>
          <p:cNvSpPr/>
          <p:nvPr/>
        </p:nvSpPr>
        <p:spPr>
          <a:xfrm>
            <a:off x="4594320" y="380268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Pachete de skills, agenți, hooks și MCP instalate dintr-o comandă.</a:t>
            </a:r>
            <a:endParaRPr lang="en-US" sz="1200" b="0" u="none" strike="noStrike">
              <a:solidFill>
                <a:srgbClr val="000000"/>
              </a:solidFill>
              <a:effectLst/>
              <a:uFillTx/>
              <a:latin typeface="Arial"/>
            </a:endParaRPr>
          </a:p>
        </p:txBody>
      </p:sp>
      <p:sp>
        <p:nvSpPr>
          <p:cNvPr id="681" name="Shape 17"/>
          <p:cNvSpPr/>
          <p:nvPr/>
        </p:nvSpPr>
        <p:spPr>
          <a:xfrm>
            <a:off x="796176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82" name="Image 5" descr="Cloud"/>
          <p:cNvPicPr/>
          <p:nvPr/>
        </p:nvPicPr>
        <p:blipFill>
          <a:blip r:embed="rId6"/>
          <a:stretch/>
        </p:blipFill>
        <p:spPr>
          <a:xfrm>
            <a:off x="8167320" y="3497760"/>
            <a:ext cx="228240" cy="228240"/>
          </a:xfrm>
          <a:prstGeom prst="rect">
            <a:avLst/>
          </a:prstGeom>
          <a:noFill/>
          <a:ln w="0">
            <a:noFill/>
          </a:ln>
        </p:spPr>
      </p:pic>
      <p:sp>
        <p:nvSpPr>
          <p:cNvPr id="683" name="Text 18"/>
          <p:cNvSpPr/>
          <p:nvPr/>
        </p:nvSpPr>
        <p:spPr>
          <a:xfrm>
            <a:off x="8497440" y="3505680"/>
            <a:ext cx="15429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Copilot Spaces</a:t>
            </a:r>
            <a:endParaRPr lang="en-US" sz="1400" b="0" u="none" strike="noStrike">
              <a:solidFill>
                <a:srgbClr val="000000"/>
              </a:solidFill>
              <a:effectLst/>
              <a:uFillTx/>
              <a:latin typeface="Arial"/>
            </a:endParaRPr>
          </a:p>
        </p:txBody>
      </p:sp>
      <p:sp>
        <p:nvSpPr>
          <p:cNvPr id="684" name="Text 19"/>
          <p:cNvSpPr/>
          <p:nvPr/>
        </p:nvSpPr>
        <p:spPr>
          <a:xfrm>
            <a:off x="8167320" y="380268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Colecții de context (fișiere, docs) partajate cu echipa.</a:t>
            </a:r>
            <a:endParaRPr lang="en-US" sz="1200" b="0" u="none" strike="noStrike">
              <a:solidFill>
                <a:srgbClr val="000000"/>
              </a:solidFill>
              <a:effectLst/>
              <a:uFillTx/>
              <a:latin typeface="Arial"/>
            </a:endParaRPr>
          </a:p>
        </p:txBody>
      </p:sp>
      <p:sp>
        <p:nvSpPr>
          <p:cNvPr id="685" name="Text 20"/>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a:t>
            </a:r>
            <a:r>
              <a:rPr lang="en-US" sz="1200" b="0" u="none" strike="noStrike">
                <a:solidFill>
                  <a:srgbClr val="5E6677"/>
                </a:solidFill>
                <a:effectLst/>
                <a:uFillTx/>
                <a:latin typeface="IBM Plex Sans"/>
                <a:ea typeface="IBM Plex Sans"/>
              </a:rPr>
              <a:t>Copilot</a:t>
            </a:r>
            <a:endParaRPr lang="en-US" sz="1200" b="0" u="none" strike="noStrike">
              <a:solidFill>
                <a:srgbClr val="000000"/>
              </a:solidFill>
              <a:effectLst/>
              <a:uFillTx/>
              <a:latin typeface="Arial"/>
            </a:endParaRPr>
          </a:p>
        </p:txBody>
      </p:sp>
      <p:sp>
        <p:nvSpPr>
          <p:cNvPr id="686" name="Text 21"/>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17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0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11 · TOKENI</a:t>
            </a:r>
            <a:endParaRPr lang="en-US" sz="1200" b="0" u="none" strike="noStrike">
              <a:solidFill>
                <a:srgbClr val="000000"/>
              </a:solidFill>
              <a:effectLst/>
              <a:uFillTx/>
              <a:latin typeface="Arial"/>
            </a:endParaRPr>
          </a:p>
        </p:txBody>
      </p:sp>
      <p:sp>
        <p:nvSpPr>
          <p:cNvPr id="709"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Aceeași sesiune, opt modele</a:t>
            </a:r>
            <a:endParaRPr lang="en-US" sz="3000" b="0" u="none" strike="noStrike">
              <a:solidFill>
                <a:schemeClr val="dk1"/>
              </a:solidFill>
              <a:effectLst/>
              <a:uFillTx/>
              <a:latin typeface="IBM Plex Sans"/>
            </a:endParaRPr>
          </a:p>
        </p:txBody>
      </p:sp>
      <p:sp>
        <p:nvSpPr>
          <p:cNvPr id="710" name="Shape 2"/>
          <p:cNvSpPr/>
          <p:nvPr/>
        </p:nvSpPr>
        <p:spPr>
          <a:xfrm>
            <a:off x="11376000" y="1775160"/>
            <a:ext cx="360" cy="2990880"/>
          </a:xfrm>
          <a:prstGeom prst="line">
            <a:avLst/>
          </a:prstGeom>
          <a:ln w="6350">
            <a:solidFill>
              <a:srgbClr val="E0DAC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11" name="Shape 3"/>
          <p:cNvSpPr/>
          <p:nvPr/>
        </p:nvSpPr>
        <p:spPr>
          <a:xfrm>
            <a:off x="812520" y="4762800"/>
            <a:ext cx="1056636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graphicFrame>
        <p:nvGraphicFramePr>
          <p:cNvPr id="712" name="Table 0"/>
          <p:cNvGraphicFramePr/>
          <p:nvPr/>
        </p:nvGraphicFramePr>
        <p:xfrm>
          <a:off x="823320" y="1785960"/>
          <a:ext cx="10550160" cy="2974680"/>
        </p:xfrm>
        <a:graphic>
          <a:graphicData uri="http://schemas.openxmlformats.org/drawingml/2006/table">
            <a:tbl>
              <a:tblPr/>
              <a:tblGrid>
                <a:gridCol w="2742840"/>
                <a:gridCol w="1793520"/>
                <a:gridCol w="1793520"/>
                <a:gridCol w="1688040"/>
                <a:gridCol w="2531880"/>
              </a:tblGrid>
              <a:tr h="330480">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Model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80K input nou</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320K din cache</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40K output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Total</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Haiku 4.5</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$0.080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$0.032</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$0.200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$0.31 ≈ 31 credite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Sonnet 5.5</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$0.064</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$0.400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$0.62 ≈ 62 credite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Opus 5.5</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$0.320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$0.064</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$0.800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$1.18 ≈ 118 credite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GPT-5.6 Luna</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$0.016</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$0.006</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$0.048</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$0.07 ≈ 7 credite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GPT-5.6 Terra</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$0.064</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$0.480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$0.70 ≈ 70 credite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GPT-5.6 Sol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$0.320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$0.128</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$0.800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$1.25 ≈ 125 credite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Grok 4.7</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$0.240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$0.56 ≈ 56 credite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Fable 5.1</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$0.800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$0.080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$2.000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$2.88 ≈ 288 credite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bl>
          </a:graphicData>
        </a:graphic>
      </p:graphicFrame>
      <p:sp>
        <p:nvSpPr>
          <p:cNvPr id="713" name="Text 4"/>
          <p:cNvSpPr/>
          <p:nvPr/>
        </p:nvSpPr>
        <p:spPr>
          <a:xfrm>
            <a:off x="812880" y="5020200"/>
            <a:ext cx="1088316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Exemplu ilustrativ: o sesiune de agent cu 400K tokeni de input (80% din cache) și 40K de output, la prețurile Copilot per 1M tokeni, fără costul de cache write. Diferența dintre extreme: ~40×.</a:t>
            </a:r>
            <a:endParaRPr lang="en-US" sz="1200" b="0" u="none" strike="noStrike">
              <a:solidFill>
                <a:srgbClr val="000000"/>
              </a:solidFill>
              <a:effectLst/>
              <a:uFillTx/>
              <a:latin typeface="Arial"/>
            </a:endParaRPr>
          </a:p>
        </p:txBody>
      </p:sp>
      <p:sp>
        <p:nvSpPr>
          <p:cNvPr id="714" name="Text 5"/>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715" name="Text 6"/>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18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53"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12 · CONTEXT</a:t>
            </a:r>
            <a:endParaRPr lang="en-US" sz="1200" b="0" u="none" strike="noStrike">
              <a:solidFill>
                <a:srgbClr val="000000"/>
              </a:solidFill>
              <a:effectLst/>
              <a:uFillTx/>
              <a:latin typeface="Arial"/>
            </a:endParaRPr>
          </a:p>
        </p:txBody>
      </p:sp>
      <p:sp>
        <p:nvSpPr>
          <p:cNvPr id="754"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Smart zone vs dumb zone</a:t>
            </a:r>
            <a:endParaRPr lang="en-US" sz="3000" b="0" u="none" strike="noStrike">
              <a:solidFill>
                <a:schemeClr val="dk1"/>
              </a:solidFill>
              <a:effectLst/>
              <a:uFillTx/>
              <a:latin typeface="IBM Plex Sans"/>
            </a:endParaRPr>
          </a:p>
        </p:txBody>
      </p:sp>
      <p:sp>
        <p:nvSpPr>
          <p:cNvPr id="755" name="Text 2"/>
          <p:cNvSpPr/>
          <p:nvPr/>
        </p:nvSpPr>
        <p:spPr>
          <a:xfrm>
            <a:off x="812880" y="1775520"/>
            <a:ext cx="4228560" cy="609120"/>
          </a:xfrm>
          <a:custGeom>
            <a:avLst/>
            <a:gdLst>
              <a:gd name="textAreaLeft" fmla="*/ 0 w 4228560"/>
              <a:gd name="textAreaRight" fmla="*/ 4228920 w 4228560"/>
              <a:gd name="textAreaTop" fmla="*/ 0 h 609120"/>
              <a:gd name="textAreaBottom" fmla="*/ 609480 h 609120"/>
            </a:gdLst>
            <a:ahLst/>
            <a:cxnLst/>
            <a:rect l="textAreaLeft" t="textAreaTop" r="textAreaRight" b="textAreaBottom"/>
            <a:pathLst>
              <a:path w="4229075" h="609575">
                <a:moveTo>
                  <a:pt x="0" y="101600"/>
                </a:moveTo>
                <a:arcTo wR="101600" hR="101600" stAng="10800000" swAng="5400000"/>
                <a:lnTo>
                  <a:pt x="4229075" y="0"/>
                </a:lnTo>
                <a:lnTo>
                  <a:pt x="4229075" y="609575"/>
                </a:lnTo>
                <a:lnTo>
                  <a:pt x="101600" y="609575"/>
                </a:lnTo>
                <a:arcTo wR="101600" hR="101600" stAng="5400000" swAng="5400000"/>
                <a:close/>
              </a:path>
            </a:pathLst>
          </a:custGeom>
          <a:solidFill>
            <a:srgbClr val="9CC3EA"/>
          </a:solidFill>
          <a:ln w="0">
            <a:noFill/>
          </a:ln>
        </p:spPr>
        <p:style>
          <a:lnRef idx="0"/>
          <a:fillRef idx="0"/>
          <a:effectRef idx="0"/>
          <a:fontRef idx="minor"/>
        </p:style>
        <p:txBody>
          <a:bodyPr lIns="0" tIns="0" rIns="0" bIns="0" anchor="ctr">
            <a:normAutofit/>
          </a:bodyPr>
          <a:p>
            <a:pPr algn="ctr" defTabSz="914400">
              <a:lnSpc>
                <a:spcPts val="1959"/>
              </a:lnSpc>
              <a:tabLst>
                <a:tab pos="0" algn="l"/>
              </a:tabLst>
            </a:pPr>
            <a:r>
              <a:rPr lang="en-US" sz="1400" b="1" u="none" strike="noStrike">
                <a:solidFill>
                  <a:srgbClr val="131A2A"/>
                </a:solidFill>
                <a:effectLst/>
                <a:uFillTx/>
                <a:latin typeface="Space Grotesk"/>
                <a:ea typeface="Space Grotesk"/>
              </a:rPr>
              <a:t>smart zone</a:t>
            </a:r>
            <a:endParaRPr lang="en-US" sz="1400" b="0" u="none" strike="noStrike">
              <a:solidFill>
                <a:srgbClr val="000000"/>
              </a:solidFill>
              <a:effectLst/>
              <a:uFillTx/>
              <a:latin typeface="Arial"/>
            </a:endParaRPr>
          </a:p>
        </p:txBody>
      </p:sp>
      <p:sp>
        <p:nvSpPr>
          <p:cNvPr id="756" name="Text 3"/>
          <p:cNvSpPr/>
          <p:nvPr/>
        </p:nvSpPr>
        <p:spPr>
          <a:xfrm>
            <a:off x="5041800" y="1775520"/>
            <a:ext cx="3168360" cy="609120"/>
          </a:xfrm>
          <a:prstGeom prst="rect">
            <a:avLst/>
          </a:prstGeom>
          <a:solidFill>
            <a:srgbClr val="EAC79B"/>
          </a:solidFill>
          <a:ln w="0">
            <a:noFill/>
          </a:ln>
        </p:spPr>
        <p:style>
          <a:lnRef idx="0"/>
          <a:fillRef idx="0"/>
          <a:effectRef idx="0"/>
          <a:fontRef idx="minor"/>
        </p:style>
        <p:txBody>
          <a:bodyPr lIns="0" tIns="0" rIns="0" bIns="0" anchor="ctr">
            <a:normAutofit/>
          </a:bodyPr>
          <a:p>
            <a:pPr algn="ctr" defTabSz="914400">
              <a:lnSpc>
                <a:spcPts val="1959"/>
              </a:lnSpc>
              <a:tabLst>
                <a:tab pos="0" algn="l"/>
              </a:tabLst>
            </a:pPr>
            <a:r>
              <a:rPr lang="en-US" sz="1400" b="1" u="none" strike="noStrike">
                <a:solidFill>
                  <a:srgbClr val="131A2A"/>
                </a:solidFill>
                <a:effectLst/>
                <a:uFillTx/>
                <a:latin typeface="Space Grotesk"/>
                <a:ea typeface="Space Grotesk"/>
              </a:rPr>
              <a:t>zonă caldă</a:t>
            </a:r>
            <a:endParaRPr lang="en-US" sz="1400" b="0" u="none" strike="noStrike">
              <a:solidFill>
                <a:srgbClr val="000000"/>
              </a:solidFill>
              <a:effectLst/>
              <a:uFillTx/>
              <a:latin typeface="Arial"/>
            </a:endParaRPr>
          </a:p>
        </p:txBody>
      </p:sp>
      <p:sp>
        <p:nvSpPr>
          <p:cNvPr id="757" name="Text 4"/>
          <p:cNvSpPr/>
          <p:nvPr/>
        </p:nvSpPr>
        <p:spPr>
          <a:xfrm>
            <a:off x="8210520" y="1775520"/>
            <a:ext cx="3168360" cy="609120"/>
          </a:xfrm>
          <a:custGeom>
            <a:avLst/>
            <a:gdLst>
              <a:gd name="textAreaLeft" fmla="*/ 0 w 3168360"/>
              <a:gd name="textAreaRight" fmla="*/ 3168720 w 3168360"/>
              <a:gd name="textAreaTop" fmla="*/ 0 h 609120"/>
              <a:gd name="textAreaBottom" fmla="*/ 609480 h 609120"/>
            </a:gdLst>
            <a:ahLst/>
            <a:cxnLst/>
            <a:rect l="textAreaLeft" t="textAreaTop" r="textAreaRight" b="textAreaBottom"/>
            <a:pathLst>
              <a:path w="3168633" h="609575">
                <a:moveTo>
                  <a:pt x="3067033" y="0"/>
                </a:moveTo>
                <a:arcTo wR="101600" hR="101600" stAng="16200000" swAng="5400000"/>
                <a:lnTo>
                  <a:pt x="3168633" y="507975"/>
                </a:lnTo>
                <a:arcTo wR="101600" hR="101600" stAng="0" swAng="5400000"/>
                <a:lnTo>
                  <a:pt x="0" y="609575"/>
                </a:lnTo>
                <a:lnTo>
                  <a:pt x="0" y="0"/>
                </a:lnTo>
                <a:close/>
              </a:path>
            </a:pathLst>
          </a:custGeom>
          <a:solidFill>
            <a:srgbClr val="E8823A"/>
          </a:solidFill>
          <a:ln w="0">
            <a:noFill/>
          </a:ln>
        </p:spPr>
        <p:style>
          <a:lnRef idx="0"/>
          <a:fillRef idx="0"/>
          <a:effectRef idx="0"/>
          <a:fontRef idx="minor"/>
        </p:style>
        <p:txBody>
          <a:bodyPr lIns="0" tIns="0" rIns="0" bIns="0" anchor="ctr">
            <a:normAutofit/>
          </a:bodyPr>
          <a:p>
            <a:pPr algn="ctr" defTabSz="914400">
              <a:lnSpc>
                <a:spcPts val="1959"/>
              </a:lnSpc>
              <a:tabLst>
                <a:tab pos="0" algn="l"/>
              </a:tabLst>
            </a:pPr>
            <a:r>
              <a:rPr lang="en-US" sz="1400" b="1" u="none" strike="noStrike">
                <a:solidFill>
                  <a:srgbClr val="131A2A"/>
                </a:solidFill>
                <a:effectLst/>
                <a:uFillTx/>
                <a:latin typeface="Space Grotesk"/>
                <a:ea typeface="Space Grotesk"/>
              </a:rPr>
              <a:t>dumb zone</a:t>
            </a:r>
            <a:endParaRPr lang="en-US" sz="1400" b="0" u="none" strike="noStrike">
              <a:solidFill>
                <a:srgbClr val="FFFFFF"/>
              </a:solidFill>
              <a:effectLst/>
              <a:uFillTx/>
              <a:latin typeface="Arial"/>
            </a:endParaRPr>
          </a:p>
        </p:txBody>
      </p:sp>
      <p:sp>
        <p:nvSpPr>
          <p:cNvPr id="758" name="Text 5"/>
          <p:cNvSpPr/>
          <p:nvPr/>
        </p:nvSpPr>
        <p:spPr>
          <a:xfrm>
            <a:off x="812880" y="2435760"/>
            <a:ext cx="43556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0%</a:t>
            </a:r>
            <a:endParaRPr lang="en-US" sz="1200" b="0" u="none" strike="noStrike">
              <a:solidFill>
                <a:srgbClr val="000000"/>
              </a:solidFill>
              <a:effectLst/>
              <a:uFillTx/>
              <a:latin typeface="Arial"/>
            </a:endParaRPr>
          </a:p>
        </p:txBody>
      </p:sp>
      <p:sp>
        <p:nvSpPr>
          <p:cNvPr id="759" name="Text 6"/>
          <p:cNvSpPr/>
          <p:nvPr/>
        </p:nvSpPr>
        <p:spPr>
          <a:xfrm>
            <a:off x="5041800" y="2435760"/>
            <a:ext cx="32634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~40%</a:t>
            </a:r>
            <a:endParaRPr lang="en-US" sz="1200" b="0" u="none" strike="noStrike">
              <a:solidFill>
                <a:srgbClr val="000000"/>
              </a:solidFill>
              <a:effectLst/>
              <a:uFillTx/>
              <a:latin typeface="Arial"/>
            </a:endParaRPr>
          </a:p>
        </p:txBody>
      </p:sp>
      <p:sp>
        <p:nvSpPr>
          <p:cNvPr id="760" name="Text 7"/>
          <p:cNvSpPr/>
          <p:nvPr/>
        </p:nvSpPr>
        <p:spPr>
          <a:xfrm>
            <a:off x="8210520" y="2435760"/>
            <a:ext cx="26092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~70%</a:t>
            </a:r>
            <a:endParaRPr lang="en-US" sz="1200" b="0" u="none" strike="noStrike">
              <a:solidFill>
                <a:srgbClr val="000000"/>
              </a:solidFill>
              <a:effectLst/>
              <a:uFillTx/>
              <a:latin typeface="Arial"/>
            </a:endParaRPr>
          </a:p>
        </p:txBody>
      </p:sp>
      <p:sp>
        <p:nvSpPr>
          <p:cNvPr id="761" name="Text 8"/>
          <p:cNvSpPr/>
          <p:nvPr/>
        </p:nvSpPr>
        <p:spPr>
          <a:xfrm>
            <a:off x="10693440" y="2435760"/>
            <a:ext cx="68544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100%</a:t>
            </a:r>
            <a:endParaRPr lang="en-US" sz="1200" b="0" u="none" strike="noStrike">
              <a:solidFill>
                <a:srgbClr val="000000"/>
              </a:solidFill>
              <a:effectLst/>
              <a:uFillTx/>
              <a:latin typeface="Arial"/>
            </a:endParaRPr>
          </a:p>
        </p:txBody>
      </p:sp>
      <p:sp>
        <p:nvSpPr>
          <p:cNvPr id="762" name="Shape 9"/>
          <p:cNvSpPr/>
          <p:nvPr/>
        </p:nvSpPr>
        <p:spPr>
          <a:xfrm>
            <a:off x="812880" y="2903040"/>
            <a:ext cx="3420360" cy="1096920"/>
          </a:xfrm>
          <a:prstGeom prst="roundRect">
            <a:avLst>
              <a:gd name="adj" fmla="val 9260"/>
            </a:avLst>
          </a:prstGeom>
          <a:solidFill>
            <a:srgbClr val="DCE8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3" name="Text 10"/>
          <p:cNvSpPr/>
          <p:nvPr/>
        </p:nvSpPr>
        <p:spPr>
          <a:xfrm>
            <a:off x="1015920" y="3106080"/>
            <a:ext cx="31042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Smart zone</a:t>
            </a:r>
            <a:endParaRPr lang="en-US" sz="1400" b="0" u="none" strike="noStrike">
              <a:solidFill>
                <a:srgbClr val="000000"/>
              </a:solidFill>
              <a:effectLst/>
              <a:uFillTx/>
              <a:latin typeface="Arial"/>
            </a:endParaRPr>
          </a:p>
        </p:txBody>
      </p:sp>
      <p:sp>
        <p:nvSpPr>
          <p:cNvPr id="764" name="Text 11"/>
          <p:cNvSpPr/>
          <p:nvPr/>
        </p:nvSpPr>
        <p:spPr>
          <a:xfrm>
            <a:off x="1015920" y="3370320"/>
            <a:ext cx="31042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Respectă instrucțiunile, își amintește deciziile, face pași mici și corecți.</a:t>
            </a:r>
            <a:endParaRPr lang="en-US" sz="1200" b="0" u="none" strike="noStrike">
              <a:solidFill>
                <a:srgbClr val="000000"/>
              </a:solidFill>
              <a:effectLst/>
              <a:uFillTx/>
              <a:latin typeface="Arial"/>
            </a:endParaRPr>
          </a:p>
        </p:txBody>
      </p:sp>
      <p:sp>
        <p:nvSpPr>
          <p:cNvPr id="765" name="Shape 12"/>
          <p:cNvSpPr/>
          <p:nvPr/>
        </p:nvSpPr>
        <p:spPr>
          <a:xfrm>
            <a:off x="4385880" y="2903040"/>
            <a:ext cx="3420360" cy="1096920"/>
          </a:xfrm>
          <a:prstGeom prst="roundRect">
            <a:avLst>
              <a:gd name="adj" fmla="val 9260"/>
            </a:avLst>
          </a:prstGeom>
          <a:solidFill>
            <a:srgbClr val="FBF9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6" name="Text 13"/>
          <p:cNvSpPr/>
          <p:nvPr/>
        </p:nvSpPr>
        <p:spPr>
          <a:xfrm>
            <a:off x="4588920" y="3106080"/>
            <a:ext cx="31042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Zona caldă</a:t>
            </a:r>
            <a:endParaRPr lang="en-US" sz="1400" b="0" u="none" strike="noStrike">
              <a:solidFill>
                <a:srgbClr val="000000"/>
              </a:solidFill>
              <a:effectLst/>
              <a:uFillTx/>
              <a:latin typeface="Arial"/>
            </a:endParaRPr>
          </a:p>
        </p:txBody>
      </p:sp>
      <p:sp>
        <p:nvSpPr>
          <p:cNvPr id="767" name="Text 14"/>
          <p:cNvSpPr/>
          <p:nvPr/>
        </p:nvSpPr>
        <p:spPr>
          <a:xfrm>
            <a:off x="4588920" y="3370320"/>
            <a:ext cx="31042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Începe să uite detalii de la început, repetă greșeli deja corectate.</a:t>
            </a:r>
            <a:endParaRPr lang="en-US" sz="1200" b="0" u="none" strike="noStrike">
              <a:solidFill>
                <a:srgbClr val="000000"/>
              </a:solidFill>
              <a:effectLst/>
              <a:uFillTx/>
              <a:latin typeface="Arial"/>
            </a:endParaRPr>
          </a:p>
        </p:txBody>
      </p:sp>
      <p:sp>
        <p:nvSpPr>
          <p:cNvPr id="768" name="Shape 15"/>
          <p:cNvSpPr/>
          <p:nvPr/>
        </p:nvSpPr>
        <p:spPr>
          <a:xfrm>
            <a:off x="7958520" y="2903040"/>
            <a:ext cx="3420360" cy="1096920"/>
          </a:xfrm>
          <a:prstGeom prst="roundRect">
            <a:avLst>
              <a:gd name="adj" fmla="val 9260"/>
            </a:avLst>
          </a:prstGeom>
          <a:solidFill>
            <a:srgbClr val="F6E3D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9" name="Text 16"/>
          <p:cNvSpPr/>
          <p:nvPr/>
        </p:nvSpPr>
        <p:spPr>
          <a:xfrm>
            <a:off x="8161920" y="3106080"/>
            <a:ext cx="31042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Dumb zone</a:t>
            </a:r>
            <a:endParaRPr lang="en-US" sz="1400" b="0" u="none" strike="noStrike">
              <a:solidFill>
                <a:srgbClr val="000000"/>
              </a:solidFill>
              <a:effectLst/>
              <a:uFillTx/>
              <a:latin typeface="Arial"/>
            </a:endParaRPr>
          </a:p>
        </p:txBody>
      </p:sp>
      <p:sp>
        <p:nvSpPr>
          <p:cNvPr id="770" name="Text 17"/>
          <p:cNvSpPr/>
          <p:nvPr/>
        </p:nvSpPr>
        <p:spPr>
          <a:xfrm>
            <a:off x="8161920" y="3370320"/>
            <a:ext cx="31042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Ignoră reguli, se contrazice, inventează API-uri, amestecă task-uri vechi.</a:t>
            </a:r>
            <a:endParaRPr lang="en-US" sz="1200" b="0" u="none" strike="noStrike">
              <a:solidFill>
                <a:srgbClr val="000000"/>
              </a:solidFill>
              <a:effectLst/>
              <a:uFillTx/>
              <a:latin typeface="Arial"/>
            </a:endParaRPr>
          </a:p>
        </p:txBody>
      </p:sp>
      <p:sp>
        <p:nvSpPr>
          <p:cNvPr id="771" name="Text 18"/>
          <p:cNvSpPr/>
          <p:nvPr/>
        </p:nvSpPr>
        <p:spPr>
          <a:xfrm>
            <a:off x="812880" y="4254120"/>
            <a:ext cx="1088316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Euristică (Dex Horthy / HumanLayer, Matt Pocock / AI Hero), nu lege: pragul depinde de model și task. Zona nu urmează limita ferestrei — calitatea scade mult înainte de 100%, chiar și cu 1M fereastră de context.</a:t>
            </a:r>
            <a:endParaRPr lang="en-US" sz="1200" b="0" u="none" strike="noStrike">
              <a:solidFill>
                <a:srgbClr val="000000"/>
              </a:solidFill>
              <a:effectLst/>
              <a:uFillTx/>
              <a:latin typeface="Arial"/>
            </a:endParaRPr>
          </a:p>
        </p:txBody>
      </p:sp>
      <p:sp>
        <p:nvSpPr>
          <p:cNvPr id="772" name="Text 19"/>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773" name="Text 20"/>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19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84"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13 · ECONOMISIRE</a:t>
            </a:r>
            <a:endParaRPr lang="en-US" sz="1200" b="0" u="none" strike="noStrike">
              <a:solidFill>
                <a:srgbClr val="000000"/>
              </a:solidFill>
              <a:effectLst/>
              <a:uFillTx/>
              <a:latin typeface="Arial"/>
            </a:endParaRPr>
          </a:p>
        </p:txBody>
      </p:sp>
      <p:sp>
        <p:nvSpPr>
          <p:cNvPr id="785"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Opt obiceiuri care păstrează contextul curat</a:t>
            </a:r>
            <a:endParaRPr lang="en-US" sz="3000" b="0" u="none" strike="noStrike">
              <a:solidFill>
                <a:schemeClr val="dk1"/>
              </a:solidFill>
              <a:effectLst/>
              <a:uFillTx/>
              <a:latin typeface="IBM Plex Sans"/>
            </a:endParaRPr>
          </a:p>
        </p:txBody>
      </p:sp>
      <p:sp>
        <p:nvSpPr>
          <p:cNvPr id="786" name="Shape 2"/>
          <p:cNvSpPr/>
          <p:nvPr/>
        </p:nvSpPr>
        <p:spPr>
          <a:xfrm>
            <a:off x="816120" y="1778400"/>
            <a:ext cx="2539800" cy="102744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87" name="Image 0" descr="Play"/>
          <p:cNvPicPr/>
          <p:nvPr/>
        </p:nvPicPr>
        <p:blipFill>
          <a:blip r:embed="rId1"/>
          <a:stretch/>
        </p:blipFill>
        <p:spPr>
          <a:xfrm>
            <a:off x="970560" y="1933200"/>
            <a:ext cx="228240" cy="228240"/>
          </a:xfrm>
          <a:prstGeom prst="rect">
            <a:avLst/>
          </a:prstGeom>
          <a:noFill/>
          <a:ln w="0">
            <a:noFill/>
          </a:ln>
        </p:spPr>
      </p:pic>
      <p:sp>
        <p:nvSpPr>
          <p:cNvPr id="788" name="Text 3"/>
          <p:cNvSpPr/>
          <p:nvPr/>
        </p:nvSpPr>
        <p:spPr>
          <a:xfrm>
            <a:off x="1300680" y="1940760"/>
            <a:ext cx="19962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O sesiune = un task</a:t>
            </a:r>
            <a:endParaRPr lang="en-US" sz="1400" b="0" u="none" strike="noStrike">
              <a:solidFill>
                <a:srgbClr val="000000"/>
              </a:solidFill>
              <a:effectLst/>
              <a:uFillTx/>
              <a:latin typeface="Arial"/>
            </a:endParaRPr>
          </a:p>
        </p:txBody>
      </p:sp>
      <p:sp>
        <p:nvSpPr>
          <p:cNvPr id="789" name="Text 4"/>
          <p:cNvSpPr/>
          <p:nvPr/>
        </p:nvSpPr>
        <p:spPr>
          <a:xfrm>
            <a:off x="970560" y="2225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Task nou → chat nou. Nu cara istoricul vechi.</a:t>
            </a:r>
            <a:endParaRPr lang="en-US" sz="1200" b="0" u="none" strike="noStrike">
              <a:solidFill>
                <a:srgbClr val="000000"/>
              </a:solidFill>
              <a:effectLst/>
              <a:uFillTx/>
              <a:latin typeface="Arial"/>
            </a:endParaRPr>
          </a:p>
        </p:txBody>
      </p:sp>
      <p:sp>
        <p:nvSpPr>
          <p:cNvPr id="790" name="Shape 5"/>
          <p:cNvSpPr/>
          <p:nvPr/>
        </p:nvSpPr>
        <p:spPr>
          <a:xfrm>
            <a:off x="3489480" y="1778400"/>
            <a:ext cx="2539800" cy="102744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91" name="Image 1" descr="Book"/>
          <p:cNvPicPr/>
          <p:nvPr/>
        </p:nvPicPr>
        <p:blipFill>
          <a:blip r:embed="rId2"/>
          <a:stretch/>
        </p:blipFill>
        <p:spPr>
          <a:xfrm>
            <a:off x="3643920" y="1933200"/>
            <a:ext cx="228240" cy="228240"/>
          </a:xfrm>
          <a:prstGeom prst="rect">
            <a:avLst/>
          </a:prstGeom>
          <a:noFill/>
          <a:ln w="0">
            <a:noFill/>
          </a:ln>
        </p:spPr>
      </p:pic>
      <p:sp>
        <p:nvSpPr>
          <p:cNvPr id="792" name="Text 6"/>
          <p:cNvSpPr/>
          <p:nvPr/>
        </p:nvSpPr>
        <p:spPr>
          <a:xfrm>
            <a:off x="3974040" y="1940760"/>
            <a:ext cx="12520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Plan în fișier</a:t>
            </a:r>
            <a:endParaRPr lang="en-US" sz="1400" b="0" u="none" strike="noStrike">
              <a:solidFill>
                <a:srgbClr val="000000"/>
              </a:solidFill>
              <a:effectLst/>
              <a:uFillTx/>
              <a:latin typeface="Arial"/>
            </a:endParaRPr>
          </a:p>
        </p:txBody>
      </p:sp>
      <p:sp>
        <p:nvSpPr>
          <p:cNvPr id="793" name="Text 7"/>
          <p:cNvSpPr/>
          <p:nvPr/>
        </p:nvSpPr>
        <p:spPr>
          <a:xfrm>
            <a:off x="3643920" y="2225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Scrie plan.md, apoi sesiune nouă care îl citește.</a:t>
            </a:r>
            <a:endParaRPr lang="en-US" sz="1200" b="0" u="none" strike="noStrike">
              <a:solidFill>
                <a:srgbClr val="000000"/>
              </a:solidFill>
              <a:effectLst/>
              <a:uFillTx/>
              <a:latin typeface="Arial"/>
            </a:endParaRPr>
          </a:p>
        </p:txBody>
      </p:sp>
      <p:sp>
        <p:nvSpPr>
          <p:cNvPr id="794" name="Shape 8"/>
          <p:cNvSpPr/>
          <p:nvPr/>
        </p:nvSpPr>
        <p:spPr>
          <a:xfrm>
            <a:off x="6162840" y="1778400"/>
            <a:ext cx="2539800" cy="102744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95" name="Image 2" descr="Users"/>
          <p:cNvPicPr/>
          <p:nvPr/>
        </p:nvPicPr>
        <p:blipFill>
          <a:blip r:embed="rId3"/>
          <a:stretch/>
        </p:blipFill>
        <p:spPr>
          <a:xfrm>
            <a:off x="6317280" y="1933200"/>
            <a:ext cx="228240" cy="228240"/>
          </a:xfrm>
          <a:prstGeom prst="rect">
            <a:avLst/>
          </a:prstGeom>
          <a:noFill/>
          <a:ln w="0">
            <a:noFill/>
          </a:ln>
        </p:spPr>
      </p:pic>
      <p:sp>
        <p:nvSpPr>
          <p:cNvPr id="796" name="Text 9"/>
          <p:cNvSpPr/>
          <p:nvPr/>
        </p:nvSpPr>
        <p:spPr>
          <a:xfrm>
            <a:off x="6647400" y="1940760"/>
            <a:ext cx="1062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Subagenți</a:t>
            </a:r>
            <a:endParaRPr lang="en-US" sz="1400" b="0" u="none" strike="noStrike">
              <a:solidFill>
                <a:srgbClr val="000000"/>
              </a:solidFill>
              <a:effectLst/>
              <a:uFillTx/>
              <a:latin typeface="Arial"/>
            </a:endParaRPr>
          </a:p>
        </p:txBody>
      </p:sp>
      <p:sp>
        <p:nvSpPr>
          <p:cNvPr id="797" name="Text 10"/>
          <p:cNvSpPr/>
          <p:nvPr/>
        </p:nvSpPr>
        <p:spPr>
          <a:xfrm>
            <a:off x="6317280" y="2225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Explorează în contextul lor, îți întorc doar rezumatul.</a:t>
            </a:r>
            <a:endParaRPr lang="en-US" sz="1200" b="0" u="none" strike="noStrike">
              <a:solidFill>
                <a:srgbClr val="000000"/>
              </a:solidFill>
              <a:effectLst/>
              <a:uFillTx/>
              <a:latin typeface="Arial"/>
            </a:endParaRPr>
          </a:p>
        </p:txBody>
      </p:sp>
      <p:sp>
        <p:nvSpPr>
          <p:cNvPr id="798" name="Shape 11"/>
          <p:cNvSpPr/>
          <p:nvPr/>
        </p:nvSpPr>
        <p:spPr>
          <a:xfrm>
            <a:off x="8836200" y="1778400"/>
            <a:ext cx="2539800" cy="102744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99" name="Image 3" descr="Search"/>
          <p:cNvPicPr/>
          <p:nvPr/>
        </p:nvPicPr>
        <p:blipFill>
          <a:blip r:embed="rId4"/>
          <a:stretch/>
        </p:blipFill>
        <p:spPr>
          <a:xfrm>
            <a:off x="8990640" y="1933200"/>
            <a:ext cx="228240" cy="228240"/>
          </a:xfrm>
          <a:prstGeom prst="rect">
            <a:avLst/>
          </a:prstGeom>
          <a:noFill/>
          <a:ln w="0">
            <a:noFill/>
          </a:ln>
        </p:spPr>
      </p:pic>
      <p:sp>
        <p:nvSpPr>
          <p:cNvPr id="800" name="Text 12"/>
          <p:cNvSpPr/>
          <p:nvPr/>
        </p:nvSpPr>
        <p:spPr>
          <a:xfrm>
            <a:off x="9320760" y="1940760"/>
            <a:ext cx="1666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Referințe țintite</a:t>
            </a:r>
            <a:endParaRPr lang="en-US" sz="1400" b="0" u="none" strike="noStrike">
              <a:solidFill>
                <a:srgbClr val="000000"/>
              </a:solidFill>
              <a:effectLst/>
              <a:uFillTx/>
              <a:latin typeface="Arial"/>
            </a:endParaRPr>
          </a:p>
        </p:txBody>
      </p:sp>
      <p:sp>
        <p:nvSpPr>
          <p:cNvPr id="801" name="Text 13"/>
          <p:cNvSpPr/>
          <p:nvPr/>
        </p:nvSpPr>
        <p:spPr>
          <a:xfrm>
            <a:off x="8990640" y="2225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#file și funcția exactă, nu „uită-te prin repo”.</a:t>
            </a:r>
            <a:endParaRPr lang="en-US" sz="1200" b="0" u="none" strike="noStrike">
              <a:solidFill>
                <a:srgbClr val="000000"/>
              </a:solidFill>
              <a:effectLst/>
              <a:uFillTx/>
              <a:latin typeface="Arial"/>
            </a:endParaRPr>
          </a:p>
        </p:txBody>
      </p:sp>
      <p:sp>
        <p:nvSpPr>
          <p:cNvPr id="802" name="Shape 14"/>
          <p:cNvSpPr/>
          <p:nvPr/>
        </p:nvSpPr>
        <p:spPr>
          <a:xfrm>
            <a:off x="816120" y="2939400"/>
            <a:ext cx="2539800" cy="124056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03" name="Image 4" descr="Code"/>
          <p:cNvPicPr/>
          <p:nvPr/>
        </p:nvPicPr>
        <p:blipFill>
          <a:blip r:embed="rId5"/>
          <a:stretch/>
        </p:blipFill>
        <p:spPr>
          <a:xfrm>
            <a:off x="970560" y="3094200"/>
            <a:ext cx="228240" cy="228240"/>
          </a:xfrm>
          <a:prstGeom prst="rect">
            <a:avLst/>
          </a:prstGeom>
          <a:noFill/>
          <a:ln w="0">
            <a:noFill/>
          </a:ln>
        </p:spPr>
      </p:pic>
      <p:sp>
        <p:nvSpPr>
          <p:cNvPr id="804" name="Text 15"/>
          <p:cNvSpPr/>
          <p:nvPr/>
        </p:nvSpPr>
        <p:spPr>
          <a:xfrm>
            <a:off x="1300680" y="3101760"/>
            <a:ext cx="19386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Filtrează output-ul</a:t>
            </a:r>
            <a:endParaRPr lang="en-US" sz="1400" b="0" u="none" strike="noStrike">
              <a:solidFill>
                <a:srgbClr val="000000"/>
              </a:solidFill>
              <a:effectLst/>
              <a:uFillTx/>
              <a:latin typeface="Arial"/>
            </a:endParaRPr>
          </a:p>
        </p:txBody>
      </p:sp>
      <p:sp>
        <p:nvSpPr>
          <p:cNvPr id="805" name="Text 16"/>
          <p:cNvSpPr/>
          <p:nvPr/>
        </p:nvSpPr>
        <p:spPr>
          <a:xfrm>
            <a:off x="970560" y="3386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tail, grep, teste --silent; nu lipi 3.000 de linii.</a:t>
            </a:r>
            <a:endParaRPr lang="en-US" sz="1200" b="0" u="none" strike="noStrike">
              <a:solidFill>
                <a:srgbClr val="000000"/>
              </a:solidFill>
              <a:effectLst/>
              <a:uFillTx/>
              <a:latin typeface="Arial"/>
            </a:endParaRPr>
          </a:p>
        </p:txBody>
      </p:sp>
      <p:sp>
        <p:nvSpPr>
          <p:cNvPr id="806" name="Shape 17"/>
          <p:cNvSpPr/>
          <p:nvPr/>
        </p:nvSpPr>
        <p:spPr>
          <a:xfrm>
            <a:off x="3489480" y="2939400"/>
            <a:ext cx="2539800" cy="124056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07" name="Image 5" descr="Link"/>
          <p:cNvPicPr/>
          <p:nvPr/>
        </p:nvPicPr>
        <p:blipFill>
          <a:blip r:embed="rId6"/>
          <a:stretch/>
        </p:blipFill>
        <p:spPr>
          <a:xfrm>
            <a:off x="3643920" y="3094200"/>
            <a:ext cx="228240" cy="228240"/>
          </a:xfrm>
          <a:prstGeom prst="rect">
            <a:avLst/>
          </a:prstGeom>
          <a:noFill/>
          <a:ln w="0">
            <a:noFill/>
          </a:ln>
        </p:spPr>
      </p:pic>
      <p:sp>
        <p:nvSpPr>
          <p:cNvPr id="808" name="Text 18"/>
          <p:cNvSpPr/>
          <p:nvPr/>
        </p:nvSpPr>
        <p:spPr>
          <a:xfrm>
            <a:off x="3974040" y="3101760"/>
            <a:ext cx="1960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Mai puține MCP-uri</a:t>
            </a:r>
            <a:endParaRPr lang="en-US" sz="1400" b="0" u="none" strike="noStrike">
              <a:solidFill>
                <a:srgbClr val="000000"/>
              </a:solidFill>
              <a:effectLst/>
              <a:uFillTx/>
              <a:latin typeface="Arial"/>
            </a:endParaRPr>
          </a:p>
        </p:txBody>
      </p:sp>
      <p:sp>
        <p:nvSpPr>
          <p:cNvPr id="809" name="Text 19"/>
          <p:cNvSpPr/>
          <p:nvPr/>
        </p:nvSpPr>
        <p:spPr>
          <a:xfrm>
            <a:off x="3643920" y="3386160"/>
            <a:ext cx="229752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Dezactivează serverele nefolosite; în </a:t>
            </a:r>
            <a:r>
              <a:rPr lang="en-US" sz="1200" b="0" u="none" strike="noStrike">
                <a:solidFill>
                  <a:srgbClr val="444C5C"/>
                </a:solidFill>
                <a:effectLst/>
                <a:uFillTx/>
                <a:latin typeface="IBM Plex Sans"/>
                <a:ea typeface="IBM Plex Sans"/>
              </a:rPr>
              <a:t>CLI există tool search.</a:t>
            </a:r>
            <a:endParaRPr lang="en-US" sz="1200" b="0" u="none" strike="noStrike">
              <a:solidFill>
                <a:srgbClr val="000000"/>
              </a:solidFill>
              <a:effectLst/>
              <a:uFillTx/>
              <a:latin typeface="Arial"/>
            </a:endParaRPr>
          </a:p>
        </p:txBody>
      </p:sp>
      <p:sp>
        <p:nvSpPr>
          <p:cNvPr id="810" name="Shape 20"/>
          <p:cNvSpPr/>
          <p:nvPr/>
        </p:nvSpPr>
        <p:spPr>
          <a:xfrm>
            <a:off x="6162840" y="2939400"/>
            <a:ext cx="2539800" cy="124056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11" name="Image 6" descr="Settings"/>
          <p:cNvPicPr/>
          <p:nvPr/>
        </p:nvPicPr>
        <p:blipFill>
          <a:blip r:embed="rId7"/>
          <a:stretch/>
        </p:blipFill>
        <p:spPr>
          <a:xfrm>
            <a:off x="6317280" y="3094200"/>
            <a:ext cx="228240" cy="228240"/>
          </a:xfrm>
          <a:prstGeom prst="rect">
            <a:avLst/>
          </a:prstGeom>
          <a:noFill/>
          <a:ln w="0">
            <a:noFill/>
          </a:ln>
        </p:spPr>
      </p:pic>
      <p:sp>
        <p:nvSpPr>
          <p:cNvPr id="812" name="Text 21"/>
          <p:cNvSpPr/>
          <p:nvPr/>
        </p:nvSpPr>
        <p:spPr>
          <a:xfrm>
            <a:off x="6647400" y="3101760"/>
            <a:ext cx="17722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AGENTS.md scurt</a:t>
            </a:r>
            <a:endParaRPr lang="en-US" sz="1400" b="0" u="none" strike="noStrike">
              <a:solidFill>
                <a:srgbClr val="000000"/>
              </a:solidFill>
              <a:effectLst/>
              <a:uFillTx/>
              <a:latin typeface="Arial"/>
            </a:endParaRPr>
          </a:p>
        </p:txBody>
      </p:sp>
      <p:sp>
        <p:nvSpPr>
          <p:cNvPr id="813" name="Text 22"/>
          <p:cNvSpPr/>
          <p:nvPr/>
        </p:nvSpPr>
        <p:spPr>
          <a:xfrm>
            <a:off x="6317280" y="3386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Procedurile lungi → skills, încărcate doar la nevoie.</a:t>
            </a:r>
            <a:endParaRPr lang="en-US" sz="1200" b="0" u="none" strike="noStrike">
              <a:solidFill>
                <a:srgbClr val="000000"/>
              </a:solidFill>
              <a:effectLst/>
              <a:uFillTx/>
              <a:latin typeface="Arial"/>
            </a:endParaRPr>
          </a:p>
        </p:txBody>
      </p:sp>
      <p:sp>
        <p:nvSpPr>
          <p:cNvPr id="814" name="Shape 23"/>
          <p:cNvSpPr/>
          <p:nvPr/>
        </p:nvSpPr>
        <p:spPr>
          <a:xfrm>
            <a:off x="8836200" y="2939400"/>
            <a:ext cx="2539800" cy="124056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15" name="Image 7" descr="Clock"/>
          <p:cNvPicPr/>
          <p:nvPr/>
        </p:nvPicPr>
        <p:blipFill>
          <a:blip r:embed="rId8"/>
          <a:stretch/>
        </p:blipFill>
        <p:spPr>
          <a:xfrm>
            <a:off x="8990640" y="3094200"/>
            <a:ext cx="228240" cy="228240"/>
          </a:xfrm>
          <a:prstGeom prst="rect">
            <a:avLst/>
          </a:prstGeom>
          <a:noFill/>
          <a:ln w="0">
            <a:noFill/>
          </a:ln>
        </p:spPr>
      </p:pic>
      <p:sp>
        <p:nvSpPr>
          <p:cNvPr id="816" name="Text 24"/>
          <p:cNvSpPr/>
          <p:nvPr/>
        </p:nvSpPr>
        <p:spPr>
          <a:xfrm>
            <a:off x="9320760" y="3101760"/>
            <a:ext cx="1753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/compact la timp</a:t>
            </a:r>
            <a:endParaRPr lang="en-US" sz="1400" b="0" u="none" strike="noStrike">
              <a:solidFill>
                <a:srgbClr val="000000"/>
              </a:solidFill>
              <a:effectLst/>
              <a:uFillTx/>
              <a:latin typeface="Arial"/>
            </a:endParaRPr>
          </a:p>
        </p:txBody>
      </p:sp>
      <p:sp>
        <p:nvSpPr>
          <p:cNvPr id="817" name="Text 25"/>
          <p:cNvSpPr/>
          <p:nvPr/>
        </p:nvSpPr>
        <p:spPr>
          <a:xfrm>
            <a:off x="8990640" y="3386160"/>
            <a:ext cx="229752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La o graniță naturală, cu „păstrează X”; /clear când schimbi subiectul.</a:t>
            </a:r>
            <a:endParaRPr lang="en-US" sz="1200" b="0" u="none" strike="noStrike">
              <a:solidFill>
                <a:srgbClr val="000000"/>
              </a:solidFill>
              <a:effectLst/>
              <a:uFillTx/>
              <a:latin typeface="Arial"/>
            </a:endParaRPr>
          </a:p>
        </p:txBody>
      </p:sp>
      <p:sp>
        <p:nvSpPr>
          <p:cNvPr id="818" name="Text 26"/>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819" name="Text 27"/>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20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84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13 · ECONOMISIRE</a:t>
            </a:r>
            <a:endParaRPr lang="en-US" sz="1200" b="0" u="none" strike="noStrike">
              <a:solidFill>
                <a:srgbClr val="000000"/>
              </a:solidFill>
              <a:effectLst/>
              <a:uFillTx/>
              <a:latin typeface="Arial"/>
            </a:endParaRPr>
          </a:p>
        </p:txBody>
      </p:sp>
      <p:sp>
        <p:nvSpPr>
          <p:cNvPr id="849"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Același bug, două prompturi</a:t>
            </a:r>
            <a:endParaRPr lang="en-US" sz="3000" b="0" u="none" strike="noStrike">
              <a:solidFill>
                <a:schemeClr val="dk1"/>
              </a:solidFill>
              <a:effectLst/>
              <a:uFillTx/>
              <a:latin typeface="IBM Plex Sans"/>
            </a:endParaRPr>
          </a:p>
        </p:txBody>
      </p:sp>
      <p:sp>
        <p:nvSpPr>
          <p:cNvPr id="850" name="Shape 2"/>
          <p:cNvSpPr/>
          <p:nvPr/>
        </p:nvSpPr>
        <p:spPr>
          <a:xfrm>
            <a:off x="816120" y="1778400"/>
            <a:ext cx="5200200" cy="2906640"/>
          </a:xfrm>
          <a:prstGeom prst="roundRect">
            <a:avLst>
              <a:gd name="adj" fmla="val 338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51" name="Image 0" descr="Warning"/>
          <p:cNvPicPr/>
          <p:nvPr/>
        </p:nvPicPr>
        <p:blipFill>
          <a:blip r:embed="rId1"/>
          <a:stretch/>
        </p:blipFill>
        <p:spPr>
          <a:xfrm>
            <a:off x="1021320" y="1991520"/>
            <a:ext cx="228240" cy="228240"/>
          </a:xfrm>
          <a:prstGeom prst="rect">
            <a:avLst/>
          </a:prstGeom>
          <a:noFill/>
          <a:ln w="0">
            <a:noFill/>
          </a:ln>
        </p:spPr>
      </p:pic>
      <p:sp>
        <p:nvSpPr>
          <p:cNvPr id="852" name="Text 3"/>
          <p:cNvSpPr/>
          <p:nvPr/>
        </p:nvSpPr>
        <p:spPr>
          <a:xfrm>
            <a:off x="1351440" y="1983960"/>
            <a:ext cx="15454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Scump și vag</a:t>
            </a:r>
            <a:endParaRPr lang="en-US" sz="1600" b="0" u="none" strike="noStrike">
              <a:solidFill>
                <a:srgbClr val="000000"/>
              </a:solidFill>
              <a:effectLst/>
              <a:uFillTx/>
              <a:latin typeface="Arial"/>
            </a:endParaRPr>
          </a:p>
        </p:txBody>
      </p:sp>
      <p:sp>
        <p:nvSpPr>
          <p:cNvPr id="853" name="Text 4"/>
          <p:cNvSpPr/>
          <p:nvPr/>
        </p:nvSpPr>
        <p:spPr>
          <a:xfrm>
            <a:off x="1021320" y="2329200"/>
            <a:ext cx="4789800" cy="746280"/>
          </a:xfrm>
          <a:prstGeom prst="roundRect">
            <a:avLst>
              <a:gd name="adj" fmla="val 13608"/>
            </a:avLst>
          </a:prstGeom>
          <a:solidFill>
            <a:srgbClr val="131A2A"/>
          </a:solidFill>
          <a:ln w="0">
            <a:noFill/>
          </a:ln>
        </p:spPr>
        <p:style>
          <a:lnRef idx="0"/>
          <a:fillRef idx="0"/>
          <a:effectRef idx="0"/>
          <a:fontRef idx="minor"/>
        </p:style>
        <p:txBody>
          <a:bodyPr wrap="none" lIns="173520" tIns="122760" rIns="41760" bIns="9720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Testele pică, repară-le.</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[+ 3.000 de linii de log lipite]</a:t>
            </a:r>
            <a:endParaRPr lang="en-US" sz="1200" b="0" u="none" strike="noStrike">
              <a:solidFill>
                <a:srgbClr val="FFFFFF"/>
              </a:solidFill>
              <a:effectLst/>
              <a:uFillTx/>
              <a:latin typeface="Arial"/>
            </a:endParaRPr>
          </a:p>
        </p:txBody>
      </p:sp>
      <p:sp>
        <p:nvSpPr>
          <p:cNvPr id="854" name="Text 5"/>
          <p:cNvSpPr/>
          <p:nvPr/>
        </p:nvSpPr>
        <p:spPr>
          <a:xfrm>
            <a:off x="1119960" y="3177360"/>
            <a:ext cx="4826880" cy="87840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citește jumătate de repo ca să înțeleagă</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rulează toată suita de mai multe ori</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logul umple contextul → dumb zone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ghicește cauza</a:t>
            </a:r>
            <a:endParaRPr lang="en-US" sz="1200" b="0" u="none" strike="noStrike">
              <a:solidFill>
                <a:srgbClr val="000000"/>
              </a:solidFill>
              <a:effectLst/>
              <a:uFillTx/>
              <a:latin typeface="Arial"/>
            </a:endParaRPr>
          </a:p>
        </p:txBody>
      </p:sp>
      <p:sp>
        <p:nvSpPr>
          <p:cNvPr id="855" name="Shape 6"/>
          <p:cNvSpPr/>
          <p:nvPr/>
        </p:nvSpPr>
        <p:spPr>
          <a:xfrm>
            <a:off x="6175440" y="1778400"/>
            <a:ext cx="5200200" cy="2906640"/>
          </a:xfrm>
          <a:prstGeom prst="roundRect">
            <a:avLst>
              <a:gd name="adj" fmla="val 338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56" name="Image 1" descr="CheckCircle"/>
          <p:cNvPicPr/>
          <p:nvPr/>
        </p:nvPicPr>
        <p:blipFill>
          <a:blip r:embed="rId2"/>
          <a:stretch/>
        </p:blipFill>
        <p:spPr>
          <a:xfrm>
            <a:off x="6380640" y="1991520"/>
            <a:ext cx="228240" cy="228240"/>
          </a:xfrm>
          <a:prstGeom prst="rect">
            <a:avLst/>
          </a:prstGeom>
          <a:noFill/>
          <a:ln w="0">
            <a:noFill/>
          </a:ln>
        </p:spPr>
      </p:pic>
      <p:sp>
        <p:nvSpPr>
          <p:cNvPr id="857" name="Text 7"/>
          <p:cNvSpPr/>
          <p:nvPr/>
        </p:nvSpPr>
        <p:spPr>
          <a:xfrm>
            <a:off x="6710760" y="1983960"/>
            <a:ext cx="15854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Țintit și ieftin</a:t>
            </a:r>
            <a:endParaRPr lang="en-US" sz="1600" b="0" u="none" strike="noStrike">
              <a:solidFill>
                <a:srgbClr val="000000"/>
              </a:solidFill>
              <a:effectLst/>
              <a:uFillTx/>
              <a:latin typeface="Arial"/>
            </a:endParaRPr>
          </a:p>
        </p:txBody>
      </p:sp>
      <p:sp>
        <p:nvSpPr>
          <p:cNvPr id="858" name="Text 8"/>
          <p:cNvSpPr/>
          <p:nvPr/>
        </p:nvSpPr>
        <p:spPr>
          <a:xfrm>
            <a:off x="6380640" y="2329200"/>
            <a:ext cx="4789800" cy="1409040"/>
          </a:xfrm>
          <a:prstGeom prst="roundRect">
            <a:avLst>
              <a:gd name="adj" fmla="val 7209"/>
            </a:avLst>
          </a:prstGeom>
          <a:solidFill>
            <a:srgbClr val="131A2A"/>
          </a:solidFill>
          <a:ln w="0">
            <a:noFill/>
          </a:ln>
        </p:spPr>
        <p:style>
          <a:lnRef idx="0"/>
          <a:fillRef idx="0"/>
          <a:effectRef idx="0"/>
          <a:fontRef idx="minor"/>
        </p:style>
        <p:txBody>
          <a:bodyPr wrap="none" lIns="173520" tIns="122760" rIns="41760" bIns="9720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În OrderService.test.ts, testul</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„applies VIP discount” pică de ieri.</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Eroare: expected 90, received 100.</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Caută cauza în OrderService.ts, fă</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fix-ul minim, rulează doar acest fișier.</a:t>
            </a:r>
            <a:endParaRPr lang="en-US" sz="1200" b="0" u="none" strike="noStrike">
              <a:solidFill>
                <a:srgbClr val="FFFFFF"/>
              </a:solidFill>
              <a:effectLst/>
              <a:uFillTx/>
              <a:latin typeface="Arial"/>
            </a:endParaRPr>
          </a:p>
        </p:txBody>
      </p:sp>
      <p:sp>
        <p:nvSpPr>
          <p:cNvPr id="859" name="Text 9"/>
          <p:cNvSpPr/>
          <p:nvPr/>
        </p:nvSpPr>
        <p:spPr>
          <a:xfrm>
            <a:off x="6479640" y="3840120"/>
            <a:ext cx="4826880" cy="66492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fișierele și eroarea exacte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un singur fișier de test rulat</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rămâne în smart zone</a:t>
            </a:r>
            <a:endParaRPr lang="en-US" sz="1200" b="0" u="none" strike="noStrike">
              <a:solidFill>
                <a:srgbClr val="000000"/>
              </a:solidFill>
              <a:effectLst/>
              <a:uFillTx/>
              <a:latin typeface="Arial"/>
            </a:endParaRPr>
          </a:p>
        </p:txBody>
      </p:sp>
      <p:sp>
        <p:nvSpPr>
          <p:cNvPr id="860" name="Text 10"/>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861" name="Text 11"/>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21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86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14 · BONUS</a:t>
            </a:r>
            <a:endParaRPr lang="en-US" sz="1200" b="0" u="none" strike="noStrike">
              <a:solidFill>
                <a:srgbClr val="000000"/>
              </a:solidFill>
              <a:effectLst/>
              <a:uFillTx/>
              <a:latin typeface="Arial"/>
            </a:endParaRPr>
          </a:p>
        </p:txBody>
      </p:sp>
      <p:sp>
        <p:nvSpPr>
          <p:cNvPr id="869" name="PlaceHolder 1"/>
          <p:cNvSpPr>
            <a:spLocks noGrp="1"/>
          </p:cNvSpPr>
          <p:nvPr>
            <p:ph type="title"/>
          </p:nvPr>
        </p:nvSpPr>
        <p:spPr>
          <a:xfrm>
            <a:off x="812880" y="1102320"/>
            <a:ext cx="10883160" cy="86328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Fluxul care funcționează: Research → Plan → Implement → Review</a:t>
            </a:r>
            <a:endParaRPr lang="en-US" sz="3000" b="0" u="none" strike="noStrike">
              <a:solidFill>
                <a:schemeClr val="dk1"/>
              </a:solidFill>
              <a:effectLst/>
              <a:uFillTx/>
              <a:latin typeface="IBM Plex Sans"/>
            </a:endParaRPr>
          </a:p>
        </p:txBody>
      </p:sp>
      <p:sp>
        <p:nvSpPr>
          <p:cNvPr id="870" name="Shape 2"/>
          <p:cNvSpPr/>
          <p:nvPr/>
        </p:nvSpPr>
        <p:spPr>
          <a:xfrm>
            <a:off x="816120" y="2197440"/>
            <a:ext cx="2349000" cy="191124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1" name="Text 3"/>
          <p:cNvSpPr/>
          <p:nvPr/>
        </p:nvSpPr>
        <p:spPr>
          <a:xfrm>
            <a:off x="1021320" y="2403000"/>
            <a:ext cx="199656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1 · Research</a:t>
            </a:r>
            <a:endParaRPr lang="en-US" sz="1600" b="0" u="none" strike="noStrike">
              <a:solidFill>
                <a:srgbClr val="000000"/>
              </a:solidFill>
              <a:effectLst/>
              <a:uFillTx/>
              <a:latin typeface="Arial"/>
            </a:endParaRPr>
          </a:p>
        </p:txBody>
      </p:sp>
      <p:sp>
        <p:nvSpPr>
          <p:cNvPr id="872" name="Text 4"/>
          <p:cNvSpPr/>
          <p:nvPr/>
        </p:nvSpPr>
        <p:spPr>
          <a:xfrm>
            <a:off x="1021320" y="2710080"/>
            <a:ext cx="199656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Ask sau un subagent de explorare</a:t>
            </a:r>
            <a:endParaRPr lang="en-US" sz="1200" b="0" u="none" strike="noStrike">
              <a:solidFill>
                <a:srgbClr val="000000"/>
              </a:solidFill>
              <a:effectLst/>
              <a:uFillTx/>
              <a:latin typeface="Arial"/>
            </a:endParaRPr>
          </a:p>
        </p:txBody>
      </p:sp>
      <p:sp>
        <p:nvSpPr>
          <p:cNvPr id="873" name="Text 5"/>
          <p:cNvSpPr/>
          <p:nvPr/>
        </p:nvSpPr>
        <p:spPr>
          <a:xfrm>
            <a:off x="1021320" y="3200400"/>
            <a:ext cx="19965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IBM Plex Sans"/>
                <a:ea typeface="IBM Plex Sans"/>
              </a:rPr>
              <a:t>model ieftin</a:t>
            </a:r>
            <a:endParaRPr lang="en-US" sz="1200" b="0" u="none" strike="noStrike">
              <a:solidFill>
                <a:srgbClr val="000000"/>
              </a:solidFill>
              <a:effectLst/>
              <a:uFillTx/>
              <a:latin typeface="Arial"/>
            </a:endParaRPr>
          </a:p>
        </p:txBody>
      </p:sp>
      <p:sp>
        <p:nvSpPr>
          <p:cNvPr id="874" name="Text 6"/>
          <p:cNvSpPr/>
          <p:nvPr/>
        </p:nvSpPr>
        <p:spPr>
          <a:xfrm>
            <a:off x="1021320" y="3477240"/>
            <a:ext cx="199656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 notes.md: fapte, fișiere, fluxuri. Fără opinii.</a:t>
            </a:r>
            <a:endParaRPr lang="en-US" sz="1200" b="0" u="none" strike="noStrike">
              <a:solidFill>
                <a:srgbClr val="000000"/>
              </a:solidFill>
              <a:effectLst/>
              <a:uFillTx/>
              <a:latin typeface="Arial"/>
            </a:endParaRPr>
          </a:p>
        </p:txBody>
      </p:sp>
      <p:pic>
        <p:nvPicPr>
          <p:cNvPr id="875" name="Image 0" descr="arrow-right"/>
          <p:cNvPicPr/>
          <p:nvPr/>
        </p:nvPicPr>
        <p:blipFill>
          <a:blip r:embed="rId1"/>
          <a:stretch/>
        </p:blipFill>
        <p:spPr>
          <a:xfrm>
            <a:off x="3244680" y="3077280"/>
            <a:ext cx="228240" cy="151920"/>
          </a:xfrm>
          <a:prstGeom prst="rect">
            <a:avLst/>
          </a:prstGeom>
          <a:noFill/>
          <a:ln w="0">
            <a:noFill/>
          </a:ln>
        </p:spPr>
      </p:pic>
      <p:sp>
        <p:nvSpPr>
          <p:cNvPr id="876" name="Shape 7"/>
          <p:cNvSpPr/>
          <p:nvPr/>
        </p:nvSpPr>
        <p:spPr>
          <a:xfrm>
            <a:off x="3552840" y="2197440"/>
            <a:ext cx="2349360" cy="191124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7" name="Text 8"/>
          <p:cNvSpPr/>
          <p:nvPr/>
        </p:nvSpPr>
        <p:spPr>
          <a:xfrm>
            <a:off x="3758040" y="2403000"/>
            <a:ext cx="19969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2 · Plan</a:t>
            </a:r>
            <a:endParaRPr lang="en-US" sz="1600" b="0" u="none" strike="noStrike">
              <a:solidFill>
                <a:srgbClr val="000000"/>
              </a:solidFill>
              <a:effectLst/>
              <a:uFillTx/>
              <a:latin typeface="Arial"/>
            </a:endParaRPr>
          </a:p>
        </p:txBody>
      </p:sp>
      <p:sp>
        <p:nvSpPr>
          <p:cNvPr id="878" name="Text 9"/>
          <p:cNvSpPr/>
          <p:nvPr/>
        </p:nvSpPr>
        <p:spPr>
          <a:xfrm>
            <a:off x="3758040" y="271008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Plan agent + /grill-me</a:t>
            </a:r>
            <a:endParaRPr lang="en-US" sz="1200" b="0" u="none" strike="noStrike">
              <a:solidFill>
                <a:srgbClr val="000000"/>
              </a:solidFill>
              <a:effectLst/>
              <a:uFillTx/>
              <a:latin typeface="Arial"/>
            </a:endParaRPr>
          </a:p>
        </p:txBody>
      </p:sp>
      <p:sp>
        <p:nvSpPr>
          <p:cNvPr id="879" name="Text 10"/>
          <p:cNvSpPr/>
          <p:nvPr/>
        </p:nvSpPr>
        <p:spPr>
          <a:xfrm>
            <a:off x="3758040" y="298692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IBM Plex Sans"/>
                <a:ea typeface="IBM Plex Sans"/>
              </a:rPr>
              <a:t>model puternic</a:t>
            </a:r>
            <a:endParaRPr lang="en-US" sz="1200" b="0" u="none" strike="noStrike">
              <a:solidFill>
                <a:srgbClr val="000000"/>
              </a:solidFill>
              <a:effectLst/>
              <a:uFillTx/>
              <a:latin typeface="Arial"/>
            </a:endParaRPr>
          </a:p>
        </p:txBody>
      </p:sp>
      <p:sp>
        <p:nvSpPr>
          <p:cNvPr id="880" name="Text 11"/>
          <p:cNvSpPr/>
          <p:nvPr/>
        </p:nvSpPr>
        <p:spPr>
          <a:xfrm>
            <a:off x="3758040" y="3263760"/>
            <a:ext cx="19969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 plan.md: pași mici, verificabili.</a:t>
            </a:r>
            <a:endParaRPr lang="en-US" sz="1200" b="0" u="none" strike="noStrike">
              <a:solidFill>
                <a:srgbClr val="000000"/>
              </a:solidFill>
              <a:effectLst/>
              <a:uFillTx/>
              <a:latin typeface="Arial"/>
            </a:endParaRPr>
          </a:p>
        </p:txBody>
      </p:sp>
      <p:pic>
        <p:nvPicPr>
          <p:cNvPr id="881" name="Image 1" descr="arrow-right"/>
          <p:cNvPicPr/>
          <p:nvPr/>
        </p:nvPicPr>
        <p:blipFill>
          <a:blip r:embed="rId2"/>
          <a:stretch/>
        </p:blipFill>
        <p:spPr>
          <a:xfrm>
            <a:off x="5981760" y="3077280"/>
            <a:ext cx="228240" cy="151920"/>
          </a:xfrm>
          <a:prstGeom prst="rect">
            <a:avLst/>
          </a:prstGeom>
          <a:noFill/>
          <a:ln w="0">
            <a:noFill/>
          </a:ln>
        </p:spPr>
      </p:pic>
      <p:sp>
        <p:nvSpPr>
          <p:cNvPr id="882" name="Shape 12"/>
          <p:cNvSpPr/>
          <p:nvPr/>
        </p:nvSpPr>
        <p:spPr>
          <a:xfrm>
            <a:off x="6289560" y="2197440"/>
            <a:ext cx="2349360" cy="191124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3" name="Text 13"/>
          <p:cNvSpPr/>
          <p:nvPr/>
        </p:nvSpPr>
        <p:spPr>
          <a:xfrm>
            <a:off x="6495120" y="2403000"/>
            <a:ext cx="19969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3 · Implement</a:t>
            </a:r>
            <a:endParaRPr lang="en-US" sz="1600" b="0" u="none" strike="noStrike">
              <a:solidFill>
                <a:srgbClr val="000000"/>
              </a:solidFill>
              <a:effectLst/>
              <a:uFillTx/>
              <a:latin typeface="Arial"/>
            </a:endParaRPr>
          </a:p>
        </p:txBody>
      </p:sp>
      <p:sp>
        <p:nvSpPr>
          <p:cNvPr id="884" name="Text 14"/>
          <p:cNvSpPr/>
          <p:nvPr/>
        </p:nvSpPr>
        <p:spPr>
          <a:xfrm>
            <a:off x="6495120" y="271008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Agent / CLI / cloud</a:t>
            </a:r>
            <a:endParaRPr lang="en-US" sz="1200" b="0" u="none" strike="noStrike">
              <a:solidFill>
                <a:srgbClr val="000000"/>
              </a:solidFill>
              <a:effectLst/>
              <a:uFillTx/>
              <a:latin typeface="Arial"/>
            </a:endParaRPr>
          </a:p>
        </p:txBody>
      </p:sp>
      <p:sp>
        <p:nvSpPr>
          <p:cNvPr id="885" name="Text 15"/>
          <p:cNvSpPr/>
          <p:nvPr/>
        </p:nvSpPr>
        <p:spPr>
          <a:xfrm>
            <a:off x="6495120" y="298692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IBM Plex Sans"/>
                <a:ea typeface="IBM Plex Sans"/>
              </a:rPr>
              <a:t>model echilibrat</a:t>
            </a:r>
            <a:endParaRPr lang="en-US" sz="1200" b="0" u="none" strike="noStrike">
              <a:solidFill>
                <a:srgbClr val="000000"/>
              </a:solidFill>
              <a:effectLst/>
              <a:uFillTx/>
              <a:latin typeface="Arial"/>
            </a:endParaRPr>
          </a:p>
        </p:txBody>
      </p:sp>
      <p:sp>
        <p:nvSpPr>
          <p:cNvPr id="886" name="Text 16"/>
          <p:cNvSpPr/>
          <p:nvPr/>
        </p:nvSpPr>
        <p:spPr>
          <a:xfrm>
            <a:off x="6495120" y="3263760"/>
            <a:ext cx="19969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Sesiune nouă, un pas odată, teste după fiecare pas.</a:t>
            </a:r>
            <a:endParaRPr lang="en-US" sz="1200" b="0" u="none" strike="noStrike">
              <a:solidFill>
                <a:srgbClr val="000000"/>
              </a:solidFill>
              <a:effectLst/>
              <a:uFillTx/>
              <a:latin typeface="Arial"/>
            </a:endParaRPr>
          </a:p>
        </p:txBody>
      </p:sp>
      <p:pic>
        <p:nvPicPr>
          <p:cNvPr id="887" name="Image 2" descr="arrow-right"/>
          <p:cNvPicPr/>
          <p:nvPr/>
        </p:nvPicPr>
        <p:blipFill>
          <a:blip r:embed="rId3"/>
          <a:stretch/>
        </p:blipFill>
        <p:spPr>
          <a:xfrm>
            <a:off x="8718480" y="3077280"/>
            <a:ext cx="228240" cy="151920"/>
          </a:xfrm>
          <a:prstGeom prst="rect">
            <a:avLst/>
          </a:prstGeom>
          <a:noFill/>
          <a:ln w="0">
            <a:noFill/>
          </a:ln>
        </p:spPr>
      </p:pic>
      <p:sp>
        <p:nvSpPr>
          <p:cNvPr id="888" name="Shape 17"/>
          <p:cNvSpPr/>
          <p:nvPr/>
        </p:nvSpPr>
        <p:spPr>
          <a:xfrm>
            <a:off x="9026640" y="2197440"/>
            <a:ext cx="2349360" cy="191124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9" name="Text 18"/>
          <p:cNvSpPr/>
          <p:nvPr/>
        </p:nvSpPr>
        <p:spPr>
          <a:xfrm>
            <a:off x="9231840" y="2403000"/>
            <a:ext cx="19969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4 · Review</a:t>
            </a:r>
            <a:endParaRPr lang="en-US" sz="1600" b="0" u="none" strike="noStrike">
              <a:solidFill>
                <a:srgbClr val="000000"/>
              </a:solidFill>
              <a:effectLst/>
              <a:uFillTx/>
              <a:latin typeface="Arial"/>
            </a:endParaRPr>
          </a:p>
        </p:txBody>
      </p:sp>
      <p:sp>
        <p:nvSpPr>
          <p:cNvPr id="890" name="Text 19"/>
          <p:cNvSpPr/>
          <p:nvPr/>
        </p:nvSpPr>
        <p:spPr>
          <a:xfrm>
            <a:off x="9231840" y="271008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Tu + code review</a:t>
            </a:r>
            <a:endParaRPr lang="en-US" sz="1200" b="0" u="none" strike="noStrike">
              <a:solidFill>
                <a:srgbClr val="000000"/>
              </a:solidFill>
              <a:effectLst/>
              <a:uFillTx/>
              <a:latin typeface="Arial"/>
            </a:endParaRPr>
          </a:p>
        </p:txBody>
      </p:sp>
      <p:sp>
        <p:nvSpPr>
          <p:cNvPr id="891" name="Text 20"/>
          <p:cNvSpPr/>
          <p:nvPr/>
        </p:nvSpPr>
        <p:spPr>
          <a:xfrm>
            <a:off x="9231840" y="298692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IBM Plex Sans"/>
                <a:ea typeface="IBM Plex Sans"/>
              </a:rPr>
              <a:t>reviewer agent</a:t>
            </a:r>
            <a:endParaRPr lang="en-US" sz="1200" b="0" u="none" strike="noStrike">
              <a:solidFill>
                <a:srgbClr val="000000"/>
              </a:solidFill>
              <a:effectLst/>
              <a:uFillTx/>
              <a:latin typeface="Arial"/>
            </a:endParaRPr>
          </a:p>
        </p:txBody>
      </p:sp>
      <p:sp>
        <p:nvSpPr>
          <p:cNvPr id="892" name="Text 21"/>
          <p:cNvSpPr/>
          <p:nvPr/>
        </p:nvSpPr>
        <p:spPr>
          <a:xfrm>
            <a:off x="9231840" y="3263760"/>
            <a:ext cx="19969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Citești diff-ul. Codul se livrează, nu planul.</a:t>
            </a:r>
            <a:endParaRPr lang="en-US" sz="1200" b="0" u="none" strike="noStrike">
              <a:solidFill>
                <a:srgbClr val="000000"/>
              </a:solidFill>
              <a:effectLst/>
              <a:uFillTx/>
              <a:latin typeface="Arial"/>
            </a:endParaRPr>
          </a:p>
        </p:txBody>
      </p:sp>
      <p:sp>
        <p:nvSpPr>
          <p:cNvPr id="893" name="Text 22"/>
          <p:cNvSpPr/>
          <p:nvPr/>
        </p:nvSpPr>
        <p:spPr>
          <a:xfrm>
            <a:off x="812880" y="4366440"/>
            <a:ext cx="10566000" cy="654840"/>
          </a:xfrm>
          <a:prstGeom prst="roundRect">
            <a:avLst>
              <a:gd name="adj" fmla="val 15504"/>
            </a:avLst>
          </a:prstGeom>
          <a:solidFill>
            <a:srgbClr val="DCE8F5"/>
          </a:solidFill>
          <a:ln w="0">
            <a:noFill/>
          </a:ln>
        </p:spPr>
        <p:style>
          <a:lnRef idx="0"/>
          <a:fillRef idx="0"/>
          <a:effectRef idx="0"/>
          <a:fontRef idx="minor"/>
        </p:style>
        <p:txBody>
          <a:bodyPr lIns="173520" tIns="173520" rIns="0" bIns="14796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Între etape: </a:t>
            </a:r>
            <a:r>
              <a:rPr lang="en-US" sz="1400" b="1" u="none" strike="noStrike">
                <a:solidFill>
                  <a:srgbClr val="131A2A"/>
                </a:solidFill>
                <a:effectLst/>
                <a:uFillTx/>
                <a:latin typeface="IBM Plex Sans"/>
                <a:ea typeface="IBM Plex Sans"/>
              </a:rPr>
              <a:t>sesiune nouă + artefactul scris</a:t>
            </a:r>
            <a:r>
              <a:rPr lang="en-US" sz="1400" b="0" u="none" strike="noStrike">
                <a:solidFill>
                  <a:srgbClr val="131A2A"/>
                </a:solidFill>
                <a:effectLst/>
                <a:uFillTx/>
                <a:latin typeface="IBM Plex Sans"/>
                <a:ea typeface="IBM Plex Sans"/>
              </a:rPr>
              <a:t> (notes.md, plan.md). Așa fiecare etapă începe în smart zone.</a:t>
            </a:r>
            <a:endParaRPr lang="en-US" sz="1400" b="0" u="none" strike="noStrike">
              <a:solidFill>
                <a:srgbClr val="000000"/>
              </a:solidFill>
              <a:effectLst/>
              <a:uFillTx/>
              <a:latin typeface="Arial"/>
            </a:endParaRPr>
          </a:p>
        </p:txBody>
      </p:sp>
      <p:sp>
        <p:nvSpPr>
          <p:cNvPr id="894" name="Text 23"/>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895" name="Text 24"/>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22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896"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14 · BONUS</a:t>
            </a:r>
            <a:endParaRPr lang="en-US" sz="1200" b="0" u="none" strike="noStrike">
              <a:solidFill>
                <a:srgbClr val="000000"/>
              </a:solidFill>
              <a:effectLst/>
              <a:uFillTx/>
              <a:latin typeface="Arial"/>
            </a:endParaRPr>
          </a:p>
        </p:txBody>
      </p:sp>
      <p:sp>
        <p:nvSpPr>
          <p:cNvPr id="897"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Siguranță: reguli care nu se negociază</a:t>
            </a:r>
            <a:endParaRPr lang="en-US" sz="3000" b="0" u="none" strike="noStrike">
              <a:solidFill>
                <a:schemeClr val="dk1"/>
              </a:solidFill>
              <a:effectLst/>
              <a:uFillTx/>
              <a:latin typeface="IBM Plex Sans"/>
            </a:endParaRPr>
          </a:p>
        </p:txBody>
      </p:sp>
      <p:sp>
        <p:nvSpPr>
          <p:cNvPr id="898" name="Shape 2"/>
          <p:cNvSpPr/>
          <p:nvPr/>
        </p:nvSpPr>
        <p:spPr>
          <a:xfrm>
            <a:off x="81612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99" name="Image 0" descr="Search"/>
          <p:cNvPicPr/>
          <p:nvPr/>
        </p:nvPicPr>
        <p:blipFill>
          <a:blip r:embed="rId1"/>
          <a:stretch/>
        </p:blipFill>
        <p:spPr>
          <a:xfrm>
            <a:off x="1021320" y="1983960"/>
            <a:ext cx="228240" cy="228240"/>
          </a:xfrm>
          <a:prstGeom prst="rect">
            <a:avLst/>
          </a:prstGeom>
          <a:noFill/>
          <a:ln w="0">
            <a:noFill/>
          </a:ln>
        </p:spPr>
      </p:pic>
      <p:sp>
        <p:nvSpPr>
          <p:cNvPr id="900" name="Text 3"/>
          <p:cNvSpPr/>
          <p:nvPr/>
        </p:nvSpPr>
        <p:spPr>
          <a:xfrm>
            <a:off x="1351440" y="1991520"/>
            <a:ext cx="213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Review la fiecare diff</a:t>
            </a:r>
            <a:endParaRPr lang="en-US" sz="1400" b="0" u="none" strike="noStrike">
              <a:solidFill>
                <a:srgbClr val="000000"/>
              </a:solidFill>
              <a:effectLst/>
              <a:uFillTx/>
              <a:latin typeface="Arial"/>
            </a:endParaRPr>
          </a:p>
        </p:txBody>
      </p:sp>
      <p:sp>
        <p:nvSpPr>
          <p:cNvPr id="901" name="Text 4"/>
          <p:cNvSpPr/>
          <p:nvPr/>
        </p:nvSpPr>
        <p:spPr>
          <a:xfrm>
            <a:off x="1021320" y="228852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Ca pentru un PR de la un coleg nou: </a:t>
            </a:r>
            <a:r>
              <a:rPr lang="en-US" sz="1200" b="0" u="none" strike="noStrike">
                <a:solidFill>
                  <a:srgbClr val="444C5C"/>
                </a:solidFill>
                <a:effectLst/>
                <a:uFillTx/>
                <a:latin typeface="IBM Plex Sans"/>
                <a:ea typeface="IBM Plex Sans"/>
              </a:rPr>
              <a:t>logică, teste, securitate.</a:t>
            </a:r>
            <a:endParaRPr lang="en-US" sz="1200" b="0" u="none" strike="noStrike">
              <a:solidFill>
                <a:srgbClr val="000000"/>
              </a:solidFill>
              <a:effectLst/>
              <a:uFillTx/>
              <a:latin typeface="Arial"/>
            </a:endParaRPr>
          </a:p>
        </p:txBody>
      </p:sp>
      <p:sp>
        <p:nvSpPr>
          <p:cNvPr id="902" name="Shape 5"/>
          <p:cNvSpPr/>
          <p:nvPr/>
        </p:nvSpPr>
        <p:spPr>
          <a:xfrm>
            <a:off x="438876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03" name="Image 1" descr="Lock"/>
          <p:cNvPicPr/>
          <p:nvPr/>
        </p:nvPicPr>
        <p:blipFill>
          <a:blip r:embed="rId2"/>
          <a:stretch/>
        </p:blipFill>
        <p:spPr>
          <a:xfrm>
            <a:off x="4594320" y="1983960"/>
            <a:ext cx="228240" cy="228240"/>
          </a:xfrm>
          <a:prstGeom prst="rect">
            <a:avLst/>
          </a:prstGeom>
          <a:noFill/>
          <a:ln w="0">
            <a:noFill/>
          </a:ln>
        </p:spPr>
      </p:pic>
      <p:sp>
        <p:nvSpPr>
          <p:cNvPr id="904" name="Text 6"/>
          <p:cNvSpPr/>
          <p:nvPr/>
        </p:nvSpPr>
        <p:spPr>
          <a:xfrm>
            <a:off x="4924440" y="1991520"/>
            <a:ext cx="21092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Autopilot doar izolat</a:t>
            </a:r>
            <a:endParaRPr lang="en-US" sz="1400" b="0" u="none" strike="noStrike">
              <a:solidFill>
                <a:srgbClr val="000000"/>
              </a:solidFill>
              <a:effectLst/>
              <a:uFillTx/>
              <a:latin typeface="Arial"/>
            </a:endParaRPr>
          </a:p>
        </p:txBody>
      </p:sp>
      <p:sp>
        <p:nvSpPr>
          <p:cNvPr id="905" name="Text 7"/>
          <p:cNvSpPr/>
          <p:nvPr/>
        </p:nvSpPr>
        <p:spPr>
          <a:xfrm>
            <a:off x="4594320" y="228852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Auto-approve și autopilot doar în worktree / sandbox, niciodată cu acces la producție.</a:t>
            </a:r>
            <a:endParaRPr lang="en-US" sz="1200" b="0" u="none" strike="noStrike">
              <a:solidFill>
                <a:srgbClr val="000000"/>
              </a:solidFill>
              <a:effectLst/>
              <a:uFillTx/>
              <a:latin typeface="Arial"/>
            </a:endParaRPr>
          </a:p>
        </p:txBody>
      </p:sp>
      <p:sp>
        <p:nvSpPr>
          <p:cNvPr id="906" name="Shape 8"/>
          <p:cNvSpPr/>
          <p:nvPr/>
        </p:nvSpPr>
        <p:spPr>
          <a:xfrm>
            <a:off x="796176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07" name="Image 2" descr="Warning"/>
          <p:cNvPicPr/>
          <p:nvPr/>
        </p:nvPicPr>
        <p:blipFill>
          <a:blip r:embed="rId3"/>
          <a:stretch/>
        </p:blipFill>
        <p:spPr>
          <a:xfrm>
            <a:off x="8167320" y="1983960"/>
            <a:ext cx="228240" cy="228240"/>
          </a:xfrm>
          <a:prstGeom prst="rect">
            <a:avLst/>
          </a:prstGeom>
          <a:noFill/>
          <a:ln w="0">
            <a:noFill/>
          </a:ln>
        </p:spPr>
      </p:pic>
      <p:sp>
        <p:nvSpPr>
          <p:cNvPr id="908" name="Text 9"/>
          <p:cNvSpPr/>
          <p:nvPr/>
        </p:nvSpPr>
        <p:spPr>
          <a:xfrm>
            <a:off x="8497440" y="1991520"/>
            <a:ext cx="1710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Prompt injection</a:t>
            </a:r>
            <a:endParaRPr lang="en-US" sz="1400" b="0" u="none" strike="noStrike">
              <a:solidFill>
                <a:srgbClr val="000000"/>
              </a:solidFill>
              <a:effectLst/>
              <a:uFillTx/>
              <a:latin typeface="Arial"/>
            </a:endParaRPr>
          </a:p>
        </p:txBody>
      </p:sp>
      <p:sp>
        <p:nvSpPr>
          <p:cNvPr id="909" name="Text 10"/>
          <p:cNvSpPr/>
          <p:nvPr/>
        </p:nvSpPr>
        <p:spPr>
          <a:xfrm>
            <a:off x="8167320" y="2288520"/>
            <a:ext cx="309348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Paginile web, issue-urile și fișierele pot conține instrucțiuni. Agentul nu le execută orbește.</a:t>
            </a:r>
            <a:endParaRPr lang="en-US" sz="1200" b="0" u="none" strike="noStrike">
              <a:solidFill>
                <a:srgbClr val="000000"/>
              </a:solidFill>
              <a:effectLst/>
              <a:uFillTx/>
              <a:latin typeface="Arial"/>
            </a:endParaRPr>
          </a:p>
        </p:txBody>
      </p:sp>
      <p:sp>
        <p:nvSpPr>
          <p:cNvPr id="910" name="Shape 11"/>
          <p:cNvSpPr/>
          <p:nvPr/>
        </p:nvSpPr>
        <p:spPr>
          <a:xfrm>
            <a:off x="81612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11" name="Image 3" descr="Key"/>
          <p:cNvPicPr/>
          <p:nvPr/>
        </p:nvPicPr>
        <p:blipFill>
          <a:blip r:embed="rId4"/>
          <a:stretch/>
        </p:blipFill>
        <p:spPr>
          <a:xfrm>
            <a:off x="1021320" y="3497760"/>
            <a:ext cx="228240" cy="228240"/>
          </a:xfrm>
          <a:prstGeom prst="rect">
            <a:avLst/>
          </a:prstGeom>
          <a:noFill/>
          <a:ln w="0">
            <a:noFill/>
          </a:ln>
        </p:spPr>
      </p:pic>
      <p:sp>
        <p:nvSpPr>
          <p:cNvPr id="912" name="Text 12"/>
          <p:cNvSpPr/>
          <p:nvPr/>
        </p:nvSpPr>
        <p:spPr>
          <a:xfrm>
            <a:off x="1351440" y="3505680"/>
            <a:ext cx="127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Fără secrete</a:t>
            </a:r>
            <a:endParaRPr lang="en-US" sz="1400" b="0" u="none" strike="noStrike">
              <a:solidFill>
                <a:srgbClr val="000000"/>
              </a:solidFill>
              <a:effectLst/>
              <a:uFillTx/>
              <a:latin typeface="Arial"/>
            </a:endParaRPr>
          </a:p>
        </p:txBody>
      </p:sp>
      <p:sp>
        <p:nvSpPr>
          <p:cNvPr id="913" name="Text 13"/>
          <p:cNvSpPr/>
          <p:nvPr/>
        </p:nvSpPr>
        <p:spPr>
          <a:xfrm>
            <a:off x="1021320" y="380268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Nu în prompturi, AGENTS.md sau </a:t>
            </a:r>
            <a:r>
              <a:rPr lang="en-US" sz="1200" b="0" u="none" strike="noStrike">
                <a:solidFill>
                  <a:srgbClr val="444C5C"/>
                </a:solidFill>
                <a:effectLst/>
                <a:uFillTx/>
                <a:latin typeface="IBM Plex Sans"/>
                <a:ea typeface="IBM Plex Sans"/>
              </a:rPr>
              <a:t>loguri. Content exclusion pentru fișiere </a:t>
            </a:r>
            <a:r>
              <a:rPr lang="en-US" sz="1200" b="0" u="none" strike="noStrike">
                <a:solidFill>
                  <a:srgbClr val="444C5C"/>
                </a:solidFill>
                <a:effectLst/>
                <a:uFillTx/>
                <a:latin typeface="IBM Plex Sans"/>
                <a:ea typeface="IBM Plex Sans"/>
              </a:rPr>
              <a:t>sensibile.</a:t>
            </a:r>
            <a:endParaRPr lang="en-US" sz="1200" b="0" u="none" strike="noStrike">
              <a:solidFill>
                <a:srgbClr val="000000"/>
              </a:solidFill>
              <a:effectLst/>
              <a:uFillTx/>
              <a:latin typeface="Arial"/>
            </a:endParaRPr>
          </a:p>
        </p:txBody>
      </p:sp>
      <p:sp>
        <p:nvSpPr>
          <p:cNvPr id="914" name="Shape 14"/>
          <p:cNvSpPr/>
          <p:nvPr/>
        </p:nvSpPr>
        <p:spPr>
          <a:xfrm>
            <a:off x="438876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15" name="Image 4" descr="Tool"/>
          <p:cNvPicPr/>
          <p:nvPr/>
        </p:nvPicPr>
        <p:blipFill>
          <a:blip r:embed="rId5"/>
          <a:stretch/>
        </p:blipFill>
        <p:spPr>
          <a:xfrm>
            <a:off x="4594320" y="3497760"/>
            <a:ext cx="228240" cy="228240"/>
          </a:xfrm>
          <a:prstGeom prst="rect">
            <a:avLst/>
          </a:prstGeom>
          <a:noFill/>
          <a:ln w="0">
            <a:noFill/>
          </a:ln>
        </p:spPr>
      </p:pic>
      <p:sp>
        <p:nvSpPr>
          <p:cNvPr id="916" name="Text 15"/>
          <p:cNvSpPr/>
          <p:nvPr/>
        </p:nvSpPr>
        <p:spPr>
          <a:xfrm>
            <a:off x="4924440" y="3505680"/>
            <a:ext cx="19987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Verifică ce instalezi</a:t>
            </a:r>
            <a:endParaRPr lang="en-US" sz="1400" b="0" u="none" strike="noStrike">
              <a:solidFill>
                <a:srgbClr val="000000"/>
              </a:solidFill>
              <a:effectLst/>
              <a:uFillTx/>
              <a:latin typeface="Arial"/>
            </a:endParaRPr>
          </a:p>
        </p:txBody>
      </p:sp>
      <p:sp>
        <p:nvSpPr>
          <p:cNvPr id="917" name="Text 16"/>
          <p:cNvSpPr/>
          <p:nvPr/>
        </p:nvSpPr>
        <p:spPr>
          <a:xfrm>
            <a:off x="4594320" y="3802680"/>
            <a:ext cx="3093480" cy="451800"/>
          </a:xfrm>
          <a:prstGeom prst="rect">
            <a:avLst/>
          </a:prstGeom>
          <a:noFill/>
          <a:ln w="0">
            <a:noFill/>
          </a:ln>
        </p:spPr>
        <p:style>
          <a:lnRef idx="0"/>
          <a:fillRef idx="0"/>
          <a:effectRef idx="0"/>
          <a:fontRef idx="minor"/>
        </p:style>
        <p:txBody>
          <a:bodyPr lIns="0" tIns="0" rIns="0" bIns="0" anchor="t">
            <a:normAutofit fontScale="92500" lnSpcReduction="9999"/>
          </a:bodyPr>
          <a:p>
            <a:pPr defTabSz="914400">
              <a:lnSpc>
                <a:spcPts val="1681"/>
              </a:lnSpc>
              <a:tabLst>
                <a:tab pos="0" algn="l"/>
              </a:tabLst>
            </a:pPr>
            <a:r>
              <a:rPr lang="en-US" sz="1200" b="0" u="none" strike="noStrike">
                <a:solidFill>
                  <a:srgbClr val="444C5C"/>
                </a:solidFill>
                <a:effectLst/>
                <a:uFillTx/>
                <a:latin typeface="IBM Plex Sans"/>
                <a:ea typeface="IBM Plex Sans"/>
              </a:rPr>
              <a:t>Skill-urile, plugin-urile și MCP-urile terțe sunt cod străin: citește-le înainte. Pot conține viruși.</a:t>
            </a:r>
            <a:endParaRPr lang="en-US" sz="1200" b="0" u="none" strike="noStrike">
              <a:solidFill>
                <a:srgbClr val="000000"/>
              </a:solidFill>
              <a:effectLst/>
              <a:uFillTx/>
              <a:latin typeface="Arial"/>
            </a:endParaRPr>
          </a:p>
        </p:txBody>
      </p:sp>
      <p:sp>
        <p:nvSpPr>
          <p:cNvPr id="918" name="Shape 17"/>
          <p:cNvSpPr/>
          <p:nvPr/>
        </p:nvSpPr>
        <p:spPr>
          <a:xfrm>
            <a:off x="796176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19" name="Image 5" descr="Trust"/>
          <p:cNvPicPr/>
          <p:nvPr/>
        </p:nvPicPr>
        <p:blipFill>
          <a:blip r:embed="rId6"/>
          <a:stretch/>
        </p:blipFill>
        <p:spPr>
          <a:xfrm>
            <a:off x="8167320" y="3497760"/>
            <a:ext cx="228240" cy="228240"/>
          </a:xfrm>
          <a:prstGeom prst="rect">
            <a:avLst/>
          </a:prstGeom>
          <a:noFill/>
          <a:ln w="0">
            <a:noFill/>
          </a:ln>
        </p:spPr>
      </p:pic>
      <p:sp>
        <p:nvSpPr>
          <p:cNvPr id="920" name="Text 18"/>
          <p:cNvSpPr/>
          <p:nvPr/>
        </p:nvSpPr>
        <p:spPr>
          <a:xfrm>
            <a:off x="8497440" y="3505680"/>
            <a:ext cx="14126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Politica firmei</a:t>
            </a:r>
            <a:endParaRPr lang="en-US" sz="1400" b="0" u="none" strike="noStrike">
              <a:solidFill>
                <a:srgbClr val="000000"/>
              </a:solidFill>
              <a:effectLst/>
              <a:uFillTx/>
              <a:latin typeface="Arial"/>
            </a:endParaRPr>
          </a:p>
        </p:txBody>
      </p:sp>
      <p:sp>
        <p:nvSpPr>
          <p:cNvPr id="921" name="Text 19"/>
          <p:cNvSpPr/>
          <p:nvPr/>
        </p:nvSpPr>
        <p:spPr>
          <a:xfrm>
            <a:off x="8167320" y="380268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Folosește modelele aprobate de organizație; hooks ca plasă de siguranță.</a:t>
            </a:r>
            <a:endParaRPr lang="en-US" sz="1200" b="0" u="none" strike="noStrike">
              <a:solidFill>
                <a:srgbClr val="000000"/>
              </a:solidFill>
              <a:effectLst/>
              <a:uFillTx/>
              <a:latin typeface="Arial"/>
            </a:endParaRPr>
          </a:p>
        </p:txBody>
      </p:sp>
      <p:sp>
        <p:nvSpPr>
          <p:cNvPr id="922" name="Text 20"/>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923" name="Text 21"/>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23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924"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14 · BONUS</a:t>
            </a:r>
            <a:endParaRPr lang="en-US" sz="1200" b="0" u="none" strike="noStrike">
              <a:solidFill>
                <a:srgbClr val="000000"/>
              </a:solidFill>
              <a:effectLst/>
              <a:uFillTx/>
              <a:latin typeface="Arial"/>
            </a:endParaRPr>
          </a:p>
        </p:txBody>
      </p:sp>
      <p:sp>
        <p:nvSpPr>
          <p:cNvPr id="925"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Resurse</a:t>
            </a:r>
            <a:endParaRPr lang="en-US" sz="3000" b="0" u="none" strike="noStrike">
              <a:solidFill>
                <a:schemeClr val="dk1"/>
              </a:solidFill>
              <a:effectLst/>
              <a:uFillTx/>
              <a:latin typeface="IBM Plex Sans"/>
            </a:endParaRPr>
          </a:p>
        </p:txBody>
      </p:sp>
      <p:sp>
        <p:nvSpPr>
          <p:cNvPr id="926" name="Text 2"/>
          <p:cNvSpPr/>
          <p:nvPr/>
        </p:nvSpPr>
        <p:spPr>
          <a:xfrm>
            <a:off x="812880" y="1775160"/>
            <a:ext cx="57553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Modele și prețuri în Copilot</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1"/>
              </a:rPr>
              <a:t>docs.github.com/en/copilot/reference/ai-models/supported-models</a:t>
            </a:r>
            <a:endParaRPr lang="en-US" sz="1200" b="0" u="none" strike="noStrike">
              <a:solidFill>
                <a:srgbClr val="000000"/>
              </a:solidFill>
              <a:effectLst/>
              <a:uFillTx/>
              <a:latin typeface="Arial"/>
            </a:endParaRPr>
          </a:p>
        </p:txBody>
      </p:sp>
      <p:sp>
        <p:nvSpPr>
          <p:cNvPr id="927" name="Text 3"/>
          <p:cNvSpPr/>
          <p:nvPr/>
        </p:nvSpPr>
        <p:spPr>
          <a:xfrm>
            <a:off x="812880" y="2328840"/>
            <a:ext cx="57553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Hooks — referință</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2"/>
              </a:rPr>
              <a:t>docs.github.com/en/copilot/reference/hooks-reference</a:t>
            </a:r>
            <a:endParaRPr lang="en-US" sz="1200" b="0" u="none" strike="noStrike">
              <a:solidFill>
                <a:srgbClr val="000000"/>
              </a:solidFill>
              <a:effectLst/>
              <a:uFillTx/>
              <a:latin typeface="Arial"/>
            </a:endParaRPr>
          </a:p>
        </p:txBody>
      </p:sp>
      <p:sp>
        <p:nvSpPr>
          <p:cNvPr id="928" name="Text 4"/>
          <p:cNvSpPr/>
          <p:nvPr/>
        </p:nvSpPr>
        <p:spPr>
          <a:xfrm>
            <a:off x="812880" y="2882520"/>
            <a:ext cx="57553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Agenți în VS Code</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3"/>
              </a:rPr>
              <a:t>code.visualstudio.com/docs/agents/overview</a:t>
            </a:r>
            <a:endParaRPr lang="en-US" sz="1200" b="0" u="none" strike="noStrike">
              <a:solidFill>
                <a:srgbClr val="000000"/>
              </a:solidFill>
              <a:effectLst/>
              <a:uFillTx/>
              <a:latin typeface="Arial"/>
            </a:endParaRPr>
          </a:p>
        </p:txBody>
      </p:sp>
      <p:sp>
        <p:nvSpPr>
          <p:cNvPr id="929" name="Text 5"/>
          <p:cNvSpPr/>
          <p:nvPr/>
        </p:nvSpPr>
        <p:spPr>
          <a:xfrm>
            <a:off x="812880" y="3436200"/>
            <a:ext cx="57553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Standardul Agent Skills</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4"/>
              </a:rPr>
              <a:t>agentskills.io</a:t>
            </a:r>
            <a:endParaRPr lang="en-US" sz="1200" b="0" u="none" strike="noStrike">
              <a:solidFill>
                <a:srgbClr val="000000"/>
              </a:solidFill>
              <a:effectLst/>
              <a:uFillTx/>
              <a:latin typeface="Arial"/>
            </a:endParaRPr>
          </a:p>
        </p:txBody>
      </p:sp>
      <p:sp>
        <p:nvSpPr>
          <p:cNvPr id="930" name="Text 6"/>
          <p:cNvSpPr/>
          <p:nvPr/>
        </p:nvSpPr>
        <p:spPr>
          <a:xfrm>
            <a:off x="812880" y="3989880"/>
            <a:ext cx="57553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5"/>
              </a:rPr>
              <a:t>agents.md</a:t>
            </a:r>
            <a:endParaRPr lang="en-US" sz="1200" b="0" u="none" strike="noStrike">
              <a:solidFill>
                <a:srgbClr val="000000"/>
              </a:solidFill>
              <a:effectLst/>
              <a:uFillTx/>
              <a:latin typeface="Arial"/>
            </a:endParaRPr>
          </a:p>
        </p:txBody>
      </p:sp>
      <p:sp>
        <p:nvSpPr>
          <p:cNvPr id="931" name="Text 7"/>
          <p:cNvSpPr/>
          <p:nvPr/>
        </p:nvSpPr>
        <p:spPr>
          <a:xfrm>
            <a:off x="6807240" y="1775160"/>
            <a:ext cx="470880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Matt Pocock — skills</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6"/>
              </a:rPr>
              <a:t>github.com/mattpocock/skills</a:t>
            </a:r>
            <a:endParaRPr lang="en-US" sz="1200" b="0" u="none" strike="noStrike">
              <a:solidFill>
                <a:srgbClr val="000000"/>
              </a:solidFill>
              <a:effectLst/>
              <a:uFillTx/>
              <a:latin typeface="Arial"/>
            </a:endParaRPr>
          </a:p>
        </p:txBody>
      </p:sp>
      <p:sp>
        <p:nvSpPr>
          <p:cNvPr id="932" name="Text 8"/>
          <p:cNvSpPr/>
          <p:nvPr/>
        </p:nvSpPr>
        <p:spPr>
          <a:xfrm>
            <a:off x="6807240" y="2328840"/>
            <a:ext cx="470880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Superpowers</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7"/>
              </a:rPr>
              <a:t>github.com/obra/superpowers</a:t>
            </a:r>
            <a:endParaRPr lang="en-US" sz="1200" b="0" u="none" strike="noStrike">
              <a:solidFill>
                <a:srgbClr val="000000"/>
              </a:solidFill>
              <a:effectLst/>
              <a:uFillTx/>
              <a:latin typeface="Arial"/>
            </a:endParaRPr>
          </a:p>
        </p:txBody>
      </p:sp>
      <p:sp>
        <p:nvSpPr>
          <p:cNvPr id="933" name="Text 9"/>
          <p:cNvSpPr/>
          <p:nvPr/>
        </p:nvSpPr>
        <p:spPr>
          <a:xfrm>
            <a:off x="6807240" y="2882520"/>
            <a:ext cx="470880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Skill-uri oficiale Anthropic</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8"/>
              </a:rPr>
              <a:t>github.com/anthropics/skills</a:t>
            </a:r>
            <a:endParaRPr lang="en-US" sz="1200" b="0" u="none" strike="noStrike">
              <a:solidFill>
                <a:srgbClr val="000000"/>
              </a:solidFill>
              <a:effectLst/>
              <a:uFillTx/>
              <a:latin typeface="Arial"/>
            </a:endParaRPr>
          </a:p>
        </p:txBody>
      </p:sp>
      <p:sp>
        <p:nvSpPr>
          <p:cNvPr id="934" name="Text 10"/>
          <p:cNvSpPr/>
          <p:nvPr/>
        </p:nvSpPr>
        <p:spPr>
          <a:xfrm>
            <a:off x="6807240" y="3436200"/>
            <a:ext cx="470880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Smart zone — definiție</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9"/>
              </a:rPr>
              <a:t>aihero.dev/ai-coding-dictionary/smart-zone</a:t>
            </a:r>
            <a:endParaRPr lang="en-US" sz="1200" b="0" u="none" strike="noStrike">
              <a:solidFill>
                <a:srgbClr val="000000"/>
              </a:solidFill>
              <a:effectLst/>
              <a:uFillTx/>
              <a:latin typeface="Arial"/>
            </a:endParaRPr>
          </a:p>
        </p:txBody>
      </p:sp>
      <p:sp>
        <p:nvSpPr>
          <p:cNvPr id="935" name="Text 11"/>
          <p:cNvSpPr/>
          <p:nvPr/>
        </p:nvSpPr>
        <p:spPr>
          <a:xfrm>
            <a:off x="6807240" y="3989880"/>
            <a:ext cx="470880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Dex Horthy — „No Vibes Allowed” (AI Engineer 2025)</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10"/>
              </a:rPr>
              <a:t>youtube.com/watch?v=rmvDxxNubIg</a:t>
            </a:r>
            <a:endParaRPr lang="en-US" sz="1200" b="0" u="none" strike="noStrike">
              <a:solidFill>
                <a:srgbClr val="000000"/>
              </a:solidFill>
              <a:effectLst/>
              <a:uFillTx/>
              <a:latin typeface="Arial"/>
            </a:endParaRPr>
          </a:p>
        </p:txBody>
      </p:sp>
      <p:sp>
        <p:nvSpPr>
          <p:cNvPr id="936" name="Text 12"/>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Agenți AI în GitHub Copilot</a:t>
            </a:r>
            <a:endParaRPr lang="en-US" sz="1200" b="0" u="none" strike="noStrike">
              <a:solidFill>
                <a:srgbClr val="000000"/>
              </a:solidFill>
              <a:effectLst/>
              <a:uFillTx/>
              <a:latin typeface="Arial"/>
            </a:endParaRPr>
          </a:p>
        </p:txBody>
      </p:sp>
      <p:sp>
        <p:nvSpPr>
          <p:cNvPr id="937" name="Text 13"/>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24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A"/>
        </a:solidFill>
      </p:bgPr>
    </p:bg>
    <p:spTree>
      <p:nvGrpSpPr>
        <p:cNvPr id="1" name=""/>
        <p:cNvGrpSpPr/>
        <p:nvPr/>
      </p:nvGrpSpPr>
      <p:grpSpPr>
        <a:xfrm>
          <a:off x="0" y="0"/>
          <a:ext cx="0" cy="0"/>
          <a:chOff x="0" y="0"/>
          <a:chExt cx="0" cy="0"/>
        </a:xfrm>
      </p:grpSpPr>
      <p:sp>
        <p:nvSpPr>
          <p:cNvPr id="938" name="PlaceHolder 1"/>
          <p:cNvSpPr>
            <a:spLocks noGrp="1"/>
          </p:cNvSpPr>
          <p:nvPr>
            <p:ph type="title"/>
          </p:nvPr>
        </p:nvSpPr>
        <p:spPr>
          <a:xfrm>
            <a:off x="812880" y="2440800"/>
            <a:ext cx="10883160" cy="695520"/>
          </a:xfrm>
          <a:prstGeom prst="rect">
            <a:avLst/>
          </a:prstGeom>
          <a:noFill/>
          <a:ln w="0">
            <a:noFill/>
          </a:ln>
        </p:spPr>
        <p:txBody>
          <a:bodyPr lIns="0" tIns="0" rIns="0" bIns="0" anchor="t">
            <a:normAutofit/>
          </a:bodyPr>
          <a:p>
            <a:pPr indent="0" algn="l" defTabSz="914400">
              <a:lnSpc>
                <a:spcPts val="5281"/>
              </a:lnSpc>
              <a:buNone/>
              <a:tabLst>
                <a:tab pos="0" algn="l"/>
              </a:tabLst>
            </a:pPr>
            <a:r>
              <a:rPr lang="en-US" sz="4800" b="1" u="none" strike="noStrike">
                <a:solidFill>
                  <a:srgbClr val="F5F2EA"/>
                </a:solidFill>
                <a:effectLst/>
                <a:uFillTx/>
                <a:latin typeface="Space Grotesk"/>
                <a:ea typeface="Space Grotesk"/>
              </a:rPr>
              <a:t>Întrebări?</a:t>
            </a:r>
            <a:endParaRPr lang="en-US" sz="4800" b="0" u="none" strike="noStrike">
              <a:solidFill>
                <a:schemeClr val="dk1"/>
              </a:solidFill>
              <a:effectLst/>
              <a:uFillTx/>
              <a:latin typeface="IBM Plex Sans"/>
            </a:endParaRPr>
          </a:p>
        </p:txBody>
      </p:sp>
      <p:pic>
        <p:nvPicPr>
          <p:cNvPr id="939" name="Image 0" descr="line"/>
          <p:cNvPicPr/>
          <p:nvPr/>
        </p:nvPicPr>
        <p:blipFill>
          <a:blip r:embed="rId1"/>
          <a:srcRect l="-37" t="0" r="-37" b="0"/>
          <a:stretch/>
        </p:blipFill>
        <p:spPr>
          <a:xfrm>
            <a:off x="812880" y="3365640"/>
            <a:ext cx="1015560" cy="25200"/>
          </a:xfrm>
          <a:prstGeom prst="rect">
            <a:avLst/>
          </a:prstGeom>
          <a:noFill/>
          <a:ln w="0">
            <a:noFill/>
          </a:ln>
        </p:spPr>
      </p:pic>
      <p:sp>
        <p:nvSpPr>
          <p:cNvPr id="940" name="Text 1"/>
          <p:cNvSpPr/>
          <p:nvPr/>
        </p:nvSpPr>
        <p:spPr>
          <a:xfrm>
            <a:off x="812880" y="3645000"/>
            <a:ext cx="9156240" cy="59400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C3CCDB"/>
                </a:solidFill>
                <a:effectLst/>
                <a:uFillTx/>
                <a:latin typeface="IBM Plex Sans"/>
                <a:ea typeface="IBM Plex Sans"/>
              </a:rPr>
              <a:t>Temă pentru săptămâna asta: alegeți un task real, scrieți un AGENTS.md scurt și încercați fluxul /grill-me → Plan → Agent într-o sesiune nouă.</a:t>
            </a:r>
            <a:endParaRPr lang="en-US" sz="1600" b="0" u="none" strike="noStrike">
              <a:solidFill>
                <a:srgbClr val="FFFFFF"/>
              </a:solidFill>
              <a:effectLst/>
              <a:uFillTx/>
              <a:latin typeface="Arial"/>
            </a:endParaRPr>
          </a:p>
        </p:txBody>
      </p:sp>
      <p:sp>
        <p:nvSpPr>
          <p:cNvPr id="941" name="Text 2"/>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8A93A6"/>
                </a:solidFill>
                <a:effectLst/>
                <a:uFillTx/>
                <a:latin typeface="IBM Plex Sans"/>
                <a:ea typeface="IBM Plex Sans"/>
              </a:rPr>
              <a:t>Agenți AI în GitHub Copilot</a:t>
            </a:r>
            <a:endParaRPr lang="en-US" sz="1200" b="0" u="none" strike="noStrike">
              <a:solidFill>
                <a:srgbClr val="FFFFFF"/>
              </a:solidFill>
              <a:effectLst/>
              <a:uFillTx/>
              <a:latin typeface="Arial"/>
            </a:endParaRPr>
          </a:p>
        </p:txBody>
      </p:sp>
      <p:sp>
        <p:nvSpPr>
          <p:cNvPr id="942" name="Text 3"/>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8A93A6"/>
                </a:solidFill>
                <a:effectLst/>
                <a:uFillTx/>
                <a:latin typeface="IBM Plex Sans"/>
                <a:ea typeface="IBM Plex Sans"/>
              </a:rPr>
              <a:t>25 / 25</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Lucrul cu agenți AI în GitHub Copilot">
  <a:themeElements>
    <a:clrScheme name="Lucrul cu agenți AI în GitHub Copilot">
      <a:dk1>
        <a:srgbClr val="131A2A"/>
      </a:dk1>
      <a:lt1>
        <a:srgbClr val="F5F2EA"/>
      </a:lt1>
      <a:dk2>
        <a:srgbClr val="4C505A"/>
      </a:dk2>
      <a:lt2>
        <a:srgbClr val="DEDCD7"/>
      </a:lt2>
      <a:accent1>
        <a:srgbClr val="A84F17"/>
      </a:accent1>
      <a:accent2>
        <a:srgbClr val="2B5E96"/>
      </a:accent2>
      <a:accent3>
        <a:srgbClr val="E8823A"/>
      </a:accent3>
      <a:accent4>
        <a:srgbClr val="F2A66B"/>
      </a:accent4>
      <a:accent5>
        <a:srgbClr val="9CC3EA"/>
      </a:accent5>
      <a:accent6>
        <a:srgbClr val="EAC79B"/>
      </a:accent6>
      <a:hlink>
        <a:srgbClr val="0563C1"/>
      </a:hlink>
      <a:folHlink>
        <a:srgbClr val="954F72"/>
      </a:folHlink>
    </a:clrScheme>
    <a:fontScheme name="Lucrul cu agenți AI în GitHub Copilot">
      <a:majorFont>
        <a:latin typeface="Space Grotesk" pitchFamily="0" charset="1"/>
        <a:ea typeface=""/>
        <a:cs typeface=""/>
      </a:majorFont>
      <a:minorFont>
        <a:latin typeface="IBM Plex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42</TotalTime>
  <Application>LibreOffice/26.2.4.2$MacOSX_AARCH64 LibreOffice_project/0229ac93fcf0d7cbc6376066c6f35021cef002dc</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2026-10-05T15:35:40Z</dcterms:created>
  <dc:creator/>
  <dc:description/>
  <dc:language>en-US</dc:language>
  <cp:lastModifiedBy/>
  <dcterms:modified xsi:type="dcterms:W3CDTF">2026-10-05T20:20:23Z</dcterms:modified>
  <cp:revision>8</cp:revision>
  <dc:subject/>
  <dc:title>Lucrul cu agenți AI în GitHub Copilot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63</vt:i4>
  </property>
  <property fmtid="{D5CDD505-2E9C-101B-9397-08002B2CF9AE}" pid="3" name="PresentationFormat">
    <vt:lpwstr>On-screen Show (16:9)</vt:lpwstr>
  </property>
  <property fmtid="{D5CDD505-2E9C-101B-9397-08002B2CF9AE}" pid="4" name="Slides">
    <vt:i4>63</vt:i4>
  </property>
</Properties>
</file>